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Midpoint weight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6D3FD2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108A73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C77600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C2413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Infrastructure</c:v>
                </c:pt>
                <c:pt idx="1">
                  <c:v>Devices</c:v>
                </c:pt>
                <c:pt idx="2">
                  <c:v>Protect</c:v>
                </c:pt>
                <c:pt idx="3">
                  <c:v>Apps</c:v>
                </c:pt>
                <c:pt idx="4">
                  <c:v>Operations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22.5</c:v>
                </c:pt>
                <c:pt idx="1">
                  <c:v>27.5</c:v>
                </c:pt>
                <c:pt idx="2">
                  <c:v>17.5</c:v>
                </c:pt>
                <c:pt idx="3">
                  <c:v>17.5</c:v>
                </c:pt>
                <c:pt idx="4">
                  <c:v>12.5</c:v>
                </c:pt>
              </c:numCache>
            </c:numRef>
          </c:val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  <a:ln>
                <a:solidFill>
                  <a:srgbClr val="1F6FEB"/>
                </a:solidFill>
              </a:ln>
            </c:spPr>
          </c:dPt>
          <c:dPt>
            <c:idx val="1"/>
            <c:spPr>
              <a:solidFill>
                <a:srgbClr val="6D3FD2"/>
              </a:solidFill>
              <a:ln>
                <a:solidFill>
                  <a:srgbClr val="6D3FD2"/>
                </a:solidFill>
              </a:ln>
            </c:spPr>
          </c:dPt>
          <c:dPt>
            <c:idx val="2"/>
            <c:spPr>
              <a:solidFill>
                <a:srgbClr val="10B981"/>
              </a:solidFill>
              <a:ln>
                <a:solidFill>
                  <a:srgbClr val="10B981"/>
                </a:solidFill>
              </a:ln>
            </c:spPr>
          </c:dPt>
          <c:dPt>
            <c:idx val="3"/>
            <c:spPr>
              <a:solidFill>
                <a:srgbClr val="16845B"/>
              </a:solidFill>
              <a:ln>
                <a:solidFill>
                  <a:srgbClr val="16845B"/>
                </a:solidFill>
              </a:ln>
            </c:spPr>
          </c:dPt>
          <c:dPt>
            <c:idx val="4"/>
            <c:spPr>
              <a:solidFill>
                <a:srgbClr val="C77600"/>
              </a:solidFill>
              <a:ln>
                <a:solidFill>
                  <a:srgbClr val="C77600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Eligible</c:v>
                </c:pt>
                <c:pt idx="1">
                  <c:v>Discovered</c:v>
                </c:pt>
                <c:pt idx="2">
                  <c:v>Registered</c:v>
                </c:pt>
                <c:pt idx="3">
                  <c:v>Enrolled</c:v>
                </c:pt>
                <c:pt idx="4">
                  <c:v>Compliant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97</c:v>
                </c:pt>
                <c:pt idx="2">
                  <c:v>93</c:v>
                </c:pt>
                <c:pt idx="3">
                  <c:v>88</c:v>
                </c:pt>
                <c:pt idx="4">
                  <c:v>82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  <a:ln>
                <a:solidFill>
                  <a:srgbClr val="1F6FEB"/>
                </a:solidFill>
              </a:ln>
            </c:spPr>
          </c:dPt>
          <c:dPt>
            <c:idx val="1"/>
            <c:spPr>
              <a:solidFill>
                <a:srgbClr val="6D3FD2"/>
              </a:solidFill>
              <a:ln>
                <a:solidFill>
                  <a:srgbClr val="6D3FD2"/>
                </a:solidFill>
              </a:ln>
            </c:spPr>
          </c:dPt>
          <c:dPt>
            <c:idx val="2"/>
            <c:spPr>
              <a:solidFill>
                <a:srgbClr val="10B981"/>
              </a:solidFill>
              <a:ln>
                <a:solidFill>
                  <a:srgbClr val="10B981"/>
                </a:solidFill>
              </a:ln>
            </c:spPr>
          </c:dPt>
          <c:dPt>
            <c:idx val="3"/>
            <c:spPr>
              <a:solidFill>
                <a:srgbClr val="16845B"/>
              </a:solidFill>
              <a:ln>
                <a:solidFill>
                  <a:srgbClr val="16845B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Pilot</c:v>
                </c:pt>
                <c:pt idx="1">
                  <c:v>Ring 1</c:v>
                </c:pt>
                <c:pt idx="2">
                  <c:v>Ring 2</c:v>
                </c:pt>
                <c:pt idx="3">
                  <c:v>Broad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33</c:v>
                </c:pt>
                <c:pt idx="3">
                  <c:v>46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.279999999999994"/>
          <c:min val="0.0"/>
        </c:scaling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  <a:ln>
                <a:solidFill>
                  <a:srgbClr val="1F6FEB"/>
                </a:solidFill>
              </a:ln>
            </c:spPr>
          </c:dPt>
          <c:dPt>
            <c:idx val="1"/>
            <c:spPr>
              <a:solidFill>
                <a:srgbClr val="6D3FD2"/>
              </a:solidFill>
              <a:ln>
                <a:solidFill>
                  <a:srgbClr val="6D3FD2"/>
                </a:solidFill>
              </a:ln>
            </c:spPr>
          </c:dPt>
          <c:dPt>
            <c:idx val="2"/>
            <c:spPr>
              <a:solidFill>
                <a:srgbClr val="10B981"/>
              </a:solidFill>
              <a:ln>
                <a:solidFill>
                  <a:srgbClr val="10B981"/>
                </a:solidFill>
              </a:ln>
            </c:spPr>
          </c:dPt>
          <c:dPt>
            <c:idx val="3"/>
            <c:spPr>
              <a:solidFill>
                <a:srgbClr val="16845B"/>
              </a:solidFill>
              <a:ln>
                <a:solidFill>
                  <a:srgbClr val="16845B"/>
                </a:solidFill>
              </a:ln>
            </c:spPr>
          </c:dPt>
          <c:dPt>
            <c:idx val="4"/>
            <c:spPr>
              <a:solidFill>
                <a:srgbClr val="C77600"/>
              </a:solidFill>
              <a:ln>
                <a:solidFill>
                  <a:srgbClr val="C77600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AV</c:v>
                </c:pt>
                <c:pt idx="1">
                  <c:v>Encryption</c:v>
                </c:pt>
                <c:pt idx="2">
                  <c:v>Firewall</c:v>
                </c:pt>
                <c:pt idx="3">
                  <c:v>ASR</c:v>
                </c:pt>
                <c:pt idx="4">
                  <c:v>EDR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</c:v>
                </c:pt>
                <c:pt idx="1">
                  <c:v>91</c:v>
                </c:pt>
                <c:pt idx="2">
                  <c:v>94</c:v>
                </c:pt>
                <c:pt idx="3">
                  <c:v>83</c:v>
                </c:pt>
                <c:pt idx="4">
                  <c:v>89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3.28"/>
          <c:min val="0.0"/>
        </c:scaling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  <a:ln>
                <a:solidFill>
                  <a:srgbClr val="1F6FEB"/>
                </a:solidFill>
              </a:ln>
            </c:spPr>
          </c:dPt>
          <c:dPt>
            <c:idx val="1"/>
            <c:spPr>
              <a:solidFill>
                <a:srgbClr val="6D3FD2"/>
              </a:solidFill>
              <a:ln>
                <a:solidFill>
                  <a:srgbClr val="6D3FD2"/>
                </a:solidFill>
              </a:ln>
            </c:spPr>
          </c:dPt>
          <c:dPt>
            <c:idx val="2"/>
            <c:spPr>
              <a:solidFill>
                <a:srgbClr val="10B981"/>
              </a:solidFill>
              <a:ln>
                <a:solidFill>
                  <a:srgbClr val="10B981"/>
                </a:solidFill>
              </a:ln>
            </c:spPr>
          </c:dPt>
          <c:dPt>
            <c:idx val="3"/>
            <c:spPr>
              <a:solidFill>
                <a:srgbClr val="16845B"/>
              </a:solidFill>
              <a:ln>
                <a:solidFill>
                  <a:srgbClr val="16845B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Required</c:v>
                </c:pt>
                <c:pt idx="1">
                  <c:v>Available</c:v>
                </c:pt>
                <c:pt idx="2">
                  <c:v>Failed</c:v>
                </c:pt>
                <c:pt idx="3">
                  <c:v>Not applicable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18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4.96"/>
          <c:min val="0.0"/>
        </c:scaling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  <a:ln>
                <a:solidFill>
                  <a:srgbClr val="1F6FEB"/>
                </a:solidFill>
              </a:ln>
            </c:spPr>
          </c:dPt>
          <c:dPt>
            <c:idx val="1"/>
            <c:spPr>
              <a:solidFill>
                <a:srgbClr val="6D3FD2"/>
              </a:solidFill>
              <a:ln>
                <a:solidFill>
                  <a:srgbClr val="6D3FD2"/>
                </a:solidFill>
              </a:ln>
            </c:spPr>
          </c:dPt>
          <c:dPt>
            <c:idx val="2"/>
            <c:spPr>
              <a:solidFill>
                <a:srgbClr val="10B981"/>
              </a:solidFill>
              <a:ln>
                <a:solidFill>
                  <a:srgbClr val="10B981"/>
                </a:solidFill>
              </a:ln>
            </c:spPr>
          </c:dPt>
          <c:dPt>
            <c:idx val="3"/>
            <c:spPr>
              <a:solidFill>
                <a:srgbClr val="16845B"/>
              </a:solidFill>
              <a:ln>
                <a:solidFill>
                  <a:srgbClr val="16845B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Detect</c:v>
                </c:pt>
                <c:pt idx="1">
                  <c:v>Triage</c:v>
                </c:pt>
                <c:pt idx="2">
                  <c:v>Remediate</c:v>
                </c:pt>
                <c:pt idx="3">
                  <c:v>Verify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28</c:v>
                </c:pt>
                <c:pt idx="2">
                  <c:v>41</c:v>
                </c:pt>
                <c:pt idx="3">
                  <c:v>19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8.379999999999995"/>
          <c:min val="0.0"/>
        </c:scaling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656" y="1405170"/>
            <a:ext cx="6720840" cy="37824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384048"/>
            <a:ext cx="676656" cy="676656"/>
          </a:xfrm>
          <a:prstGeom prst="rect">
            <a:avLst/>
          </a:prstGeom>
        </p:spPr>
      </p:pic>
      <p:pic>
        <p:nvPicPr>
          <p:cNvPr id="5" name="Picture 4" descr="microsoft-certified-associate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347472"/>
            <a:ext cx="786384" cy="786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417320"/>
            <a:ext cx="4160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SLIDES · WSQ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4626864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Microsoft Certified Endpoint Administrator Associate (MD-102)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657600"/>
            <a:ext cx="4297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Course Code: TGS-2024042603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087368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Version v3.0 · 25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800600"/>
            <a:ext cx="42976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Tertiary Infotech Academy Pte Ltd
UEN: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760720"/>
            <a:ext cx="43891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Aligned to MD-102 skills measured 24 July 2026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21408"/>
            <a:ext cx="9601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87752"/>
            <a:ext cx="93268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Welcome and course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84448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Briefing · evidence expectations · assessment · learner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COURSE CONTROL · 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with TRAQOM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Singpass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Singpass app when the trainer announces attendance.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 the session QR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the correct course, date and session before submission.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Verify recorded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 the trainer the success state if attendance does not appear.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Escalate early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Resolve attendance exceptions during the session, not after course completion.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75503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8640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Digital attendance appears again at the close so every session is reconciled.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TRAINER PROFILE ·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Trainer profile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Name and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Insert the assigned trainer's name, current role and delivery responsibility.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Endpoint expertise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Summarize Intune, Entra, Windows, Defender and automation experience.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Credentials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List only current, verifiable certifications and assessor credentials.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Contact protocol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the approved course support and escalation channel.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75503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8640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Replace the template only when the named trainer has been confirmed.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TRAINER PROFILE · NAMED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Trainer profile: Dr Alfred 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Course leadership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Technical courseware architect and trainer for cloud, AI and enterprise administration.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Delivery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Mechanism-led instruction, reproducible labs and evidence-based troubleshooting.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Learner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Clarify concepts during class; use the approved support channel after class.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Assessment 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Training support does not disclose model answers during assessment.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75503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8640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for the evidence behind a conclusion: state, log, report, timestamp and interpretation.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WSQ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 and assessed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Administer complex security programs and analyze system-update impacts on Microsoft Endpoint administration.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 Microsoft Endpoint system administration and configure authentication to protect against security threats.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Troubleshoot Microsoft Endpoint security issues and assist users in defining access rights.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Coordinate advanced access-control rights and investigate unauthorized-access incidents on Microsoft Endpoint systems.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SECURITY ADMINISTRATION · ICT-OUS-3012-1.1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knowledge and ability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K1 · K4 · A1 · A3
Infrastructure, complex administration and security mechanisms.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K2 · K4 · A2 · A4
Configuration, updates, authentication and protection.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K3 · A5 · A6
Troubleshooting, validation and user access clarification.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K5 · A7 · A8
Escalated access control and unauthorized-access investigation.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5 DAYS · 40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roadmap: five connected operating loops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Infrastructure and identity
Prepare infrastructure; Entra identity; enrollment; scoped administration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Device deployment and configuration
Compliance and access; Autopilot; Windows 365; configuration targeting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Endpoint protection and updates
Defender; BitLocker; firewall; ASR; baselines; update operations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Application lifecycle and data protection
Win32 and Microsoft 365 Apps; MAM; app configuration; troubleshooting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75503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8640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Day 5 closes the loop with automation, monitoring, remediation and incident investigation.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SKILLS MEASURED · 24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Current MD-102 exam blueprint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04672" y="1627632"/>
          <a:ext cx="49834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126480" y="1627632"/>
            <a:ext cx="5166360" cy="603504"/>
          </a:xfrm>
          <a:prstGeom prst="rect">
            <a:avLst/>
          </a:prstGeom>
          <a:solidFill>
            <a:srgbClr val="F5F8FC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27632"/>
            <a:ext cx="91440" cy="60350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19072"/>
            <a:ext cx="340156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Prepare infrastructure for 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94392" y="1719072"/>
            <a:ext cx="960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40" b="1">
                <a:solidFill>
                  <a:srgbClr val="1F6FEB"/>
                </a:solidFill>
                <a:latin typeface="Arial"/>
              </a:rPr>
              <a:t>20–25%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377440"/>
            <a:ext cx="5166360" cy="603504"/>
          </a:xfrm>
          <a:prstGeom prst="rect">
            <a:avLst/>
          </a:prstGeom>
          <a:solidFill>
            <a:srgbClr val="F5F8FC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377440"/>
            <a:ext cx="91440" cy="603504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468880"/>
            <a:ext cx="340156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Manage and maintain devices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94392" y="2468880"/>
            <a:ext cx="960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40" b="1">
                <a:solidFill>
                  <a:srgbClr val="6D3FD2"/>
                </a:solidFill>
                <a:latin typeface="Arial"/>
              </a:rPr>
              <a:t>25–30%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127248"/>
            <a:ext cx="5166360" cy="603504"/>
          </a:xfrm>
          <a:prstGeom prst="rect">
            <a:avLst/>
          </a:prstGeom>
          <a:solidFill>
            <a:srgbClr val="F5F8FC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127248"/>
            <a:ext cx="91440" cy="603504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218688"/>
            <a:ext cx="340156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Protect devices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4392" y="3218688"/>
            <a:ext cx="960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40" b="1">
                <a:solidFill>
                  <a:srgbClr val="108A73"/>
                </a:solidFill>
                <a:latin typeface="Arial"/>
              </a:rPr>
              <a:t>15–20%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877056"/>
            <a:ext cx="5166360" cy="603504"/>
          </a:xfrm>
          <a:prstGeom prst="rect">
            <a:avLst/>
          </a:prstGeom>
          <a:solidFill>
            <a:srgbClr val="F5F8FC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877056"/>
            <a:ext cx="91440" cy="603504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968496"/>
            <a:ext cx="340156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Manage and secure applications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4392" y="3968496"/>
            <a:ext cx="960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40" b="1">
                <a:solidFill>
                  <a:srgbClr val="C77600"/>
                </a:solidFill>
                <a:latin typeface="Arial"/>
              </a:rPr>
              <a:t>15–20%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626864"/>
            <a:ext cx="5166360" cy="603504"/>
          </a:xfrm>
          <a:prstGeom prst="rect">
            <a:avLst/>
          </a:prstGeom>
          <a:solidFill>
            <a:srgbClr val="F5F8FC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4626864"/>
            <a:ext cx="91440" cy="603504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718303"/>
            <a:ext cx="340156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Optimize endpoint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4718303"/>
            <a:ext cx="960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40" b="1">
                <a:solidFill>
                  <a:srgbClr val="C2413A"/>
                </a:solidFill>
                <a:latin typeface="Arial"/>
              </a:rPr>
              <a:t>10–15%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19379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519379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321807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63270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largest single domain is device management, but exam readiness depends on tracing identity, policy, security, apps and operations as one system.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COURSE PORTAL · VISUAL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the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64208"/>
            <a:ext cx="6748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664208"/>
            <a:ext cx="6748272" cy="475488"/>
          </a:xfrm>
          <a:prstGeom prst="rect">
            <a:avLst/>
          </a:prstGeom>
          <a:solidFill>
            <a:srgbClr val="F5F8FC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2" y="1810512"/>
            <a:ext cx="109728" cy="109728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43584" y="1810512"/>
            <a:ext cx="109728" cy="10972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99616" y="1810512"/>
            <a:ext cx="109728" cy="10972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01952" y="1783080"/>
            <a:ext cx="4892040" cy="228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48256" y="1819656"/>
            <a:ext cx="4526280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423160"/>
            <a:ext cx="1417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My Courses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2834640"/>
            <a:ext cx="6053328" cy="923544"/>
          </a:xfrm>
          <a:prstGeom prst="rect">
            <a:avLst/>
          </a:prstGeom>
          <a:solidFill>
            <a:srgbClr val="F5F8FC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3017520"/>
            <a:ext cx="424281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Microsoft Certified Endpoint Administrator Associate (MD-102)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3026664"/>
            <a:ext cx="1188720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41848" y="3108960"/>
            <a:ext cx="1152144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4041648"/>
            <a:ext cx="605332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4279392"/>
            <a:ext cx="460857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Trainer slides · Learner slides · Learner Guide · Lesson Plan · Labs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4352544"/>
            <a:ext cx="118872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41848" y="4434840"/>
            <a:ext cx="1152144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DOWNLOAD</a:t>
            </a:r>
          </a:p>
        </p:txBody>
      </p:sp>
      <p:sp>
        <p:nvSpPr>
          <p:cNvPr id="25" name="Oval 24"/>
          <p:cNvSpPr/>
          <p:nvPr/>
        </p:nvSpPr>
        <p:spPr>
          <a:xfrm>
            <a:off x="7973568" y="1792224"/>
            <a:ext cx="475488" cy="47548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73568" y="1892808"/>
            <a:ext cx="475488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8512" y="1737360"/>
            <a:ext cx="22128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Sign 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2029968"/>
            <a:ext cx="24871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the course account provided.</a:t>
            </a:r>
          </a:p>
        </p:txBody>
      </p:sp>
      <p:sp>
        <p:nvSpPr>
          <p:cNvPr id="29" name="Oval 28"/>
          <p:cNvSpPr/>
          <p:nvPr/>
        </p:nvSpPr>
        <p:spPr>
          <a:xfrm>
            <a:off x="7973568" y="2770632"/>
            <a:ext cx="475488" cy="47548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3568" y="2871216"/>
            <a:ext cx="475488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2" y="2715768"/>
            <a:ext cx="22128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this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8512" y="3008376"/>
            <a:ext cx="24871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Confirm code TGS-2024042603.</a:t>
            </a:r>
          </a:p>
        </p:txBody>
      </p:sp>
      <p:sp>
        <p:nvSpPr>
          <p:cNvPr id="33" name="Oval 32"/>
          <p:cNvSpPr/>
          <p:nvPr/>
        </p:nvSpPr>
        <p:spPr>
          <a:xfrm>
            <a:off x="7973568" y="3749039"/>
            <a:ext cx="475488" cy="47548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73568" y="3849624"/>
            <a:ext cx="475488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3694176"/>
            <a:ext cx="22128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Download current files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8512" y="3986784"/>
            <a:ext cx="24871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PPTX for trainer slides; PDF for learner slides.</a:t>
            </a:r>
          </a:p>
        </p:txBody>
      </p:sp>
      <p:sp>
        <p:nvSpPr>
          <p:cNvPr id="37" name="Oval 36"/>
          <p:cNvSpPr/>
          <p:nvPr/>
        </p:nvSpPr>
        <p:spPr>
          <a:xfrm>
            <a:off x="7973568" y="4727448"/>
            <a:ext cx="475488" cy="47548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4828032"/>
            <a:ext cx="475488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68512" y="4672584"/>
            <a:ext cx="22128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Keep versions together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68512" y="4965192"/>
            <a:ext cx="24871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 not mix archived and current files.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BRIEFING BEFORE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briefing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Written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open-ended questions · K1–K5 · 60 minutes · open book.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6 connected tasks · A1–A8 · 60 minutes · evidence required.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supplied document and upload it to lms-tms.tertiaryinfotech.com.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Address every criterion and demonstrate the required evidence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WA → PP →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 and sign-off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3852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331720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5 SAQs
K1–K5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383280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93852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331720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All knowledge
criteria covered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383280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93852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331720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 tasks
A1–A8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383280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93852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331720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Evidence and
explanation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383280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93852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331720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Sign-off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 or NYC
recorded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07492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507492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20293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SUBMISSION RULE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513831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Question papers go to the LMS. Answer keys remain trainer-only and are never linked from the learner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EXAMS.TERTIARYINFOTECH.COM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Exam: MD-102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64208"/>
            <a:ext cx="66294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664208"/>
            <a:ext cx="6629400" cy="475488"/>
          </a:xfrm>
          <a:prstGeom prst="rect">
            <a:avLst/>
          </a:prstGeom>
          <a:solidFill>
            <a:srgbClr val="F5F8FC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92224"/>
            <a:ext cx="3246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MD-102 Practice Portal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0704" y="2505456"/>
            <a:ext cx="5980176" cy="1005840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6736" y="2734056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Practice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761488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Feedback after each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" y="3767328"/>
            <a:ext cx="5980176" cy="1005840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6736" y="3995928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2413A"/>
                </a:solidFill>
                <a:latin typeface="Arial"/>
              </a:rPr>
              <a:t>Exam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02336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Timed set with end-of-attempt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" y="5065776"/>
            <a:ext cx="2971800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148072"/>
            <a:ext cx="29260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  <a:hlinkClick r:id="rId2"/>
              </a:rPr>
              <a:t>https://exams.tertiaryinfotech.com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1664208"/>
            <a:ext cx="3566160" cy="786384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79" y="1664208"/>
            <a:ext cx="73152" cy="78638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4423" y="1746504"/>
            <a:ext cx="107899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1746504"/>
            <a:ext cx="20391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Take one timed attempt before revision.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2624328"/>
            <a:ext cx="3566160" cy="786384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26679" y="2624328"/>
            <a:ext cx="73152" cy="786384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2706624"/>
            <a:ext cx="107899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Gap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19" y="2706624"/>
            <a:ext cx="20391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Tag every miss to a current domain and objective.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3584448"/>
            <a:ext cx="3566160" cy="786384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26679" y="3584448"/>
            <a:ext cx="73152" cy="78638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3666744"/>
            <a:ext cx="107899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Retest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19" y="3666744"/>
            <a:ext cx="20391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Repeat after the linked lab and evidence review.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26679" y="4544568"/>
            <a:ext cx="3566160" cy="786384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26679" y="4544568"/>
            <a:ext cx="73152" cy="786384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64423" y="4626864"/>
            <a:ext cx="107899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845B"/>
                </a:solidFill>
                <a:latin typeface="Arial"/>
              </a:rPr>
              <a:t>Exam judgment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19" y="4626864"/>
            <a:ext cx="20391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the control that satisfies the stated constraint with least privilege.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PRACTICE ·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evidence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policy, assignment, script or control values.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device/service result and its timestamp.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Diagnosis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Tie the failure to an error, log, report or absent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Retest and prove the expected state after correction.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75503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8640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screenshot without context is not evidence; pair it with the object, state, time and interpretation.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TECHNICAL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environment and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365 tenant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Intune and Entra permissions appropriate to each lab role.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Windows test 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Windows 11 VM or approved test endpoint; do not use production devices.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Command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PowerShell 7, Microsoft Graph PowerShell SDK, Windows Terminal and browser.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 workspace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Individual lab folder with starter, solution and evidence subfolders.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TECHNICAL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 currency and exam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Study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Skills measured as of 24 July 2026; five weighted domains.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Learn course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MD-102T00-A · 5 days · Intune-centred endpoint operations.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MicrosoftLearning labs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Adapted from repository commit 25eaad2a.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Registration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40-hour accredited course; four WSQ outcomes and two assessment hours.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75503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8640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When a secondary guide disagrees with the current Microsoft study guide, the official study guide wins.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21408"/>
            <a:ext cx="9601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DAY 1 · 8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87752"/>
            <a:ext cx="93268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Infrastructure and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84448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Prepare infrastructure; Entra identity; enrollment; scoped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21408"/>
            <a:ext cx="9601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DOMAIN 1 · 20–25%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87752"/>
            <a:ext cx="93268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Prepare infrastructure for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84448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LO1 · K1 · K4 · A1 · A3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Prepare infrastructure for devices — indicative operational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41248" y="1682496"/>
          <a:ext cx="74066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8522208" y="1682496"/>
            <a:ext cx="2852928" cy="34290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965960"/>
            <a:ext cx="223113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F6FEB"/>
                </a:solidFill>
                <a:latin typeface="Arial"/>
              </a:rPr>
              <a:t>20–25%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2615184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6372"/>
                </a:solidFill>
                <a:latin typeface="Arial"/>
              </a:rPr>
              <a:t>CURRENT EXAM 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3104" y="3172968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3104" y="3584448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K1 · K4 · A1 · 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416552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77600"/>
                </a:solidFill>
                <a:latin typeface="Arial"/>
              </a:rPr>
              <a:t>Indicative teaching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157216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157216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85231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96127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Enrollment funnels expose loss between identity, discovery and compliance.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MECHANISM VISUAL · ANNOTATED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Zero Trust joins identity, device and access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pic>
        <p:nvPicPr>
          <p:cNvPr id="9" name="Picture 8" descr="md102-zero-trust-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5665"/>
            <a:ext cx="7452360" cy="419418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75320" y="1645920"/>
            <a:ext cx="3127248" cy="813816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1645920"/>
            <a:ext cx="73152" cy="8138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13064" y="1737360"/>
            <a:ext cx="2596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3064" y="2011680"/>
            <a:ext cx="2596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Who is requesting access?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2633472"/>
            <a:ext cx="3127248" cy="813816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2633472"/>
            <a:ext cx="73152" cy="813816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2724912"/>
            <a:ext cx="2596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6D3FD2"/>
                </a:solidFill>
                <a:latin typeface="Arial"/>
              </a:rPr>
              <a:t>Device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2999232"/>
            <a:ext cx="2596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What join and management state exists?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3621024"/>
            <a:ext cx="3127248" cy="813816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3621024"/>
            <a:ext cx="73152" cy="8138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712463"/>
            <a:ext cx="2596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0B981"/>
                </a:solidFill>
                <a:latin typeface="Arial"/>
              </a:rPr>
              <a:t>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3986784"/>
            <a:ext cx="2596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Does the endpoint meet policy?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4608576"/>
            <a:ext cx="3127248" cy="813816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4608576"/>
            <a:ext cx="73152" cy="813816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13064" y="4700016"/>
            <a:ext cx="2596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845B"/>
                </a:solidFill>
                <a:latin typeface="Arial"/>
              </a:rPr>
              <a:t>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3064" y="4974336"/>
            <a:ext cx="2596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What current threat signal changes the decision?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92531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Concept illustration generated for this course; labels and decision rules remain editable PowerPoint objects.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Choose the correct Microsoft Entra device identity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User sign-in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Primary refresh token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Registration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Device object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Join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Registered · joined · hybrid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Token claims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deviceid · trustType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Access decision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Identity plus device 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1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Choose the correct Microsoft Entra device identity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Workplace 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AzureAdRegistered = YES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AzureAdJoined = YES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Hybrid join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DomainJoined + AzureAdJoined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dsregcmd /status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Choose the correct Microsoft Entra device identity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Pending 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registration event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tenant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TenantId and DeviceId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Missing PRT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Validate WAM and sign-in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Duplicate object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Reconcile stale registrations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Choose the correct Microsoft Entra device identity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State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Join flags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SSO State 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AzureAdPrt = 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Entra device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 and trust type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Sign-in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Device ID correlation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Target policy with dynamic device groups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Device 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Extension attributes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Rule parser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Property operators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Membership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Asynchronous evaluation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Assignment resolver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Include and exclude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service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Per-device applicability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1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Target policy with dynamic device groups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OS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device.deviceOSType -eq "Windows"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Ownership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device.deviceOwnership -eq "Company"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Autopilot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device.devicePhysicalIDs -any _ -contains "[ZTDId]"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Validate rules before save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Target policy with dynamic device groups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Invalid property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supported device schema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Slow membership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processing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Nested group assumption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Dynamic groups do not use nested evaluation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Broad targeting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Test with a preview cohort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Target policy with dynamic device groups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Rule syntax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Saved expression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Preview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Expected devices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Membership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Added/removed objects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Assignment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 reached cohort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Windows automatic enrollment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Licensed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Intune entitlement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MDM user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Enrollment authority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Entra join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Discovery URL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Enrollment client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Certificate request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Intune 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Managed device object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2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Configure Windows automatic enrollment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MDM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Some or 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Discovery URL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EnterpriseEnrollment.manage.microsoft.com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Enrollment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dsregcmd /status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Diagnostics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MDMDiagReport.html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Configure Windows automatic enrollment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Scope excludes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Review MDM user 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License missing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Assign Intune entitlement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Stale enrollment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scheduled tasks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Network block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Test enrollment endpoints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Configure Windows automatic enrollment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ManagedBy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Intune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Enrollment certificate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MS-Organization-Access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Event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DeviceManagement-Enterprise-Diagnostics-Provider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Intune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Last check-in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multi-platform enrollment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Platform authority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Apple · Google · Samsung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Enrollment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Profile or QR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Ownership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Corporate or personal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Restriction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Platform + OS limits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Managed 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Compliance-capable device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2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multi-platform enrollment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Apple corporate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ABM automated enrollment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Android corporate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Fully managed or corporate work profile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Android shared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Dedicated device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Restriction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Block personal where required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Control multi-platform enrollment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Expired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Renew before service impact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ownership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corporate identifiers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Unsupported 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minimum version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Profile conflict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Verify one intended enrollment path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Control multi-platform enrollment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Token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Active and unexpired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Enrollment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Assigned devices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Ownership field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Corporate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Platform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Enrollment success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Delegate Intune administration safely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Role 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Permissions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Role assignment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Members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Scope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Objects administered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Scope tag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Objects visible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 log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Accountability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1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Delegate Intune administration safely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Built-in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Least-privilege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Custom 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Only required actions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Scope tag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Regional visibility boundary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Multi-admin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Second-person control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Delegate Intune administration safely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Role too broad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Compare actions to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Empty scope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Assignment has no reach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Tag mismatch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Object not visible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Approval deadlock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Maintain approver coverage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Delegate Intune administration safely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Effective permissions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Expected actions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Visibility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tagged objects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Approval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Requester and approver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 event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 change trace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compliance before access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Device reports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Intune check-in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Compliance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Policy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Entra claim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isCompliant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Conditional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Grant control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Resource token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Allow or block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3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compliance before access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Grace 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Controlled remediation window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Mark noncompliant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Immediate or delayed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CA grant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Require compliant device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Break-glass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Exclude emergency account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Evaluate compliance before access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Not evaluated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assignment and check-in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False 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per-setting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CA lockout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report-only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Stale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Force sync and reassess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Evaluate compliance before access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Per-setting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Failed condition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Timestamp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Grant control detail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Sign-in correlation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User + device + policy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Deploy Windows Hello for Business and Windows LAPS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Identity bootstrap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MFA proof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Key provisioning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TPM-backed credential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Cloud Kerberos trust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Local admin rotation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LAPS policy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access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Audited retrieval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3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Deploy Windows Hello for Business and Windows LAPS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WHfB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Cloud Kerberos trust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PIN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Length and anti-spoofing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LAPS backup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Microsoft Entra 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After-use password reset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Deploy Windows Hello for Business and Windows LAPS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Provisioning blocked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tenant and device prerequisites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TPM unavailable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Review attestation and policy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Password not backed 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LAPS event 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Overprivileged retrieval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Restrict role and audit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Deploy Windows Hello for Business and Windows LAPS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WHfB 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certutil -DeleteHelloContainer for reset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dsregcmd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NgcSet = 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LAPS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Password backup timestamp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Password retrieval actor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Troubleshoot enrollment as an evidence chain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User eligibility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License and scope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Device eligibility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Platform and ownership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MDM endpoints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Client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Enrollment task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Managed device 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2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Troubleshoot enrollment as an evidence chain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Local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MDMDiagReport.html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Event 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Admin + Operational logs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 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Troubleshooting + support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Network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Required endpoint reachability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Troubleshoot enrollment as an evidence chain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0x80180014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Personal Windows blocked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0x80180018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User not authorized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0x801c03f3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Device registration problem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Duplicate serial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Retire stale record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DOMAIN 1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Troubleshoot enrollment as an evidence chain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Error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Exact HRESULT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Correlation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Service-side trace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Enrollment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First failing stage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Remediation retest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New successful record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HANDS-ON · 110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Lab 1: Entra device identity, dynamic groups and delegated administration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92624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30352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Validated join-state evidence pack, dynamic-group rule, scoped role assignment and audit trace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LO1 · K1 · K4 · A1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Save the evidence under labs/lab-01-entra-identity-groups-rbac/evidence/.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HANDS-ON · 115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Lab 2: Multi-platform Intune enrollment and troubleshooting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92624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30352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Enrollment configuration matrix, MDMDiag evidence, error-code diagnosis and successful retest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LO1 · K1 · K3 · A1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Save the evidence under labs/lab-02-intune-enrollment-troubleshooting/evidence/.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RETRIEVE · DIAGNOSE ·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1 technical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Choose the correct Microsoft Entra device identity
• Target policy with dynamic device groups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Configure Windows automatic enrollment
• Control multi-platform enrollment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Delegate Intune administration safely
• Evaluate compliance before access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Deploy Windows Hello for Business and Windows LAPS
• Troubleshoot enrollment as an evidence chain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75503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8640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For each checkpoint, name the architecture boundary, exact contract, failure evidence and acceptance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21408"/>
            <a:ext cx="9601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DAY 2 · 8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87752"/>
            <a:ext cx="93268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Device deployment and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84448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Compliance and access; Autopilot; Windows 365; configuration targeting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21408"/>
            <a:ext cx="9601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DOMAIN 2 · 25–30%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87752"/>
            <a:ext cx="93268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Manage and maintain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84448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LO1 · LO2 · K1 · K2 · A2 · A4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 and maintain devices — indicative operational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41248" y="1682496"/>
          <a:ext cx="74066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8522208" y="1682496"/>
            <a:ext cx="2852928" cy="34290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965960"/>
            <a:ext cx="223113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6D3FD2"/>
                </a:solidFill>
                <a:latin typeface="Arial"/>
              </a:rPr>
              <a:t>25–30%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2615184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6372"/>
                </a:solidFill>
                <a:latin typeface="Arial"/>
              </a:rPr>
              <a:t>CURRENT EXAM 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3104" y="3172968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LO1 · LO2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3104" y="3584448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K1 · K2 · A2 · A4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416552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77600"/>
                </a:solidFill>
                <a:latin typeface="Arial"/>
              </a:rPr>
              <a:t>Indicative teaching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157216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157216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85231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WHAT THE DATA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96127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Provisioning duration rises with payload breadth; use phase timing to locate delay.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Select Windows Autopilot or device preparation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Corporate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Hardware hash or preparation policy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assignment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Device or user group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OOBE contact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Cloud discovery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Enrollment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Entra + Intune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Provisioning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Apps and policies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4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Select Windows Autopilot or device preparation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Classic Autopilot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Registered corporate devices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Device preparation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Streamlined cloud-native setup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User-driven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Named-user productivity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Self-deploying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Shared or kiosk scenario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Select Windows Autopilot or device preparation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Verify assignment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Hash mismatch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Re-import correct identity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Unsupported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TPM and network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 race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readiness reporting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Select Windows Autopilot or device preparation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Deployment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Registered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Enrollment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Phase timings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Final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Entra joined and managed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Autopilot with ESP and naming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OOBE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Tenant identification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Device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Security policies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Account 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User-targeted payload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ESP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Blocking selection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Desktop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Provisioning complete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4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Control Autopilot with ESP and naming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Name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Prefix plus serial or random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Block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Until required apps install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Timeout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Controlled failure route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Tracking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Autopilot deployment report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Control Autopilot with ESP and naming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Infinite ESP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Review blocking apps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Invalid 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Respect 15-character limit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 dependency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Validate install order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User reaches desktop early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Correct ESP targeting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Control Autopilot with ESP and naming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ESP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Device or account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Blocking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Install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Enrollment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Phase duration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Template resolved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Upgrade Windows 11 with deployment rings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Readiness signals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Pilot 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Early adopters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 and driver health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Broad rings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Progressive rollout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Rollback window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Recovery control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7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Upgrade Windows 11 with deployment rings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Feature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Target Windows release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Safeguard 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Respect by default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Deadline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User experience boundary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Rollback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Uninstall period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Upgrade Windows 11 with deployment rings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Compatibility 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safeguard 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Low disk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readiness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Driver failure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Pause affected cohort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Productivity 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Roll back within window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Upgrade Windows 11 with deployment rings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Readiness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Capable or blocked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Feature 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Target achieved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Failure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Deployment error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Ring KPI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Success and rollback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Provision Windows 365 Cloud PCs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License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Cloud PC entitlement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Provisioning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Image + network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Group assignment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 scope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Provisioning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Cloud PC creation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Intune lifecycle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4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Provision Windows 365 Cloud PCs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Join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Microsoft Entra joined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Microsoft-hosted or ANC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Image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Gallery or custom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Resize/reprovision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Controlled lifecycle action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Provision Windows 365 Cloud PCs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Provisioning failed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Review network and license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Image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Fix generalized image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Connectivity issue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ANC health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Data loss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Understand reprovision impact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Provision Windows 365 Cloud PCs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Provisioning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Succeeded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Connectivity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Healthy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Intune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Cloud PC managed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End-user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Windows 365 connection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Translate GPOs into Settings Catalog policy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GPO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XML report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Group Policy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Import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CSP mapping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Supported settings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creation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Settings Catalog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Cloud-managed cohort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5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Translate GPOs into Settings Catalog policy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Migration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Supported · deprecated · unknown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ADMX import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Custom administrative templates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OMA-URI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Only when catalog lacks setting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Conflict 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Multiple sources disagree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Translate GPOs into Settings Catalog policy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Unsupported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Redesign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Duplicate config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Remove overlapping profile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ADMX dependency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Import parent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Conflict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Trace per-setting source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Translate GPOs into Settings Catalog policy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Analytics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Migration percentage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Policy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Exact settings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Per-setting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Success/conflict/error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Client MDM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Applied CSP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Target profiles with filters and enrollment-time grouping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Base 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 or device group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Device properties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Include/exclude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Assignment logic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Enrollment-time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Immediate classification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delivery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Resolved applicability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5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Target profiles with filters and enrollment-time grouping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Filter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Include or exclude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manufacturer · model · 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At assignment check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Enrollment category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Provisioning-time cohort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Target profiles with filters and enrollment-time grouping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Unsupported property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filter schema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operator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Test sample values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User assignment mismatch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Know device filter context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Race condition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enrollment-time grouping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Target profiles with filters and enrollment-time grouping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Filter preview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Expected match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Assignment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Filter applied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property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Exact value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Policy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Correct cohort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Apply Intune Suite controls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Privilege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 asks elevation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EPM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Rule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Elevation telemetry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Support channel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Remote Help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Certificate/network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Cloud PKI or Tunnel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5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Apply Intune Suite controls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EPM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File hash · publisher ·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Remote Help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RBAC and session consent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PKI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Issuing CA + SCEP profile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Tunnel for MAM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Per-app protected path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Apply Intune Suite controls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Elevation denied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Rule mismatch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Remote Help unavailable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License or RBAC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Certificate failure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Chain or connector health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Tunnel offline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Gateway health and routing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Apply Intune Suite controls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Elevation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 + user + rule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Session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Helper and sharer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Certificate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Issued identity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Tunnel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Connection and gateway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Perform remote actions and live device query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Operator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RBAC authorization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Intune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Command queue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Device channel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Push or check-in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Client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Action result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Audit/report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Outcome recorded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9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Perform remote actions and live device query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Retire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Remove company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Wipe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Reset device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Fresh 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Reinstall Windows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Device query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KQL against live device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Perform remote actions and live device query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Action 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Device offline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destructive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Confirm ownership and intent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Query unavailable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supported platform/license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BitLocker rotation fail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Verify escrow state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Perform remote actions and live device query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Pending/succeeded/failed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 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Who initiated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Query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columns and timestamp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Diagnostics bundle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Collected logs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Diagnose policy conflicts from device evidence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Multiple profiles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CSP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Local MDM client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Per-setting merge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Winner or conflict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Service aggregation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Remediation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Remove overlap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5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Diagnose policy conflicts from device evidence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Client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MDMDiagReport.html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 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Per-setting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Registry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PolicyManager current values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Event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Enterprise-Diagnostics-Provider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Diagnose policy conflicts from device evidence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Conflict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Two profiles set different values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Not applicable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Platform/edition mismatch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Error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CSP rejected value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Pending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No recent device check-in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DOMAIN 2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Diagnose policy conflicts from device evidence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Setting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Exact CSP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Source profiles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Both assignments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Client 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Error 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Success after consolidation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D3FD2"/>
                </a:solidFill>
                <a:latin typeface="Arial"/>
              </a:rPr>
              <a:t>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HANDS-ON · 115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Lab 3: Compliance, Conditional Access, Windows Hello and LAPS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92624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30352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Compliance/CA decision trace, WHfB state and auditable LAPS recovery/rotation evidence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LO2 · K3 · K4 · A4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Save the evidence under labs/lab-03-compliance-ca-whfb-laps/evidence/.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HANDS-ON · 115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Lab 4: Autopilot, device preparation and Windows 365 provisioning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92624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30352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Deployment decision, profile/ESP design, readiness evidence and Cloud PC provisioning check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LO1 · LO4 · K1 · K5 · A2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Save the evidence under labs/lab-04-autopilot-device-prep-windows365/evidence/.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HANDS-ON · 110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Lab 5: Settings Catalog, ADMX migration and assignment filters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92624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30352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Migrated settings policy, filter preview, conflict diagnosis and corrected per-setting result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LO2 · K2 · K4 · A2 ·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Save the evidence under labs/lab-05-configuration-admx-filters/evidence/.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3FD2"/>
                </a:solidFill>
                <a:latin typeface="Arial"/>
              </a:rPr>
              <a:t>RETRIEVE · DIAGNOSE ·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2 technical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Select Windows Autopilot or device preparation
• Control Autopilot with ESP and naming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Upgrade Windows 11 with deployment rings
• Provision Windows 365 Cloud PCs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Translate GPOs into Settings Catalog policy
• Target profiles with filters and enrollment-time grouping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Apply Intune Suite controls
• Perform remote actions and live device query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75503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8640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For each checkpoint, name the architecture boundary, exact contract, failure evidence and acceptance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21408"/>
            <a:ext cx="9601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DAY 3 · 8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87752"/>
            <a:ext cx="93268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Endpoint protection and updates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84448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Defender; BitLocker; firewall; ASR; baselines; update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21408"/>
            <a:ext cx="9601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DOMAIN 3 · 15–20%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87752"/>
            <a:ext cx="93268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Protect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84448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LO2 · LO3 · K3 · K4 · A4 · A5 · 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Protect devices — indicative operational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41248" y="1682496"/>
          <a:ext cx="74066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8522208" y="1682496"/>
            <a:ext cx="2852928" cy="34290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965960"/>
            <a:ext cx="223113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08A73"/>
                </a:solidFill>
                <a:latin typeface="Arial"/>
              </a:rPr>
              <a:t>15–20%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2615184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6372"/>
                </a:solidFill>
                <a:latin typeface="Arial"/>
              </a:rPr>
              <a:t>CURRENT EXAM 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3104" y="3172968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LO2 · LO3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3104" y="3584448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K3 · K4 · A4 · A5 · A6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416552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77600"/>
                </a:solidFill>
                <a:latin typeface="Arial"/>
              </a:rPr>
              <a:t>Indicative teaching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157216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157216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85231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96127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single weak control can dominate endpoint risk; investigate the lowest control.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Defender Antivirus policy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Intune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Antivirus settings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CSP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Defender configuration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Real-time protection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Cloud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Block-at-first-sight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Telemetry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Protection status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6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Defender Antivirus policy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Enabled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Sample submission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Safe samples automatically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PUA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Block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Tamper protection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On through security management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Configure Defender Antivirus policy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Setting locked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Tamper protection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Signature stale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Trigger intelligence update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 conflict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Security policy vs profile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Sensor unhealthy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Collect Defender diagnostics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Configure Defender Antivirus policy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Get-MpComputerStatus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Engine + signature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Policy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Applied settings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Detection 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Security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version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LAB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BitLocker encryption and recovery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Encryption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Algorithm and scope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TPM protector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Key material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Volume encryption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Background state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Key escrow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Entra recovery object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Invalidate exposed key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6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 BitLocker encryption and recovery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Silent enablement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Standard user allowed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Recovery escrow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Before encryption required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Algorithm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XTS-AES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After key use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 BitLocker encryption and recovery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 escrow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device join and permissions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TPM not 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tpm.msc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Encryption suspended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Resume protectors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Recovery key exposed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Rotate from Intune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 BitLocker encryption and recovery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manage-bde -status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Protection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Recovery object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Key ID match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Encryption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Compliant volume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Rotation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New key timestamp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LAB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Enforce Windows Firewall policy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Domain/private/public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merge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Local + MDM rules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Filtering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Inbound/outbound decision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Logging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Dropped and allowed traffic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Firewall 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6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Enforce Windows Firewall policy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Default inbound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Block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Rule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Program · port · address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Local merge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Disable where required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Log path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pfirewall.log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Enforce Windows Firewall policy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active network category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Overbroad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Constrain program and remote address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Rule conflict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Review policy stores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Enable successful/dropped logging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Enforce Windows Firewall policy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Get-NetFirewallProfile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Enabled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Get-NetFirewallRule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 source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Firewall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Dropped packet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Intune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Profile applied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LAB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Reduce attack surface with ASR and Zero Trust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Process behavior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Command or content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ASR rule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Rule ID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Audit · warn · block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Defender telemetry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Event recorded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Tune exclusions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6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Reduce attack surface with ASR and Zero Trust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Phased rollout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Audit then warn then block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Rule 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Stable GUID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Narrow and justified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Zero Trust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Verify explicitly and limit impact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Reduce attack surface with ASR and Zero Trust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Business app blocked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event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Global exclusion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Replace with per-rule exclusion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 telemetry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Verify cloud protection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Rule not active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edition and policy precedence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Reduce attack surface with ASR and Zero Trust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Event 1121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Blocked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Advanced hunting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DeviceEvents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ASR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Rule and device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Exception register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 + expiry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LAB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8A73"/>
                </a:solidFill>
                <a:latin typeface="Arial"/>
              </a:rPr>
              <a:t>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Apply security baselines without configuration drift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Baseline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Recommended settings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instance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Versioned configuration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Pilot cohort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Per-setting 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Update workflow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Review new template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6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Apply security baselines without configuration drift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Baseline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Immutable template snapshot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Representative devices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Exception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Documented deviation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Migration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Create new profile then retire old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Apply security baselines without configuration drift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Conflict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Same setting in another profile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Template 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Not automatic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Legacy setting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Unsupported on current 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Overhardening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Validate business workload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Apply security baselines without configuration drift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Per-setting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Success/conflict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Baseline 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Recorded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Pilot acceptance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Security + productivity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Exception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LAB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Integrate Intune with Defender for Endpoint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Connector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Tenant trust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Onboarding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Sensor activation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Risk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Defender device risk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Risk threshold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Conditional Access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Resource gate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6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Integrate Intune with Defender for Endpoint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Connector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EDR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Onboard blob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Risk level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Clear · low · medium · high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Compliance 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Require below threshold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Integrate Intune with Defender for Endpoint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Device not onboarded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Sense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Duplicate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Resolve device identity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Risk not flowing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connector scope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Access unexpectedly blocked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CA and risk timeline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Integrate Intune with Defender for Endpoint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MDE device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Sensor health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Intune connector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Last sync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Compliance detail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Machine 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Sign-in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Risk-based block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LAB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8A73"/>
                </a:solidFill>
                <a:latin typeface="Arial"/>
              </a:rPr>
              <a:t>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Control application execution with App Control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creation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Allow rules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Code integrity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Signature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Execution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File identity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Allow/audit/block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Telemetry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CodeIntegrity events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6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Control application execution with App Control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Base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Trusted estate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Supplemental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Scoped extension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Audit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Inventory before enforcement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Managed installer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Trust tagged deployment source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Control application execution with App Control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Unsigned business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Create publisher/file rule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 brick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Stage in audit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Rule too broad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Avoid path trust where writable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Rollback unavailable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Maintain recovery plan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Control application execution with App Control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CodeIntegrity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 and signer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Policy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Applied CIPolicy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 inventory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Required exceptions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Block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Unauthorized binary denied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LAB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Operate update rings, Autopatch and Hotpatch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Release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Quality/feature update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Deployment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Target ring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Client 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Applicability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Install/restart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Deadline behavior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Update 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7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Operate update rings, Autopatch and Hotpatch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Deferral + deadline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Feature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Pinned version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Autopatch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Service-managed rings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Hotpatch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Eligible baseline + quarterly refresh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Operate update rings, Autopatch and Hotpatch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Offer not received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safeguards and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Restart disruption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Tune active hours/deadlines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Conflicting policies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Consolidate update source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Hotpatch ineligible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Validate edition and baseline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DOMAIN 3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Operate update rings, Autopatch and Hotpatch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Update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Offer/install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Client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WindowsUpdate.log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Autopatch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Release phase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Compliance by deadline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LAB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HANDS-ON · 120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Lab 6: Endpoint security, Defender, BitLocker, firewall and ASR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92624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30352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Security control set with Defender/BitLocker/firewall/ASR verification and exception record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LO2 · LO3 · K3 · K4 · A4 · A5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Save the evidence under labs/lab-06-endpoint-security-defender/evidence/.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HANDS-ON · 110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Lab 7: Update rings, feature updates, Autopatch, Hotpatch and Delivery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92624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30352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Staged update design, eligibility checks, rollout metrics and rollback decision evidence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LO1 · LO2 · K1 · K2 · A2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Save the evidence under labs/lab-07-updates-autopatch-hotpatch/evidence/.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8A73"/>
                </a:solidFill>
                <a:latin typeface="Arial"/>
              </a:rPr>
              <a:t>RETRIEVE · DIAGNOSE ·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3 technical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Configure Defender Antivirus policy
• Manage BitLocker encryption and recovery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Enforce Windows Firewall policy
• Reduce attack surface with ASR and Zero Trust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Apply security baselines without configuration drift
• Integrate Intune with Defender for Endpoint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Control application execution with App Control
• Operate update rings, Autopatch and Hotpatch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75503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8640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For each checkpoint, name the architecture boundary, exact contract, failure evidence and acceptance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21408"/>
            <a:ext cx="9601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77600"/>
                </a:solidFill>
                <a:latin typeface="Arial"/>
              </a:rPr>
              <a:t>DAY 4 · 8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87752"/>
            <a:ext cx="93268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Application lifecycle and data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84448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Win32 and Microsoft 365 Apps; MAM; app configuration; 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21408"/>
            <a:ext cx="9601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77600"/>
                </a:solidFill>
                <a:latin typeface="Arial"/>
              </a:rPr>
              <a:t>DOMAIN 4 · 15–20%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87752"/>
            <a:ext cx="93268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Manage and secure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84448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LO2 · LO3 · K2 · K3 · A2 · A5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 and secure applications — indicative operational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41248" y="1682496"/>
          <a:ext cx="74066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8522208" y="1682496"/>
            <a:ext cx="2852928" cy="34290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965960"/>
            <a:ext cx="223113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C77600"/>
                </a:solidFill>
                <a:latin typeface="Arial"/>
              </a:rPr>
              <a:t>15–20%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2615184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6372"/>
                </a:solidFill>
                <a:latin typeface="Arial"/>
              </a:rPr>
              <a:t>CURRENT EXAM 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3104" y="3172968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LO2 · LO3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3104" y="3584448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K2 · K3 · A2 · A5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416552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77600"/>
                </a:solidFill>
                <a:latin typeface="Arial"/>
              </a:rPr>
              <a:t>Indicative teaching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157216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157216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85231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WHAT THE DATA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96127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Separate true failures from not-applicable devices before changing an application.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Package and deploy Win32 applications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Install payload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Content prep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.intunewin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upload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Encrypted package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IME download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Device cache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Installer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Exit code + detection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Package and deploy Win32 applications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Install command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Silent and idempotent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MSI · file · registry · script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Requirements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Architecture and 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Return codes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Success · retry · reboot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Package and deploy Win32 applications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0x87D30067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Detection failed after install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0x80070002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File or path missing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Installer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System vs user mismatch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Reboot loop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Map return codes correctly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Package and deploy Win32 applications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IME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IntuneManagementExtension.log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Detection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Installed 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Device install 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Exit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Mapped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Sequence apps with dependencies and supersedence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Required/available/uninstall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Dependency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Prerequisites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Install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Topological sequence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Supersedence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Update or replace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Final 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Sequence apps with dependencies and supersedence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Dependency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Auto-install prerequisite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Supersedence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Update or uninstall previous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Requirement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Gate by device state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Availability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Company Portal intent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Sequence apps with dependencies and supersedence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Remove circular dependency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uninstall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Test supersedence option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Detection overlap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version-aware rule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Assignment conflict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Resolve required vs uninstall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Sequence apps with dependencies and supersedence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Dependency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Expected sequence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IME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Install orchestration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 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New build detected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stale required failure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Microsoft 365 Apps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Apps and channel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Content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Office CDN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Click-to-Run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Streaming install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Cloud policy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Inventory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Version and channel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Microsoft 365 Apps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Update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Current Enterprise or selected channel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64-bit by default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ODT XML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Product · language · updates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 priority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Cloud policy vs local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Microsoft 365 Apps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Channel mismatch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Review CDNBaseUrl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Office apps 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Handle update deadline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Network optimization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Delivery Optimization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 conflict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cloud policy status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Microsoft 365 Apps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OfficeC2RClient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Version/channel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Intune app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Installed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Apps admin center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Inventory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Policy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Applied Office settings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Integrate Apple and Managed Google Play stores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Store tenant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ABM or Managed Google Play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 acquisition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Token/sync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User/device/license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Managed install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Platform service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Inventory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Install status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Integrate Apple and Managed Google Play stores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Apple VPP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Location-specific and renewable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Managed Google 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Enterprise bind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 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Managed store app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Licensing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Device or user where supported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Integrate Apple and Managed Google Play stores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Token expired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Renew with same account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 not synced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Force connector sync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License exhausted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Acquire more licenses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storefront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Verify tenant binding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Integrate Apple and Managed Google Play stores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Connector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Last successful sync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metadata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License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Assigned/available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Managed install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DAY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Protect corporate data with MAM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 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 signs 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SDK/wrapper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Policy acquisition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Data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Work identity context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Action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Save/copy/open-in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Selective wipe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Corporate data removed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Protect corporate data with MAM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Data transfer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Policy-managed apps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Encryption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Organizational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Access requirement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PIN + threat condition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Wipe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User or device scoped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Protect corporate data with MAM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 not protected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Unsupported app or wrong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 not applied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user assignment and license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Copy blocked unexpectedly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Review exempt apps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Wipe pending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App must check 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Protect corporate data with MAM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 protection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User + app + device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Policy diagnostics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Applied settings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Selective wipe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 app protection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Combine app protection with Conditional Access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 + app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 conditions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Platform/client/risk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Grant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Require approved app or APP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 policy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Data controls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Token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Protected session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Combine app protection with Conditional Access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Grant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Require app protection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Client apps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Mobile apps and desktop clients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Report-only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Validate before enforce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Exclusion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Emergency access accounts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Combine app protection with Conditional Access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Unsupported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Block or constrain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CA grants access without 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Lockout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report-only and exclusions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Legacy auth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Block separately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Combine app protection with Conditional Access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177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Sign-in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 policy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 delivered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Token 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Client/app context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 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Managed/unmanaged ×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DAY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Deliver app configuration to managed and unmanaged apps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Configuration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Intune key-value payload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 or device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Delivery channel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MDM or MAM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 reads keys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Runtime behavior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Configuration status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Deliver app configuration to managed and unmanaged apps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Managed 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Configuration through MDM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Managed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Configuration through APP channel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Data 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String · boolean · integer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Vendor schema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Exact supported keys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Deliver app configuration to managed and unmanaged apps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Key ignored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Wrong name or 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Managed app vs managed device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Conflicting values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Consolidate policies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Verify app supports reporting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Deliver app configuration to managed and unmanaged apps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182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Policy payload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Exact keys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 diagnostics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Received configuration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Behavior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Expected tenant/account state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Troubleshoot application deployment from logs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Assignment resolution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IME policy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 metadata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Content download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DO/BITS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Installer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Context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Reported 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Troubleshoot application deployment from logs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IME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IntuneManagementExtension.log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Agent Executor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PowerShell execution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Content 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Staging files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Portal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Device install details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Troubleshoot application deployment from logs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Download timeout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Network/proxy/DO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Install failure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Exit code and command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Detection false negative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Fix rule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Requirement not met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Inspect applicability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Troubleshoot application deployment from logs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186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Timestamp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First failing phase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Exit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Vendor meaning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Detection 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Rule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Successful device 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app lifecycle and inventory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Managed app inventory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Owner + criticality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Install intent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Update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Supersedence/store update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Retirement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Uninstall and revoke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8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app lifecycle and inventory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Named service owner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Version-aware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Update SLA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Risk-based deadline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Retirement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Data and access cleanup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 app lifecycle and inventory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Shadow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Compare discovered vs approved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Stale package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Monitor version drift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Uninstall fails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Validate command/context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Orphan assignment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Review group lifecycle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DOMAIN 4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 app lifecycle and inventory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Discovered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footprint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Install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Device/user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Update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version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Retirement 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active assignment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77600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HANDS-ON · 120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Lab 8: Win32 apps, Microsoft 365 Apps, MAM and app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191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92624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30352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Deployable app contract, detection evidence, MAM/CA test matrix and troubleshooting trace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LO2 · LO3 · K2 · K3 · A2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Save the evidence under labs/lab-08-apps-mam-configuration/evidence/.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RETRIEVE · DIAGNOSE ·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4 technical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Package and deploy Win32 applications
• Sequence apps with dependencies and supersedence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Deploy Microsoft 365 Apps
• Integrate Apple and Managed Google Play stores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Protect corporate data with MAM
• Combine app protection with Conditional Access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Deliver app configuration to managed and unmanaged apps
• Troubleshoot application deployment from logs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75503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8640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For each checkpoint, name the architecture boundary, exact contract, failure evidence and acceptance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21408"/>
            <a:ext cx="9601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2413A"/>
                </a:solidFill>
                <a:latin typeface="Arial"/>
              </a:rPr>
              <a:t>DAY 5 · 8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87752"/>
            <a:ext cx="93268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Automation, analytics and incident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84448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Graph; PowerShell; analytics; remediation; health; unauthorized-access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21408"/>
            <a:ext cx="9601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2413A"/>
                </a:solidFill>
                <a:latin typeface="Arial"/>
              </a:rPr>
              <a:t>DOMAIN 5 · 10–15%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87752"/>
            <a:ext cx="93268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Optimize endpoint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84448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LO3 · LO4 · K3 · K5 · A5 · A7 · 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Optimize endpoint operations — indicative operational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41248" y="1682496"/>
          <a:ext cx="74066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8522208" y="1682496"/>
            <a:ext cx="2852928" cy="34290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965960"/>
            <a:ext cx="223113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C2413A"/>
                </a:solidFill>
                <a:latin typeface="Arial"/>
              </a:rPr>
              <a:t>10–15%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2615184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6372"/>
                </a:solidFill>
                <a:latin typeface="Arial"/>
              </a:rPr>
              <a:t>CURRENT EXAM 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3104" y="3172968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LO3 · LO4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3104" y="3584448"/>
            <a:ext cx="22311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K3 · K5 · A5 · A7 · A8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416552"/>
            <a:ext cx="22311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77600"/>
                </a:solidFill>
                <a:latin typeface="Arial"/>
              </a:rPr>
              <a:t>Indicative teaching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157216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157216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85231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WHAT THE DATA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96127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Operational time accumulates in triage and remediation; automation must preserve verification.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MECHANISM VISUAL · ANNOTATED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is an evidence-preserving control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197</a:t>
            </a:r>
          </a:p>
        </p:txBody>
      </p:sp>
      <p:pic>
        <p:nvPicPr>
          <p:cNvPr id="9" name="Picture 8" descr="md102-automation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5665"/>
            <a:ext cx="7452360" cy="419418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75320" y="1645920"/>
            <a:ext cx="3127248" cy="813816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1645920"/>
            <a:ext cx="73152" cy="8138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13064" y="1737360"/>
            <a:ext cx="2596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F6FEB"/>
                </a:solidFill>
                <a:latin typeface="Arial"/>
              </a:rPr>
              <a:t>Collect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3064" y="2011680"/>
            <a:ext cx="2596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Read tenant and device signals.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2633472"/>
            <a:ext cx="3127248" cy="813816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2633472"/>
            <a:ext cx="73152" cy="813816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2724912"/>
            <a:ext cx="2596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6D3FD2"/>
                </a:solidFill>
                <a:latin typeface="Arial"/>
              </a:rPr>
              <a:t>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2999232"/>
            <a:ext cx="2596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Apply bounded policy logic.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3621024"/>
            <a:ext cx="3127248" cy="813816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3621024"/>
            <a:ext cx="73152" cy="8138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3712463"/>
            <a:ext cx="2596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0B981"/>
                </a:solidFill>
                <a:latin typeface="Arial"/>
              </a:rPr>
              <a:t>Remediate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3986784"/>
            <a:ext cx="2596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Change only the required state.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4608576"/>
            <a:ext cx="3127248" cy="813816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4608576"/>
            <a:ext cx="73152" cy="813816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13064" y="4700016"/>
            <a:ext cx="25968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845B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3064" y="4974336"/>
            <a:ext cx="2596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Re-read state and publish outcome evidence.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92531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Concept illustration generated for this course; Graph/PowerShell contracts are taught on adjacent editable slides.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Intune with Microsoft Graph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 or delegated sign-in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OAuth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Scope/role claims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Graph endpoint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Resource request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Pagination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@odata.nextLink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Result handling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Retry and audit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9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Automate Intune with Microsoft Graph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Base URI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https://graph.microsoft.com/v1.0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Permission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DeviceManagementManagedDevices.Read.All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Pagination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Follow every nextLink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Throttling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Honor Retry-After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Automate Intune with Microsoft Graph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401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Token missing/expired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403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Permission or role absent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429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Back off and retry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Partial 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Pagination ignored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Automate Intune with Microsoft Graph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Token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aud + roles/scp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HTTP trace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Status + request-id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Count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 pages retrieved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Automation identity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Use PowerShell for repeatable endpoint operations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Connect-MgGraph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Authentication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Select-MgProfile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API surface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Get cmdlet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Read state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Update cmdlet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Controlled mutation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Export/log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Evidence and rollback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9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Use PowerShell for repeatable endpoint operations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Get-MgContext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Least privilege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Explicit scopes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WhatIf pattern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Preview intended targets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Idempotence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Compare before update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Use PowerShell for repeatable endpoint operations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tenant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TenantId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Broad 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Count before mutate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Module drift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Pin/test version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Transient failure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Retry safe operations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Use PowerShell for repeatable endpoint operations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Transcript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Command and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Before/after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Changed 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Expected devices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Exit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Automation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Extend compliance with custom scripts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Discovery 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Return JSON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Custom 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Setting definitions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Compliance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Compare values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Device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Per-setting result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Remediation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Operational response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9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Extend compliance with custom scripts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Exit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0 for successful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Single compressed JSON object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Data types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Match schema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Schedule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Periodic reevaluation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Extend compliance with custom scripts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Invalid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Validate serialization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Wrong property 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Match boolean/int/string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Script timeout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Keep discovery bounded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Sensitive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Do not emit secrets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Extend compliance with custom scripts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Local script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Valid 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Per-setting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Detected value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Compliance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Expected 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Remediation ticket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Closed with proof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Operate Security Copilot agents responsibly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intake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Threat/performance 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Agent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Pattern and context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Suggested action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Validate scope and evidence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Execution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Controlled remediation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10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Operate Security Copilot agents responsibly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Tenant telemetry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Not automatic authority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affected devices and blast radius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Record decision and outcome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Operate Security Copilot agents responsibly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Hallucinated cause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Verify against raw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Overbroad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Pilot and approve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Sensitive prompt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Apply data governance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Agent unavailable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Maintain manual runbook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Operate Security Copilot agents responsibly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213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Linked telemetry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Reviewer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Accept/modify/reject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Change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scope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Outcome metric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Issue resolved without regression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DAY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operational reports and dashboards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Device/app/policy facts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Filters and columns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Export/API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Structured data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Workbook/dashboard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Operational view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Action and owner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9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Build operational reports and dashboards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Freshness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Record report timestamp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Define cohort explicitly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CSV or Graph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KPI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Numerator, denominator, threshold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Build operational reports and dashboards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Misleading denominator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Exclude not-applicable correctly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Stale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Display freshness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Duplicate devices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stable device 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Vanity metric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Tie KPI to action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Build operational reports and dashboards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218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Query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Reproducible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Dashboard tile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value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Drill-through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Affected devices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 and deadline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Interpret Endpoint Analytics and reliability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Device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Startup/app/restart events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Aggregation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Population metrics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Startup + application reliability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Outlier or regression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Hardware/policy/remediation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9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Interpret Endpoint Analytics and reliability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Startup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Boot + sign-in experience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 reliability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Crashes and hangs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Restart frequency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Operational stability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Compare cohort and 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Interpret Endpoint Analytics and reliability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Low 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Avoid overinterpreting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Cohort mix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Segment by model/OS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Score improved but tickets 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multiple signals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Telemetry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Check prerequisites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Interpret Endpoint Analytics and reliability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222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Score trend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Before/after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Model cohort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Outlier devices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Top regressions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Reduced incident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901952"/>
            <a:ext cx="10835640" cy="265176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901952"/>
            <a:ext cx="128016" cy="265176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32257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413A"/>
                </a:solidFill>
                <a:latin typeface="Arial"/>
              </a:rPr>
              <a:t>DAY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761488"/>
            <a:ext cx="8961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3675887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Return at the time announced by the trainer.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proactive remediations safely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Detection 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Exit 0/1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Issue found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Remediation 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Correct state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Post-detection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Verify fix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Run outcome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9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Deploy proactive remediations safely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No change, evidence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Remediation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Idempotent and bounded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Execution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System or user context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Schedule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Operational need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Deploy proactive remediations safely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Detection always fails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Fix exit logic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Remediation loops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Make desired state idempotent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32/64-bit mismatch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Choose host setting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Large blast radius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Pilot and stage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Deploy proactive remediations safely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227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Pre-state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Issue reproduced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Detection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Issue found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Remediation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Change made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Post-state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Issue absent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 tenant health, alerts and change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Health/message center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Operational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Expected rate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Alert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Threshold or event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Triage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Impact and ownership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Communicate and recover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10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Monitor tenant health, alerts and change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Enrollment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Failure-rate threshold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Compliance drift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Noncompliant percentage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Config conflict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New conflict count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 advisory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Affected workload and region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Monitor tenant health, alerts and change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Alert fatigue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Tune severity and routing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Measure normal first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Duplicate incident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Correlate service advisory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Unowned 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Use escalation matrix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Monitor tenant health, alerts and change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Alert payload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Cohort + timestamp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Incident 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Detection to recovery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Change correlation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Policy/deployment event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Postmortem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 improvement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RUNTIME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Investigate unauthorized endpoint access —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221992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Risk/sign-in/device alert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255264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4708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221992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User + device + app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255264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84708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221992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Containment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Disable/revoke/isolate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255264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84708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221992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Logs and timeline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255264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847088"/>
            <a:ext cx="1874519" cy="27889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84708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221992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350008"/>
            <a:ext cx="7498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136392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75887"/>
            <a:ext cx="158191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Restore and monitor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9204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89204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020055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33095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evidence at every transition; the first missing state is the most useful troubleshooting boundary.  Lab 10 carries the full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Investigate unauthorized endpoint access — exact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Identity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Revoke sessions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Device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Isolate or retire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Evidence handling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Preserve timestamps and IDs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Access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Remove excess privilege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FIELD /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Configuration is a contract: names, values, scope and resulting state must all agree.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Investigate unauthorized endpoint access — failure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304495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2024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Premature wipe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Preserve evidence first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33087"/>
            <a:ext cx="1883664" cy="365760"/>
          </a:xfrm>
          <a:prstGeom prst="round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19072"/>
            <a:ext cx="82296" cy="304495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92024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Incomplete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Correlate device and sign-in IDs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33087"/>
            <a:ext cx="1883664" cy="365760"/>
          </a:xfrm>
          <a:prstGeom prst="round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19072"/>
            <a:ext cx="82296" cy="304495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Credential persists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Reset and revoke tokens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33087"/>
            <a:ext cx="1883664" cy="365760"/>
          </a:xfrm>
          <a:prstGeom prst="round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19072"/>
            <a:ext cx="2487168" cy="3044952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19072"/>
            <a:ext cx="82296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07424" y="1920240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93392"/>
            <a:ext cx="42062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74519"/>
            <a:ext cx="14813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Access restored early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596896"/>
            <a:ext cx="199339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Require clean compliance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133087"/>
            <a:ext cx="1883664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206240"/>
            <a:ext cx="18470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DIAGNOSE → RECOVER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8348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83480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1149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22392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Treat the symptom as a pointer to a failed stage; collect evidence before changing policy.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DOMAIN 5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Investigate unauthorized endpoint access — 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7393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Incident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Ordered events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48716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60604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9689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Sign-in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9689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 and device details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0128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42900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1985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Device 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985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Alert/process activity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33087"/>
            <a:ext cx="763524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251959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79"/>
            <a:ext cx="411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242816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Closure 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42816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Risk cleared and access reviewed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1664208"/>
            <a:ext cx="2788920" cy="3127248"/>
          </a:xfrm>
          <a:prstGeom prst="rect">
            <a:avLst/>
          </a:prstGeom>
          <a:solidFill>
            <a:srgbClr val="FFFFFF"/>
          </a:solidFill>
          <a:ln w="1778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938528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2413A"/>
                </a:solidFill>
                <a:latin typeface="Arial"/>
              </a:rPr>
              <a:t>LAB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2128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907792"/>
            <a:ext cx="2212848" cy="10607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the configured state, the observed result, the timestamp or correlation ID, and the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4178808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261104"/>
            <a:ext cx="188366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rial"/>
              </a:rPr>
              <a:t>PASS =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PRACTICE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click paths, commands, expected outputs and troubleshooting are in the Learner Guide and the individual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HANDS-ON · 115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Lab 9: Graph, PowerShell, remote actions and Endpoint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236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92624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30352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Least-privilege automation transcript, paginated export, remote-action evidence and KPI readout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LO3 · LO4 · K3 · K5 · A5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Save the evidence under labs/lab-09-graph-powershell-analytics/evidence/.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HANDS-ON · 110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Lab 10: Capstone: investigate access, remediate endpoints and brief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238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10561320" cy="941832"/>
          </a:xfrm>
          <a:prstGeom prst="rect">
            <a:avLst/>
          </a:prstGeom>
          <a:solidFill>
            <a:srgbClr val="F5F8FC"/>
          </a:solidFill>
          <a:ln w="762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47088"/>
            <a:ext cx="87325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Contoso must implement the control, prove the observed state, diagnose one seeded failure, and retain an auditable evidence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19" y="3236976"/>
            <a:ext cx="548640" cy="54864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3657600"/>
            <a:ext cx="402336" cy="0"/>
          </a:xfrm>
          <a:prstGeom prst="line">
            <a:avLst/>
          </a:prstGeom>
          <a:ln w="1778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26664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3236976"/>
            <a:ext cx="548640" cy="54864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8304" y="3657600"/>
            <a:ext cx="402336" cy="0"/>
          </a:xfrm>
          <a:prstGeom prst="line">
            <a:avLst/>
          </a:prstGeom>
          <a:ln w="1778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3792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3236976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1576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85431" y="3657600"/>
            <a:ext cx="402337" cy="0"/>
          </a:xfrm>
          <a:prstGeom prst="line">
            <a:avLst/>
          </a:prstGeom>
          <a:ln w="1778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60920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18704" y="3236976"/>
            <a:ext cx="548640" cy="54864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BREAK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3657600"/>
            <a:ext cx="402336" cy="0"/>
          </a:xfrm>
          <a:prstGeom prst="line">
            <a:avLst/>
          </a:prstGeom>
          <a:ln w="1778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28048" y="3063240"/>
            <a:ext cx="166420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85832" y="3236976"/>
            <a:ext cx="548640" cy="548640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346704"/>
            <a:ext cx="5486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886200"/>
            <a:ext cx="148132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864608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92624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YOU'LL 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30352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Incident timeline, containment record, remediation proof, access review and executive operations brief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LO4 · K5 · A7 · A8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— acceptance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30175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Policy/profile/assignment values are visible and scoped to the intended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737360"/>
            <a:ext cx="82296" cy="30175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65960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device, app or identity shows the expected service and client-side outcome.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37360"/>
            <a:ext cx="82296" cy="3017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1965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seeded issue is tied to an error, log, report or missing state—not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7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1737360"/>
            <a:ext cx="2487168" cy="301752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737360"/>
            <a:ext cx="82296" cy="30175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1965960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048256"/>
            <a:ext cx="457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20240"/>
            <a:ext cx="14447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88336"/>
            <a:ext cx="1993392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post-change retest demonstrates the corrected state with timestamp/correlation evidence.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08008" y="4160520"/>
            <a:ext cx="1847088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242816"/>
            <a:ext cx="181051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10912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38928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449824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Save the evidence under labs/lab-10-capstone-incident-operations/evidence/. Detailed steps are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413A"/>
                </a:solidFill>
                <a:latin typeface="Arial"/>
              </a:rPr>
              <a:t>RETRIEVE · DIAGNOSE ·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5 technical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Automate Intune with Microsoft Graph
• Use PowerShell for repeatable endpoint operations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Extend compliance with custom scripts
• Operate Security Copilot agents responsibly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Build operational reports and dashboards
• Interpret Endpoint Analytics and reliability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Checkpoint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• Deploy proactive remediations safely
• Monitor tenant health, alerts and change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47488"/>
            <a:ext cx="91440" cy="100584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75503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48640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For each checkpoint, name the architecture boundary, exact contract, failure evidence and acceptance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CLOSING BLOCK ·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Assessment: demonstrate current endpoint judgment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the mechanism and decision rule using K1–K5.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 six connected tasks and preserve evidence for A1–A8.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Meet every criterion; partial evidence does not demonstrate the full ability.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the completed learner-facing papers to the LMS.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77600"/>
                </a:solidFill>
                <a:latin typeface="Arial"/>
              </a:rPr>
              <a:t>WA → PP →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flow: final sign-off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38528"/>
            <a:ext cx="1874519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2331720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5 SAQs
K1–K5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383280"/>
            <a:ext cx="210312" cy="0"/>
          </a:xfrm>
          <a:prstGeom prst="line">
            <a:avLst/>
          </a:prstGeom>
          <a:ln w="190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938528"/>
            <a:ext cx="1874519" cy="914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9584" y="2331720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All knowledge
criteria covered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4608" y="3383280"/>
            <a:ext cx="219456" cy="0"/>
          </a:xfrm>
          <a:prstGeom prst="line">
            <a:avLst/>
          </a:prstGeom>
          <a:ln w="1905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57216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938528"/>
            <a:ext cx="1874519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4144" y="2331720"/>
            <a:ext cx="749808" cy="7498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 tasks
A1–A8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9168" y="3383280"/>
            <a:ext cx="210311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42631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2631" y="1938528"/>
            <a:ext cx="1874519" cy="914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09559" y="2331720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59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Evidence and
explanation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44584" y="3383280"/>
            <a:ext cx="219456" cy="0"/>
          </a:xfrm>
          <a:prstGeom prst="line">
            <a:avLst/>
          </a:prstGeom>
          <a:ln w="1905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37192" y="1938528"/>
            <a:ext cx="1874519" cy="288036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938528"/>
            <a:ext cx="1874519" cy="914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2331720"/>
            <a:ext cx="749808" cy="749808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2450592"/>
            <a:ext cx="74980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273552"/>
            <a:ext cx="1581912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Sign-off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776472"/>
            <a:ext cx="1581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 or NYC
recorded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074920"/>
            <a:ext cx="1083564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5074920"/>
            <a:ext cx="91440" cy="100584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202936"/>
            <a:ext cx="9875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SUBMISSION RULE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5513831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Question papers go to the LMS. Answer keys remain trainer-only and are never linked from the learner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10515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CLOSING BLOCK · TRAQOM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attendance: final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62456"/>
            <a:ext cx="10835640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Microsoft Certified Endpoint Administrator Associate (MD-102)  ·  TGS-2024042603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1908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685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82296" cy="29718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56816"/>
            <a:ext cx="457200" cy="4572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every required session has a recorded attendance state.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82296" cy="297180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956816"/>
            <a:ext cx="457200" cy="45720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Resolve exception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 the trainer the relevant Singpass/TRAQOM result.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82296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95681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 not delay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Attendance exceptions become harder to resolve after course close.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1737360"/>
            <a:ext cx="2487168" cy="2971800"/>
          </a:xfrm>
          <a:prstGeom prst="rect">
            <a:avLst/>
          </a:prstGeom>
          <a:solidFill>
            <a:srgbClr val="F5F8FC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737360"/>
            <a:ext cx="82296" cy="297180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956816"/>
            <a:ext cx="457200" cy="45720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57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1911095"/>
            <a:ext cx="146304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Keep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61488"/>
            <a:ext cx="1956816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Retain the confirmation until the training record is finalized.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d102-endpoint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436"/>
            <a:ext cx="6903720" cy="388540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1481328"/>
            <a:ext cx="42245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66543"/>
            <a:ext cx="4315968" cy="1444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Manage endpoints as an evidence-driven control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822191"/>
            <a:ext cx="42976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Identity · Policy · Security · Applications ·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992624"/>
            <a:ext cx="4297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https://www.tertiarycourses.com.sg/wsq-microsoft-certified-endpoint-administrator-associate-md-102.html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797296"/>
            <a:ext cx="4297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TGS-2024042603 · Version v3.0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