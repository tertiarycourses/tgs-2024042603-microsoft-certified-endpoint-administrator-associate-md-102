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Midpoint weight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08A73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C77600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C2413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Infrastructure</c:v>
                </c:pt>
                <c:pt idx="1">
                  <c:v>Devices</c:v>
                </c:pt>
                <c:pt idx="2">
                  <c:v>Protect</c:v>
                </c:pt>
                <c:pt idx="3">
                  <c:v>Apps</c:v>
                </c:pt>
                <c:pt idx="4">
                  <c:v>Operations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22.5</c:v>
                </c:pt>
                <c:pt idx="1">
                  <c:v>27.5</c:v>
                </c:pt>
                <c:pt idx="2">
                  <c:v>17.5</c:v>
                </c:pt>
                <c:pt idx="3">
                  <c:v>17.5</c:v>
                </c:pt>
                <c:pt idx="4">
                  <c:v>12.5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dPt>
            <c:idx val="4"/>
            <c:spPr>
              <a:solidFill>
                <a:srgbClr val="C77600"/>
              </a:solidFill>
              <a:ln>
                <a:solidFill>
                  <a:srgbClr val="C7760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Eligible</c:v>
                </c:pt>
                <c:pt idx="1">
                  <c:v>Discovered</c:v>
                </c:pt>
                <c:pt idx="2">
                  <c:v>Registered</c:v>
                </c:pt>
                <c:pt idx="3">
                  <c:v>Enrolled</c:v>
                </c:pt>
                <c:pt idx="4">
                  <c:v>Compliant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97</c:v>
                </c:pt>
                <c:pt idx="2">
                  <c:v>93</c:v>
                </c:pt>
                <c:pt idx="3">
                  <c:v>88</c:v>
                </c:pt>
                <c:pt idx="4">
                  <c:v>82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Pilot</c:v>
                </c:pt>
                <c:pt idx="1">
                  <c:v>Ring 1</c:v>
                </c:pt>
                <c:pt idx="2">
                  <c:v>Ring 2</c:v>
                </c:pt>
                <c:pt idx="3">
                  <c:v>Broad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33</c:v>
                </c:pt>
                <c:pt idx="3">
                  <c:v>46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279999999999994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dPt>
            <c:idx val="4"/>
            <c:spPr>
              <a:solidFill>
                <a:srgbClr val="C77600"/>
              </a:solidFill>
              <a:ln>
                <a:solidFill>
                  <a:srgbClr val="C7760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AV</c:v>
                </c:pt>
                <c:pt idx="1">
                  <c:v>Encryption</c:v>
                </c:pt>
                <c:pt idx="2">
                  <c:v>Firewall</c:v>
                </c:pt>
                <c:pt idx="3">
                  <c:v>ASR</c:v>
                </c:pt>
                <c:pt idx="4">
                  <c:v>EDR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91</c:v>
                </c:pt>
                <c:pt idx="2">
                  <c:v>94</c:v>
                </c:pt>
                <c:pt idx="3">
                  <c:v>83</c:v>
                </c:pt>
                <c:pt idx="4">
                  <c:v>89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3.28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Required</c:v>
                </c:pt>
                <c:pt idx="1">
                  <c:v>Available</c:v>
                </c:pt>
                <c:pt idx="2">
                  <c:v>Failed</c:v>
                </c:pt>
                <c:pt idx="3">
                  <c:v>Not applicable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18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4.96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Detect</c:v>
                </c:pt>
                <c:pt idx="1">
                  <c:v>Triage</c:v>
                </c:pt>
                <c:pt idx="2">
                  <c:v>Remediate</c:v>
                </c:pt>
                <c:pt idx="3">
                  <c:v>Verify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41</c:v>
                </c:pt>
                <c:pt idx="3">
                  <c:v>19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379999999999995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6" y="1405170"/>
            <a:ext cx="6720840" cy="37824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384048"/>
            <a:ext cx="676656" cy="676656"/>
          </a:xfrm>
          <a:prstGeom prst="rect">
            <a:avLst/>
          </a:prstGeom>
        </p:spPr>
      </p:pic>
      <p:pic>
        <p:nvPicPr>
          <p:cNvPr id="5" name="Picture 4" descr="microsoft-certified-associate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47472"/>
            <a:ext cx="786384" cy="786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417320"/>
            <a:ext cx="4160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4626864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Microsoft Certified Endpoint Administrator Associate (MD-102)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57600"/>
            <a:ext cx="4297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Course Code: TGS-2024042603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087368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Version v3.1 · 25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00600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Tertiary Infotech Academy Pte Ltd
UEN: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760720"/>
            <a:ext cx="43891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Aligned to MD-102 skills measured 24 July 2026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and course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Briefing · evidence expectations · assessment · learner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COURSE CONTROL ·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with TRAQOM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Singpass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Singpass app when the trainer announces attendance.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the session 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the correct course, date and session before submission.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recorded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the trainer the success state if attendance does not appear.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Escalate early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attendance exceptions during the session, not after course completion.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Digital attendance appears again at the close so every session is reconciled.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TRAINER PROFILE ·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Trainer profile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Insert the assigned trainer's name, current role and delivery responsibility.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Endpoint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Summarize Intune, Entra, Windows, Defender and automation experience.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List only current, verifiable certifications and assessor credentials.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Contact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the approved course support and escalation channel.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Replace the template only when the named trainer has been confirmed.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TRAINER PROFILE · NAMED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Trainer profile: 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Course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Technical courseware architect and trainer for cloud, AI and enterprise administration.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Delivery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Mechanism-led instruction, reproducible labs and evidence-based troubleshooting.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Learner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Clarify concepts during class; use the approved support channel after class.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 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 support does not disclose model answers during assessment.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Ask for the evidence behind a conclusion: state, log, report, timestamp and interpretation.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 and assessed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Administer complex security programs and analyze system-update impacts on Microsoft Endpoint administration.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Microsoft Endpoint system administration and configure authentication to protect against security threats.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Troubleshoot Microsoft Endpoint security issues and assist users in defining access rights.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 advanced access-control rights and investigate unauthorized-access incidents on Microsoft Endpoint systems.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SECURITY ADMINISTRATION · ICT-OUS-3012-1.1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and ability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K4 · A1 · A3
Infrastructure, complex administration and security mechanisms.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 · K4 · A2 · A4
Configuration, updates, authentication and protection.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 · A5 · A6
Troubleshooting, validation and user access clarification.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K5 · A7 · A8
Escalated access control and unauthorized-access investigation.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5 DAYS · 40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roadmap: five connected operating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Infrastructure and identity
Prepare infrastructure; Entra identity; enrollment; scoped administration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deployment and configuration
Compliance and access; Autopilot; Windows 365; configuration targeting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Endpoint protection and updates
Defender; BitLocker; firewall; ASR; baselines; update operations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Application lifecycle and data protection
Win32 and Microsoft 365 Apps; MAM; app configuration; troubleshooting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5 closes the loop with automation, monitoring, remediation and incident investigation.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SKILLS MEASURED · 24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MD-102 exam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04672" y="1627632"/>
          <a:ext cx="4983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1627632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27632"/>
            <a:ext cx="91440" cy="60350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Prepare infrastructure for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4392" y="1719072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1F6FEB"/>
                </a:solidFill>
                <a:latin typeface="Arial"/>
              </a:rPr>
              <a:t>20–25%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377440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91440" cy="603504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468880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Manage and maintain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2468880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6D3FD2"/>
                </a:solidFill>
                <a:latin typeface="Arial"/>
              </a:rPr>
              <a:t>25–30%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127248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127248"/>
            <a:ext cx="91440" cy="603504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218688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Protect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3218688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108A73"/>
                </a:solidFill>
                <a:latin typeface="Arial"/>
              </a:rPr>
              <a:t>15–20%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77056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77056"/>
            <a:ext cx="91440" cy="603504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968496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Manage and secure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3968496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C77600"/>
                </a:solidFill>
                <a:latin typeface="Arial"/>
              </a:rPr>
              <a:t>15–20%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626864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626864"/>
            <a:ext cx="91440" cy="603504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718303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Optimize endpoint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4718303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C2413A"/>
                </a:solidFill>
                <a:latin typeface="Arial"/>
              </a:rPr>
              <a:t>10–15%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19379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19379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30352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61441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largest single domain is device management, but exam readiness depends on tracing identity, policy, security, apps and operations as one system.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COURSE PORTAL · VISUAL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the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6748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6748272" cy="475488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1810512"/>
            <a:ext cx="109728" cy="109728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3584" y="1810512"/>
            <a:ext cx="109728" cy="10972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99616" y="1810512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1952" y="1783080"/>
            <a:ext cx="4892040" cy="228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8256" y="1819656"/>
            <a:ext cx="452628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423160"/>
            <a:ext cx="1417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My Courses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834640"/>
            <a:ext cx="6053328" cy="92354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3017520"/>
            <a:ext cx="42428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Microsoft Certified Endpoint Administrator Associate (MD-102)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3026664"/>
            <a:ext cx="1188720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3108960"/>
            <a:ext cx="1152144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041648"/>
            <a:ext cx="60533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4279392"/>
            <a:ext cx="460857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Trainer slides · Learner slides · Learner Guide · Lesson Plan · Labs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4352544"/>
            <a:ext cx="118872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4434840"/>
            <a:ext cx="1152144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5" name="Oval 24"/>
          <p:cNvSpPr/>
          <p:nvPr/>
        </p:nvSpPr>
        <p:spPr>
          <a:xfrm>
            <a:off x="7973568" y="1792224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1892808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1737360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2029968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the course account provided.</a:t>
            </a:r>
          </a:p>
        </p:txBody>
      </p:sp>
      <p:sp>
        <p:nvSpPr>
          <p:cNvPr id="29" name="Oval 28"/>
          <p:cNvSpPr/>
          <p:nvPr/>
        </p:nvSpPr>
        <p:spPr>
          <a:xfrm>
            <a:off x="7973568" y="2770632"/>
            <a:ext cx="475488" cy="47548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2871216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2715768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this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3008376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Confirm code TGS-2024042603.</a:t>
            </a:r>
          </a:p>
        </p:txBody>
      </p:sp>
      <p:sp>
        <p:nvSpPr>
          <p:cNvPr id="33" name="Oval 32"/>
          <p:cNvSpPr/>
          <p:nvPr/>
        </p:nvSpPr>
        <p:spPr>
          <a:xfrm>
            <a:off x="7973568" y="3749039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3849624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694176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Download current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3986784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PPTX for trainer slides; PDF for learner slides.</a:t>
            </a:r>
          </a:p>
        </p:txBody>
      </p:sp>
      <p:sp>
        <p:nvSpPr>
          <p:cNvPr id="37" name="Oval 36"/>
          <p:cNvSpPr/>
          <p:nvPr/>
        </p:nvSpPr>
        <p:spPr>
          <a:xfrm>
            <a:off x="7973568" y="4727448"/>
            <a:ext cx="475488" cy="47548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4828032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512" y="4672584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versions together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4965192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mix archived and current files.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BRIEFING BEFORE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open-ended questions · K1–K5 · 60 minutes · open book.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 connected tasks · A1–A8 · 60 minutes · evidence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supplied document and upload it to lms-tms.tertiaryinfotech.com.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Address every criterion and demonstrate the required evidence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WA → PP →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 and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331720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5 SAQs
K1–K5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383280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93852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331720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 knowledge
criteria covered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383280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93852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331720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 tasks
A1–A8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383280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93852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331720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Evidence and
explanation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383280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3852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331720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 or NYC
recorded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7492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07492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18464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SUBMISSION RULE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49554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papers go to the LMS. Answer keys remain trainer-only and are never linked from the learner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EXAMS.TERTIARYINFOTECH.COM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Exam: MD-102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66294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6629400" cy="475488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92224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MD-102 Practice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" y="2505456"/>
            <a:ext cx="5980176" cy="1005840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736" y="2734056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Practice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6148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Feedback after each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" y="3767328"/>
            <a:ext cx="5980176" cy="1005840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3995928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Exam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2336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Timed set with end-of-attempt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" y="5065776"/>
            <a:ext cx="2971800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148072"/>
            <a:ext cx="29260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hlinkClick r:id="rId2"/>
              </a:rPr>
              <a:t>https://exams.tertiaryinfotech.com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66420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664208"/>
            <a:ext cx="73152" cy="78638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3" y="174650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74650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Take one timed attempt before revision.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62432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2624328"/>
            <a:ext cx="73152" cy="786384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270662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Gap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270662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Tag every miss to a current domain and objective.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58444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3584448"/>
            <a:ext cx="73152" cy="78638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366674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Retest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19" y="366674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Repeat after the linked lab and evidence review.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454456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4544568"/>
            <a:ext cx="73152" cy="786384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64423" y="462686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Exam judgment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462686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the control that satisfies the stated constraint with least privilege.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PRACTICE ·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evidence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policy, assignment, script or control values.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device/service result and its timestamp.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Diagnosis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Tie the failure to an error, log, report or absent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Retest and prove the expected state after correction.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 screenshot without context is not evidence; pair it with the object, state, time and interpretation.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TECHNICAL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environment and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365 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Intune and Entra permissions appropriate to each lab role.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Windows test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Windows 11 VM or approved test endpoint; do not use production devices.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Command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PowerShell 7, Microsoft Graph PowerShell SDK, Windows Terminal and browser.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 workspace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Individual lab folder with starter, solution and evidence subfolders.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TECHNICAL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currency and exam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Study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Skills measured as of 24 July 2026; five weighted domains.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Learn 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MD-102T00-A · 5 days · Intune-centred endpoint operations.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MicrosoftLearning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Adapted from repository commit 25eaad2a.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Registration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40-hour accredited course; four WSQ outcomes and two assessment hours.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When a secondary guide disagrees with the current Microsoft study guide, the official study guide wins.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DAY 1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Infrastructure 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Prepare infrastructure; Entra identity; enrollment; scoped administration · 20–25% · LO1 · K1 · K4 · A1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Prepare infrastructure for devices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20–25%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K1 · K4 · A1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66944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77840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Enrollment funnels expose loss between identity, discovery and compliance.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MECHANISM VISUAL · ANNOTATED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Zero Trust joins identity, device and access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pic>
        <p:nvPicPr>
          <p:cNvPr id="9" name="Picture 8" descr="md102-zero-trust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5665"/>
            <a:ext cx="7452360" cy="41941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75320" y="1645920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645920"/>
            <a:ext cx="73152" cy="8138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1737360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011680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Who is requesting access?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633472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633472"/>
            <a:ext cx="73152" cy="8138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724912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6D3FD2"/>
                </a:solidFill>
                <a:latin typeface="Arial"/>
              </a:rPr>
              <a:t>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999232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What join and management state exists?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3621024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3621024"/>
            <a:ext cx="73152" cy="8138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712463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0B981"/>
                </a:solidFill>
                <a:latin typeface="Arial"/>
              </a:rP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986784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Does the endpoint meet policy?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4608576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4608576"/>
            <a:ext cx="73152" cy="8138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3064" y="4700016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845B"/>
                </a:solidFill>
                <a:latin typeface="Arial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4974336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What current threat signal changes the decision?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92531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Concept illustration generated for this course; labels and decision rules remain editable PowerPoint objects.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Choose the correct Microsoft Entra device identity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 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Primary refresh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Registration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object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Join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Registered · joined · hybrid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deviceid · trustType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Identity plus device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Choose the correct Microsoft Entra device identity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Workplace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AzureAdRegistered = 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AzureAdJoined = 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Hybrid join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DomainJoined + AzureAdJoined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dsregcmd /status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Workplace join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User sign-in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Workplace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AzureAdRegistered = 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Pending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registration event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State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Join flags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Workplace join state is valid only when User sign-in produces Device State block; Pending device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join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Cloud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AzureAdJoined = 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Registration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 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TenantId and DeviceId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SSO State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AzureAdPrt = 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Cloud join state is valid only when Registration service produces SSO State block; Wrong tenant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join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Join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Registered · joined · hybrid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Hybrid 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DomainJoined + AzureAdJoined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Missing PRT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WAM and sign-in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Entra device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Owner and trust 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Hybrid join state is valid only when Join state produces Entra device record; Missing PRT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Verification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deviceid · trustType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dsregcmd /status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object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Reconcile stale registrations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 ID correlation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Verification state is valid only when Token claims produces Sign-in log; Duplicate object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Choose the correct Microsoft Entra device identity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Pending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registration event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tenant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TenantId and DeviceId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Missing PRT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WAM and sign-in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object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Reconcile stale registrations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Pending device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Pending device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Registration service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Workplace join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Check registration event log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Device State block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State block shows Join flags;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tenant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Wrong tenant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Join state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Cloud join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Inspect TenantId and DeviceId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AzureAdPrt = 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SSO State block shows AzureAdPrt = YES;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Missing PRT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Missing PRT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Hybrid join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 WAM and sign-in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Entra device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Entra device record shows Owner and trust type;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CHOOSE THE CORRECT MICROSOFT ENTRA DEVICE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Duplicate object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Access decision  |  SUSPECT ·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Duplicate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Reconcile stale registrations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Sign-in log shows Device ID correlation;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Choose the correct Microsoft Entra device identity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State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Join flags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SSO State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AzureAdPrt = 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Entra device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trust 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ID correlation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Target policy with dynamic device groups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Extension attributes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Rule 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Property operators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Membership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Asynchronous evaluation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 resolver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Include and exclude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Per-device applicability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Target policy with dynamic device groups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OS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device.deviceOSType -eq "Windows"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Ownership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device.deviceOwnership -eq "Company"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Autopilot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device.devicePhysicalIDs -any _ -contains "[ZTDId]"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rules before save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rule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Device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OS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device.deviceOSType -eq "Windows"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Invalid 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supported device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Rule syntax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Saved expression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OS rule state is valid only when Device inventory produces Rule syntax; Invalid property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Ownership rule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Ownership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device.deviceOwnership -eq "Company"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Rule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Property operators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Slow membership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processing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Preview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Expected devices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Ownership rule state is valid only when Rule parser produces Preview result; Slow membership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Autopilot rule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Membership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Asynchronous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Autopilot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device.devicePhysicalIDs -any _ -contains "[ZTDId]"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Nested group assumption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Dynamic groups do not use nested evaluation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Membership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Added/removed objects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Autopilot rule state is valid only when Membership engine produces Membership audit; Nested group assumption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Preview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Assignment resolver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Include and exclude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rules before save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Broad targeting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Test with a preview cohort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Assignment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Policy reached cohort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Preview state is valid only when Assignment resolver produces Assignment status; Broad targeting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Target policy with dynamic device groups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Invalid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supported device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Slow membership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processing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Nested group assumption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Dynamic groups do not use nested 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Broad targeting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with a preview cohort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Invalid property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Invalid property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Rule parser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OS rule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Use supported device schema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Rule syntax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Rule syntax shows Saved expression;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Slow membership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Slow membership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Membership engine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Ownership rule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processing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Expected devices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Preview result shows Expected devices;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Nested group assumption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Nested group assumption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Assignment resolver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Autopilot rule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Dynamic groups do not use nested evaluation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Membership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Membership audit shows Added/removed objects;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TARGET POLICY WITH DYNAMIC DEVICE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Broad targeting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Policy service  |  SUSPECT · Preview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Broad targeting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 with a preview cohort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Assignment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Assignment status shows Policy reached cohort;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Target policy with dynamic device groups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 syntax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Saved expression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Preview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Membership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Added/removed objects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Assignment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reached cohort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Windows automatic enrollment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Licensed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entitlement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MDM user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Enrollment authority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Entra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Discovery URL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Certificate request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Managed device object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2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Windows automatic enrollment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MDM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Some or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Discovery 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EnterpriseEnrollment.manage.microsoft.com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Enrollment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dsregcmd /status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Diagnostics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MDMDiagReport.html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MDM scope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Licensed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MDM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Some or 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 excludes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MDM user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ManagedBy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Intune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MDM scope state is valid only when Licensed user produces ManagedBy value; Scope excludes user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Discovery URL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Discovery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EnterpriseEnrollment.manage.microsoft.com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MDM user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Enrollment authority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License missing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Assign Intune entitlement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Enrollment certificate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MS-Organization-Access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Discovery URL state is valid only when MDM user scope produces Enrollment certificate; License missing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Enrollment status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Entra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Discovery 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dsregcmd /status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Stale enrollment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Inspect scheduled tasks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DeviceManagement-Enterprise-Diagnostics-Provider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Enrollment status state is valid only when Entra join produces Event log; Stale enrollment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Diagnostics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Certificate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MDMDiagReport.html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Test enrollment 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Last check-in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Diagnostics state is valid only when Enrollment client produces Intune record; Network block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Windows automatic enrollment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Scope excludes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MDM user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License 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Assign Intune entitlement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enrollment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scheduled tasks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 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enrollment endpoints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Scope excludes user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Scope excludes user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MDM user scope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MDM scope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Review MDM user scope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ManagedBy value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ManagedBy value shows Intune;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License missing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License missing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Entra join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Discovery URL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Assign Intune entitlement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MS-Organization-Access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Enrollment certificate shows MS-Organization-Access;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Stale enrollment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Stale enrollment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status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Inspect scheduled tasks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Event log shows DeviceManagement-Enterprise-Diagnostics-Provider;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CONFIGURE WINDOWS AUTOMATIC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block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Intune record  |  SUSPECT · Diagnostics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Network block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 enrollment endpoints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Intune record shows Last check-in;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Windows automatic enrollment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ManagedBy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Intune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certificate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MS-Organization-Access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DeviceManagement-Enterprise-Diagnostics-Provider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Last check-in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multi-platform enrollment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Platform 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Apple · Google · Samsung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Profile or QR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Ownership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Corporate or personal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Restriction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 + OS limits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Managed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Compliance-capable device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2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multi-platform enrollment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Apple corporate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ABM automated enrollment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Android corporate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Fully managed or corporate work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Android shared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Dedicated 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Restriction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 personal where required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Apple corporate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Platform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Apple corporate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ABM automated enrollment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Expired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Renew before service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Token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Active and unexpired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Apple corporate state is valid only when Platform authority produces Token status; Expired token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Android corporate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Android corporate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Fully managed or corporate work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Enrollment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Profile or QR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corporate identifiers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Enrollment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Assigned devices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Android corporate state is valid only when Enrollment token produces Enrollment profile; Wrong ownership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Android shared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Corporate or personal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Android shared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Dedicated 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Unsupported 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minimum 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 field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Corporate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Android shared state is valid only when Ownership signal produces Ownership field; Unsupported OS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Restriction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Restriction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Platform + OS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Restriction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Block personal where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Profile 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Verify one intended enrollment path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Platform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Enrollment success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Restriction state is valid only when Restriction evaluation produces Platform report; Profile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multi-platform enrollment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Expired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Renew before service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corporate identifiers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minimum version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Profile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one intended enrollment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Expired token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Expired token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Enrollment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Apple corporate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Renew before service impact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Token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Token status shows Active and unexpired;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ownership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Wrong ownership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Ownership signal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Android corporate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corporate identifiers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Assigned devices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Enrollment profile shows Assigned devices;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Unsupported OS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Unsupported 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Restriction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Android shared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Check minimum version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Ownership field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Ownership field shows Corporate;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CONTROL MULTI-PLATFORM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Profile 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Managed record  |  SUSPECT · Restriction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Profile conflict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one intended enrollment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Platform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Platform report shows Enrollment success;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multi-platform enrollment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Active and unexpired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Assigned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Ownership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Corporate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Platform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Enrollment success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Delegate Intune administration safely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Permissions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Members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Objects administered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Objects visible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Accountability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Delegate Intune administration safely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Built-in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Least-privilege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Custom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Only required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Regional visibility boundary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Multi-admin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Second-person 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Built-in role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Role definition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Built-in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Least-privilege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 too broad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Compare actions to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Effective permissions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Expected actions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Built-in role state is valid only when Role definition produces Effective permissions; Role too broad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role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Custom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Only required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 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Empty scope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Assignment has no 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Visibility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Only tagged objects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Custom role state is valid only when Role assignment produces Visibility test; Empty scope group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Scope tag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Objects administered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Regional visibility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Tag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Object not visible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Approval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Requester and approver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Scope tag state is valid only when Scope group produces Approval record; Tag mismatch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Multi-admin approval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Objects visible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Multi-admin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Second-person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Approval deadlock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Maintain approver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Role change trace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Multi-admin approval state is valid only when Scope tag produces Audit event; Approval deadlock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Delegate Intune administration safely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Role too broad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actions to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Empty scope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Assignment has no reach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Tag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Object not visible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Approval deadlock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Maintain approver coverage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Role too broad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Role too broad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Role assignment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Built-in role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Compare actions to task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Effective permissions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Effective permissions shows Expected actions only;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Empty scope group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Empty scope group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Scope group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Custom role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Assignment has no reach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Only tagged objects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Visibility test shows Only tagged objects;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Tag mismatch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Tag mismatch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Object not visible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Approval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Approval record shows Requester and approver;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DELEGATE INTUNE ADMINISTRATION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Approval deadlock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Audit log  |  SUSPECT · Multi-admin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deadlock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Maintain approver 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Audit event shows Role change trace;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Delegate Intune administration safely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Effective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actions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Visibility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tagged objects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Approval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Requester and approver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 change trace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compliance before access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reports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check-in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Compliance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Policy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Entra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isCompliant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Conditional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Grant control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Resource 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Allow or block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3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compliance before access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Grace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Controlled remediation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Mark noncompliant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Immediate or delayed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 grant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compliant 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Break-glass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Exclude emergency account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Grace period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Device reports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Grace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Controlled remediation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 evaluated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assignment and check-in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Failed condition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Grace period state is valid only when Device reports state produces Per-setting status; Not evaluated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Mark noncompliant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Mark noncompliant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Immediate or delayed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Compliance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Policy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False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per-setting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Timestamp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Mark noncompliant state is valid only when Compliance engine produces Device compliance; False block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 grant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Entra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isCompliant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 grant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Require compliant 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 lockout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report-only first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Grant control detail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CA grant state is valid only when Entra claim produces CA result; CA lockout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Break-glass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Conditional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Grant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Break-glass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Exclude emergency account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Stale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Force sync and reassess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Sign-in correlation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User + device + policy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Break-glass state is valid only when Conditional Access produces Sign-in correlation; Stale signal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Evaluate compliance before access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Not evaluated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assignment and check-in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False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per-setting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 lockout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report-only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Force sync and reassess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Not evaluated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Not evaluated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Compliance engine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Grace period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Check assignment and check-in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Per-setting status shows Failed condition;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False block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False block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Entra claim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Mark noncompliant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Inspect per-setting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Timestamp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compliance shows Timestamp;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 lockout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 lockout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Conditional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 grant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 report-only 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CA result shows Grant control detail;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EVALUATE COMPLIANCE BEFORE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Stale signal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Resource token  |  SUSPECT · Break-glass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Stale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Force sync and reassess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Sign-in correlation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Sign-in correlation shows User + device + policy;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Evaluate compliance before access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Failed condition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Timestamp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control detail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correlation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 + device +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Windows Hello for Business and Windows LAPS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 bootstrap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MFA proof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Key provisioning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TPM-backed credential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Kerberos trust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Local admin rotation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LAPS policy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Audited retrieval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3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Deploy Windows Hello for Business and Windows LAPS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WHfB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Cloud Kerberos trust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PIN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Length and anti-spoofing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LAPS backup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Microsoft Entra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After-use password reset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WHfB trust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Identity bootstrap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WHfB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Cloud Kerberos trust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Provisioning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tenant and device prerequisites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WHfB container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certutil -DeleteHelloContainer for reset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WHfB trust state is valid only when Identity bootstrap produces WHfB container; Provisioning blocked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PIN policy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PIN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Length and anti-spoofing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provisioning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TPM-backed credential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TPM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attestation and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dsregcmd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NgcSet = 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PIN policy state is valid only when Key provisioning produces dsregcmd; TPM unavailable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LAPS backup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Cloud Kerberos trust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LAPS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Microsoft Entra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Password not backed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Inspect LAPS event 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LAPS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Password backup timestamp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LAPS backup state is valid only when Policy delivery produces LAPS status; Password not backed up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Rotation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admin rotation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LAPS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After-use password reset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Overprivileged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Restrict role and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Password retrieval actor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Rotation state is valid only when Local admin rotation produces Audit log; Overprivileged retrieval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Deploy Windows Hello for Business and Windows LAPS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Provisioning blocked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tenant and device prerequisites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TPM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attestation and 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Password not backed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LAPS event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Overprivileged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Restrict role and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Provisioning blocked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Provisioning blocked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Key provisioning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WHfB trust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Check tenant and device prerequisites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WHfB container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WHfB container shows certutil -DeleteHelloContainer for reset;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TPM unavailable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TPM unavailable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Policy delivery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PIN policy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attestation and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NgcSet = 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dsregcmd shows NgcSet = YES;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not backed up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Password not backed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admin rotation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LAPS backup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Inspect LAPS event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LAPS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LAPS status shows Password backup timestamp;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DEPLOY WINDOWS HELLO FOR BUSINESS AND WINDOWS 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Overprivileged retrieval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Recovery access  |  SUSPECT · Rotation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Overprivileged retrieval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Restrict role and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Audit log shows Password retrieval actor;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Deploy Windows Hello for Business and Windows LAPS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WHfB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certutil -DeleteHelloContainer for reset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dsregcmd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NgcSet = 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LAPS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Password backup timestamp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Password retrieval 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enrollment as an evidence chain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 eligibility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License and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eligibility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 and ownership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MDM endpoints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Enrollment task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Managed device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2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enrollment as an evidence chain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Local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MDMDiagReport.html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Admin + Operational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Troubleshooting + support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Required endpoint reachability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report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User eligibility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Local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MDMDiagReport.html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0x80180014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Personal Windows blocked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Error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Exact HRESULT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Local report state is valid only when User eligibility produces Error code; 0x80180014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channel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Event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Admin + Operational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eligibility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Platform and ownership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0x80180018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User not authorized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Correlation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Service-side trace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Event channel state is valid only when Device eligibility produces Correlation ID; 0x80180018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view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MDM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Troubleshooting +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0x801c03f3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 registration problem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First failing stage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Service view state is valid only when Discovery produces Enrollment log; 0x801c03f3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test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Enrollment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Required endpoint reachability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serial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Retire stale record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Remediation retest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New successful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Network test state is valid only when Client execution produces Remediation retest; Duplicate serial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enrollment as an evidence chain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0x80180014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Personal Windows blocked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0x80180018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User not authorized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0x801c03f3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registration problem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serial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Retire stale record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0x80180014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0x80180014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Device eligibility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Local report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Personal Windows blocked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Error code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Error code shows Exact HRESULT;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0x80180018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0x80180018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Discovery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Event channel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User not authorized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Service-side trace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Correlation ID shows Service-side trace;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0x801c03f3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0x801c03f3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 view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Device registration problem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Enrollment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Enrollment log shows First failing stage;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TROUBLESHOOT ENROLLMENT AS AN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Duplicate serial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fleet-deployment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Service record  |  SUSPECT · Network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Duplicate serial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Retire stale record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Remediation retest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Remediation retest shows New successful record;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enrollment as an evidence chain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Error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HRESULT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Correlation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Service-side trace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 failing stage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Remediation retest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successful record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1: Entra device identity, dynamic groups and delegated 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Validated join-state evidence pack, dynamic-group rule, scoped role assignment and audit trace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LO1 · K1 · K4 · A1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labs/lab-01-entra-identity-groups-rbac/evidence/.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2: Multi-platform Intune enrollment and 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Enrollment configuration matrix, MDMDiag evidence, error-code diagnosis and successful retest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LO1 · K1 · K3 · A1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labs/lab-02-intune-enrollment-troubleshooting/evidence/.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Choose the correct Microsoft Entra device identity
• Target policy with dynamic device 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Configure Windows automatic enrollment
• Control multi-platform enrollment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Delegate Intune administration safely
• Evaluate compliance before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Deploy Windows Hello for Business and Windows LAPS
• Troubleshoot enrollment as an evidence chain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DAY 2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Device deployment and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Compliance and access; Autopilot; Windows 365; configuration targeting · 25–30% · LO1 · LO2 · K1 · K2 · A2 · 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and maintain devices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6D3FD2"/>
                </a:solidFill>
                <a:latin typeface="Arial"/>
              </a:rPr>
              <a:t>25–30%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 · LO2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K1 · K2 · A2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66944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77840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Provisioning duration rises with payload breadth; use phase timing to locate delay.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Select Windows Autopilot or device preparation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Corporate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Hardware hash or preparation policy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or user group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OOBE 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discovery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Entra + Intune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Apps and policies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4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Select Windows Autopilot or device preparation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Classic Autopilot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Registered corporate devices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Streamlined cloud-native setup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User-driven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Named-user productivity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Self-deploying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Shared or kiosk scenario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Classic Autopilot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Corporate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Autopilot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Registered corporate devices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Verify assignment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Deployment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Assigned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Classic Autopilot state is valid only when Corporate identity produces Deployment profile; No profile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preparation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Device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Streamlined cloud-native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Profile 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 or user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Hash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Re-import correct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Registered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Device preparation state is valid only when Profile assignment produces Device identity; Hash mismatch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User-driven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OOBE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Cloud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Named-user productivity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Unsupported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TPM and network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Phase timings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User-driven state is valid only when OOBE contact produces Enrollment report; Unsupported mode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Self-deploying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Entra + Intune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Self-deploying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Shared or kiosk 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readiness reporting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Final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Entra joined and managed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Self-deploying state is valid only when Enrollment produces Final state; Policy race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Select Windows Autopilot or device preparation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assignment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Hash 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Re-import correct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TPM and network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readiness reporting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 profile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No profile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Profile assignment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Classic Autopilot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Verify assignment state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Deployment profile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Deployment profile shows Assigned;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 mismatch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Hash mismatch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OOBE contact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Device preparation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Re-import correct 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Registered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identity shows Registered;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Unsupported mode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Unsupported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User-driven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Check TPM and network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Enrollment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Enrollment report shows Phase timings;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SELECT WINDOWS AUTOPILOT OR DEVICE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race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Provisioning  |  SUSPECT · Self-deploying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readiness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Final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Final state shows Entra joined and managed;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Select Windows Autopilot or device preparation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Deployment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Registered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Phase timings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Final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Entra joined and managed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Autopilot with ESP and naming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Tenant identification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Security policies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Account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User-targeted payload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ESP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Blocking selection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Desktop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Provisioning 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4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Autopilot with ESP and naming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Name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Prefix plus serial or random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Block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Until required apps install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Controlled failure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Autopilot deployment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Name template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OOBE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Name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Prefix plus serial or random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Infinite ESP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blocking apps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ESP 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 or account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Name template state is valid only when OOBE produces ESP phase; Infinite ESP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use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Block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Until required apps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Security policies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Invalid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Respect 15-character limit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Blocking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Install status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Block use state is valid only when Device setup produces Blocking app; Invalid name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Timeout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Account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User-targeted payload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Controlled failure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install 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Phase duration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Timeout state is valid only when Account setup produces Enrollment time; App dependency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Tracking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ESP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Blocking selection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Autopilot deployment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 reaches desktop early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Correct ESP targeting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Template resolved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Tracking state is valid only when ESP gate produces Device name; User reaches desktop early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Autopilot with ESP and naming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Infinite ESP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blocking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Invalid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Respect 15-character limit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install order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User reaches desktop early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Correct ESP targeting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Infinite ESP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Infinite ESP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Device setup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Name template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Review blocking apps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ESP phase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ESP phase shows Device or account;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Invalid name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Invalid name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Account setup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Block use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Respect 15-character limit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Install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Blocking app shows Install status;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 dependency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 dependency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ESP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Timeout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 install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Enrollment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Enrollment time shows Phase duration;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CONTROL AUTOPILOT WITH ESP AND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reaches desktop early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Desktop  |  SUSPECT ·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User reaches desktop early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 ESP targeting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name shows Template resolved;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Autopilot with ESP and naming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ESP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or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Blocking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Phase duration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 resolved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Upgrade Windows 11 with deployment rings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Readiness signals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 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Early adopters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 and driver health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Broad rings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Progressive rollout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Rollback 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Recovery control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7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Upgrade Windows 11 with deployment rings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Feature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Target Windows 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Safeguard 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Respect by default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User experience boundary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Uninstall period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policy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Feature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Target Windows 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Compatibility 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safeguard 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Readiness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Capable or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Feature policy state is valid only when Inventory produces Readiness report; Compatibility hold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Safeguard hold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Safeguard 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Respect by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Pilot 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Early adopters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Low disk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readiness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Feature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Target achieved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Safeguard hold state is valid only when Pilot ring produces Feature version; Low disk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Deadline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 and driver health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User experience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Driver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Pause affected cohort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Failure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Deployment error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Deadline state is valid only when Validation produces Failure code; Driver failure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Rollback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Broad 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Progressive rollout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Uninstall 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Productivity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Roll back within window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Ring KPI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Success and rollback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Rollback state is valid only when Broad rings produces Ring KPI; Productivity impact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Upgrade Windows 11 with deployment rings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Compatibility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safeguard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Low disk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readiness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Driver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Pause affected cohort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Productivity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Roll back within window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Compatibility hold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Compatibility hold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Pilot ring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Feature policy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Inspect safeguard 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Readiness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Readiness report shows Capable or blocked;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Low disk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Low disk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Safeguard hold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readiness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Target achieved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Feature version shows Target achieved;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Driver failure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Driver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Broad rings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Deadline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Pause affected cohort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Failure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Failure code shows Deployment error;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UPGRADE WINDOWS 11 WITH DEPLOYMENT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Productivity impact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Rollback window  |  SUSPECT · Rollback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Productivity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Roll back within window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Ring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Ring KPI shows Success and rollback rate;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Upgrade Windows 11 with deployment rings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Readiness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Capable or blocked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Target achieved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Failure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Deployment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Ring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 and rollback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Provision Windows 365 Cloud PCs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PC entitlement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Provisioning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Image + network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scope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Provisioning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PC creation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lifecycle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4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Provision Windows 365 Cloud PCs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Join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Microsoft Entra joined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Microsoft-hosted or ANC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Gallery or custom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Resize/reprovision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Controlled lifecycle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type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License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Join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Microsoft Entra joined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Provisioning 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network and license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Provisioning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Succeeded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Join type state is valid only when License produces Provisioning state; Provisioning failed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Microsoft-hosted or ANC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Provisioning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Image +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Image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Fix generalized image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Connectivity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Healthy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Network state is valid only when Provisioning policy produces Connectivity check; Image validation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Image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Group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User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Gallery or custom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Connectivity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ANC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Cloud PC managed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Image state is valid only when Group assignment produces Intune record; Connectivity issue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Resize/reprovision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Provisioning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Cloud PC creation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Resize/reprovision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Controlled lifecycle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loss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Understand reprovision impact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End-user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Windows 365 connection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Resize/reprovision state is valid only when Provisioning service produces End-user test; Data loss risk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Provision Windows 365 Cloud PCs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Provisioning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network and license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Image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Fix generalized image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Connectivity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ANC health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loss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Understand reprovision impact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Provisioning failed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Provisioning failed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Provisioning 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Join type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Review network and license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Provisioning state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Provisioning state shows Succeeded;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Image validation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Image validation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Group assignment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Network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Fix generalized image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Healthy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Connectivity check shows Healthy;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Connectivity issue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Connectivity issue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Provisioning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Check ANC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Intune record shows Cloud PC managed;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PROVISION WINDOWS 365 CLOUD 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loss risk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Management  |  SUSPECT · Resize/reprovision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Data loss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Understand reprovision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End-user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End-user test shows Windows 365 connection;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Provision Windows 365 Cloud PCs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Provisioning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Connectivity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Healthy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Cloud PC managed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End-user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Windows 365 connection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Translate GPOs into Settings Catalog policy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GPO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XML report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 Policy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Import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CSP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Supported settings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creation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Settings Catalog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Cloud-managed cohort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Translate GPOs into Settings Catalog policy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Migration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Supported · deprecated · unknown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ADMX 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Custom administrative templates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OMA-URI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Only when catalog lacks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Multiple sources disagree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Migration readiness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GPO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Migration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Supported · deprecated · unknown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Unsupported setting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Redesign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Analytics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Migration percentage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Migration readiness state is valid only when GPO export produces Analytics report; Unsupported setting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ADMX import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ADMX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Custom administrative templates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Group Policy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Import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Duplicate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Remove overlapping 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Exact settings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ADMX import state is valid only when Group Policy analytics produces Policy JSON; Duplicate config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OMA-URI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CSP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Supported 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OMA-URI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Only when catalog lacks setting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ADMX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Import parent first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Success/conflict/error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OMA-URI state is valid only when CSP mapping produces Per-setting status; ADMX dependency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Conflict state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Settings Catalog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Conflict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Multiple sources disagree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Trace per-setting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 MDM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Applied CSP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Conflict state state is valid only when Policy creation produces Client MDM report;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Translate GPOs into Settings Catalog policy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Redesign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overlapping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ADMX 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Import parent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Trace per-setting 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Unsupported setting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Unsupported setting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Group Policy analytics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Migration readiness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Redesign control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Analytics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Analytics report shows Migration percentage;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Duplicate config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Duplicate config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CSP mapping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ADMX import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Remove overlapping 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Exact settings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Policy JSON shows Exact settings;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ADMX dependency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ADMX dependency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creation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OMA-URI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Import parent 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Per-setting status shows Success/conflict/error;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TRANSLATE GPOS INTO SETTINGS CATALOG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Assignment  |  SUSPECT · Conflict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 per-setting 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Client MDM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Client MDM report shows Applied CSP;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Translate GPOs into Settings Catalog policy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Analytics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Migration percentage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Success/conflict/error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Client MDM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CSP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or device group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properties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Include/exclude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Assignment logic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Enrollment-time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Immediate classification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Resolved applicability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Filter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Include or exclude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manufacturer · model ·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At assignment check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Enrollment category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Provisioning-time cohort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mode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Base assignment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Filter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Include or exclude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Unsupported 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filter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Filter preview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Expected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Filter mode state is valid only when Base assignment produces Filter preview; Unsupported property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Property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manufacturer · model · ownership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 properties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 sample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Assignment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Filter applied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Property state is valid only when Filter query produces Assignment status; Wrong operator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Include/exclude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Assignment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At assignment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 assignment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Know device filter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property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Exact 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Evaluation state is valid only when Include/exclude produces Device property; User assignment mismatch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Enrollment category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Enrollment-time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Immediate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Provisioning-time cohort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enrollment-time grouping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Correct cohort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Enrollment category state is valid only when Enrollment-time group produces Policy result; Race condition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filter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sample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User assignment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Know device filter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enrollment-time grouping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Unsupported property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Unsupported property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Filter mode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Use filter schema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Filter preview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Filter preview shows Expected match;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operator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Wrong operator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Include/exclude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Property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Test sample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Filter applied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Assignment status shows Filter applied;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assignment mismatch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User assignment mismatch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Enrollment-time group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Know device filter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Device property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property shows Exact value;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TARGET PROFILES WITH FILTERS AND ENROLLMENT-TIME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Race condition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Policy delivery  |  SUSPECT · Enrollment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enrollment-time grouping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Policy result shows Correct cohort only;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Filter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Assignment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applied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cohort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Privilege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asks elevation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EPM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Elevation telemetry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Support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Remote Help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Certificate/network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PKI or Tunnel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EPM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File hash · publisher ·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Remote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RBAC and session consent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PKI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Issuing CA + SCEP 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Tunnel for MAM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Per-app protected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EPM rule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Privilege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EPM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File hash · publisher ·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Elevation denied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Rule 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Elevation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File + user + rule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EPM rule state is valid only when Privilege request produces Elevation report; Elevation denied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 Help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Remote 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RBAC and session consent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EPM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Rule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Remote Help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License or RBAC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Session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Helper and sharer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Remote Help state is valid only when EPM policy produces Session audit; Remote Help unavailable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PKI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Elevation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PKI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Issuing CA + SCEP 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Certificate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Chain or connector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Certificate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Issued identity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Cloud PKI state is valid only when Audit signal produces Certificate profile; Certificate failure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Tunnel for MAM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Remote Help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Tunnel for MAM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Per-app protected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Tunnel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Gateway health and routing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Tunnel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Connection and gateway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Tunnel for MAM state is valid only when Support channel produces Tunnel report; Tunnel offline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Elevation 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Rule mismatch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Remote Help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License or RBAC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Certificate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Chain or connector health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Tunnel offline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Gateway health and routing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Elevation denied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Elevation denied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EPM 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EPM rule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Rule mismatch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Elevation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Elevation report shows File + user + rule;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 Help unavailable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Remote Help unavailable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Audit signal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Remote Help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License or RBAC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Helper and sharer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Session audit shows Helper and sharer;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failure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Certificate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PKI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Chain or connector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Certificate 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Certificate profile shows Issued identity;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APPLY INTUNE SUITE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Tunnel offline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Certificate/network  |  SUSPECT · Tunnel for MAM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Tunnel offline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Gateway health and 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Tunnel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Tunnel report shows Connection and gateway;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Elevation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+ user +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Session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Helper and sharer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Certificate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Issued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Tunnel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 and gateway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Perform remote actions and live device query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Operator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RBAC authorization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Intune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Command queue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Push or check-in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Action result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Audit/report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Outcome recorded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Perform remote actions and live device query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company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Reset device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Fresh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Reinstall Windows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KQL against live device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Retire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Operator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Remove company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Action 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 offline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Action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Pending/succeeded/failed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Retire state is valid only when Operator action produces Action status; Action pending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Wipe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Reset 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Intune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Command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destructive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Confirm ownership and intent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Who initiated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Wipe state is valid only when Intune service produces Audit actor; Wrong destructive action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Fresh Start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Push or check-in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Fresh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Reinstall Windows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Query unavailable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supported platform/license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Query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Named columns and timestamp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Fresh Start state is valid only when Device channel produces Query result; Query unavailable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query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Action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KQL against live device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BitLocker rotation fail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Verify escrow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Diagnostics bundle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Collected 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Device query state is valid only when Client execution produces Diagnostics bundle; BitLocker rotation fail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Perform remote actions and live device query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Action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offline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destructive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Confirm ownership and intent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Query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supported platform/license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BitLocker rotation 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escrow 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Action pending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Action pending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Intune service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Device offline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Action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Action status shows Pending/succeeded/failed;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destructive action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Wrong destructive action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Device channel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Wipe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Confirm ownership and intent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Who initiated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Audit actor shows Who initiated;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unavailable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Query unavailable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Fresh Start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Check supported platform/license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Query 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Query result shows Named columns and timestamp;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PERFORM REMOTE ACTIONS AND LIVE DEVICE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BitLocker rotation fail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Audit/report  |  SUSPECT · Device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BitLocker rotation fail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escrow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Diagnostics bundle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Diagnostics bundle shows Collected logs;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Perform remote actions and live device query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Pending/succeeded/failed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initiated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Query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columns and timestamp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Diagnostics bundle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Collected logs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Diagnose policy conflicts from device evidence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Multiple profiles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CSP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Local MDM client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Per-setting merge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Winner or conflict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 aggregation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Remediation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Remove overlap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Diagnose policy conflicts from device evidence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Client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MDMDiagReport.html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Registry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PolicyManager current values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Enterprise-Diagnostics-Provider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Client report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Assignment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Client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MDMDiagReport.html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Two profiles set different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Setting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Exact CSP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Client report state is valid only when Assignment produces Setting name;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view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Policy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Per-setting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CSP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Local MDM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 applicable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Platform/edition mismatch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Source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Both assignments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Policy view state is valid only when CSP processing produces Source profiles; Not applicable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Registry path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Per-setting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Winner or conflict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Registry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PolicyManager current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CSP rejected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 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Error 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Registry path state is valid only when Per-setting merge produces Client event; Error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log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Service aggregation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Enterprise-Diagnostics-Provider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No recent device check-in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Success after consolidation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Event log state is valid only when Reporting produces Retest; Pending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Diagnose policy conflicts from device evidence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Two profiles set different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Not applicable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Platform/edition 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CSP rejected 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 recent device check-in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CSP processing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Client report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Two profiles set different values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Setting name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Setting name shows Exact CSP;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Not applicable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Not applicable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Per-setting merge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Policy view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Platform/edition mismatch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Both assignments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Source profiles shows Both assignments;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Error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Registry path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CSP rejected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Client event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Client event shows Error code;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DIAGNOSE POLICY CONFLICTS FROM DEVICE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Pending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Remediation  |  SUSPECT · Event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recent device check-in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Retest shows Success after consolidation;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Diagnose policy conflicts from device evidence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Setting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CSP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assignments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Client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Error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 after consolidation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3: Compliance, Conditional Access, Windows Hello and LAPS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Compliance/CA decision trace, WHfB state and auditable LAPS recovery/rotation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LO2 · K3 · K4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labs/lab-03-compliance-ca-whfb-laps/evidence/.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4: Autopilot, device preparation and Windows 365 provisioning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Deployment decision, profile/ESP design, readiness evidence and Cloud PC provisioning check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LO1 · LO4 · K1 · K5 · A2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labs/lab-04-autopilot-device-prep-windows365/evidence/.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5: Settings Catalog, ADMX migration and assignment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Migrated settings policy, filter preview, conflict diagnosis and corrected per-setting result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LO2 · K2 · K4 · A2 ·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labs/lab-05-configuration-admx-filters/evidence/.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2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Select Windows Autopilot or device preparation
• Control Autopilot with ESP and naming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Upgrade Windows 11 with deployment rings
• Provision Windows 365 Cloud PCs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Translate GPOs into Settings Catalog policy
• Target profiles with filters and enrollment-time grouping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Apply Intune Suite controls
• Perform remote actions and live device query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DAY 3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Endpoint protection and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Defender; BitLocker; firewall; ASR; baselines; update operations · 15–20% · LO2 · LO3 · K3 · K4 · A4 · A5 ·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 devices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08A73"/>
                </a:solidFill>
                <a:latin typeface="Arial"/>
              </a:rPr>
              <a:t>15–20%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 · LO3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K3 · K4 · A4 · A5 · 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66944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77840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 single weak control can dominate endpoint risk; investigate the lowest control.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Defender Antivirus policy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Intune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Antivirus settings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CSP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Defender configuration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Real-time protection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Block-at-first-sight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Protection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Defender Antivirus policy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Sample 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Safe samples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PUA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Tamper 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 through security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protection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Intune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Cloud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Enabled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Setting 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Tamper protection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Get-MpComputerStatus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Engine + signature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Cloud protection state is valid only when Intune policy produces Get-MpComputerStatus; Setting locked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Sample submission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Sample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Safe samples automatically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CSP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Defender configuration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Signature stale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Trigger intelligence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settings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Sample submission state is valid only when CSP delivery produces Policy report; Signature stale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PUA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Real-time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Security policy vs 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Detection evidence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PUA state is valid only when Engine produces Device timeline; Policy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Tamper protection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Block-at-first-sight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Tamper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On through security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Sensor unhealthy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Collect Defender diagnostics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Current 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Tamper protection state is valid only when Cloud service produces Security intelligence; Sensor unhealthy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Defender Antivirus policy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Setting 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Tamper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Signature stale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Trigger intelligence 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Security policy vs 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Sensor unhealthy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Collect Defender diagnostics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locked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Setting locked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CSP delivery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Cloud protection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Tamper protection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Get-MpComputerStatus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Get-MpComputerStatus shows Engine + signature;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Signature stale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Signature stale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Engine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Sample submission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Trigger intelligence update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Applied settings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Policy report shows Applied settings;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Security policy vs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timeline shows Detection evidence;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CONFIGURE DEFENDER ANTIVIRUS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Sensor unhealthy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Telemetry  |  SUSPECT · Tamper protection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Sensor unhealthy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Collect Defender diagnostics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Security intelligence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Security intelligence shows Current version;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Defender Antivirus policy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Get-MpComputerStatus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Engine + signature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Detection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version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BitLocker encryption and recovery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Encryption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Algorithm and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TPM protector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Key material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Volume encryption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Background 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Key escrow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Entra recovery object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Invalidate exposed key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BitLocker encryption and recovery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Silent enablement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Standard user allowed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Recovery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Before encryption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XTS-AES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After key 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Silent enablement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Encryption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Silent enablement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Standard user allowed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device join and permissions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manage-bde -status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Protection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Silent enablement state is valid only when Encryption policy produces manage-bde -status; No escrow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Recovery escrow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259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Recovery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Before encryption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TPM protector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Key material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TPM not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tpm.msc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Recovery 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Key ID match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Recovery escrow state is valid only when TPM protector produces Recovery object; TPM not ready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Algorithm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Volume encryption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Background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XTS-AES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Encryption suspended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Resume protectors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Encryption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Compliant volume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Algorithm state is valid only when Volume encryption produces Encryption report; Encryption suspended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Rotation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Key escrow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Entra recovery object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After key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Recovery key exposed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Rotate from Intune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Rotation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New key timestamp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Rotation state is valid only when Key escrow produces Rotation audit; Recovery key exposed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BitLocker encryption and recovery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escrow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device join and permissions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TPM not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tpm.msc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Encryption suspended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Resume protectors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Recovery key exposed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Rotate from Intune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 escrow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263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No escrow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TPM protector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Silent enablement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Check device join and permissions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manage-bde -status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manage-bde -status shows Protection state;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TPM not ready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264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TPM not ready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Volume encryption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Recovery escrow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Inspect tpm.msc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Key ID match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Recovery object shows Key ID match;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Encryption suspended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Encryption suspended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Key escrow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Algorithm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Resume protectors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Encryption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Encryption report shows Compliant volume;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MANAGE BITLOCKER ENCRYPTION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Recovery key exposed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Rotation  |  SUSPECT · Rotation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Recovery key exposed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Rotate from Intune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Rotation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Rotation audit shows New key timestamp;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BitLocker encryption and recovery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manage-bde -status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Protection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Recovery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 ID match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Encryption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Compliant volume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Rotation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key timestamp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Windows Firewall policy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Domain/private/public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Local + MDM rules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Filtering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Inbound/outbound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Dropped and allowed traffic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Firewall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Windows Firewall policy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Default inbound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Program · port ·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Local 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Disable where required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Log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pfirewall.log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 inbound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Profile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Default inbound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active network category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Get-NetFirewallProfile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Enabled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Default inbound state is valid only when Profile detection produces Get-NetFirewallProfile; Wrong profile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Rule scope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271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Rule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Program · port ·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Local + MDM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Overbroad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Constrain program and remote 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Get-NetFirewallRule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Policy source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Rule scope state is valid only when Policy merge produces Get-NetFirewallRule; Overbroad rule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merge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Filtering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Inbound/outbound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Disable where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 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Review policy stores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Firewall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Dropped packet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Local merge state is valid only when Filtering platform produces Firewall log; Rule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 path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Dropped and allowed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pfirewall.log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Enable successful/dropped logging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Intune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Profile applied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Log path state is valid only when Logging produces Intune report; No log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Enforce Windows Firewall policy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active network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Overbroad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Constrain program and remote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policy stores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Enable successful/dropped logging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profile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275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Wrong profile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Policy merge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Default inbound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Inspect active network category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Get-NetFirewallProfile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Get-NetFirewallProfile shows Enabled state;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Overbroad rule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276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Overbroad rule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Filtering platform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Rule scope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Constrain program and remote address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Policy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Get-NetFirewallRule shows Policy source;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Rule 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Rule conflict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merge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policy stores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Firewall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Firewall log shows Dropped packet;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ENFORCE WINDOWS FIREWALL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 log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Report  |  SUSPECT · Log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Enable successful/dropped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Intune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Intune report shows Profile applied;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Enforce Windows Firewall policy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Get-NetFirewallProfile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Enabled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Get-NetFirewallRule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Firewall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Dropped packet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Profile applied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Reduce attack surface with ASR and Zero Trust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Process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Command or content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ASR rule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 ID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Audit · warn · block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Defender telemetry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Event recorded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Tune exclusions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Reduce attack surface with ASR and Zero Trust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Phased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Audit then warn then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Stable GUID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Narrow and justified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Zero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explicitly and limit impact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Phased rollout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Process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Phased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Audit then warn then 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 app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event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Event 1121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Blocked 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Phased rollout state is valid only when Process behavior produces Event 1121; Business app blocked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Rule ID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283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Rule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Stable GUID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ASR rule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Rule ID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Global exclusion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Replace with per-rule exclusion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Advanced hunting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DeviceEvents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Rule ID state is valid only when ASR rule engine produces Advanced hunting; Global exclusion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Exclusion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Audit · warn ·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Narrow and justified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Verify cloud protection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ASR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Rule and device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Exclusion state is valid only when Mode produces ASR report; No telemetry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Zero Trust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Defender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Event recorded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Zero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Verify explicitly and limit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 not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edition and policy precedence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Exception register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Owner + expiry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Zero Trust state is valid only when Defender telemetry produces Exception register; Rule not active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Reduce attack surface with ASR and Zero Trust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Business app blocked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event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Global exclusion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Replace with per-rule exclusion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cloud protection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not 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edition and policy precedence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Business app blocked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287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Business app blocked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ASR rule engine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Phased rollout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Use event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Event 1121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Event 1121 shows Blocked action;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Global exclusion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288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Global exclusion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Mode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Rule ID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Replace with per-rule exclusion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DeviceEvents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Advanced hunting shows DeviceEvents;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 telemetry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Defender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Exclusion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Verify cloud protection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ASR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ASR report shows Rule and device;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REDUCE ATTACK SURFACE WITH ASR AND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Rule not active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Operations  |  SUSPECT · Zero Trust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Rule not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edition and policy precedence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Exception register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Exception register shows Owner + expiry;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Reduce attack surface with ASR and Zero Trust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1121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Blocked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Advanced hunting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ASR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Rule and device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Exception 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+ expiry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8A73"/>
                </a:solidFill>
                <a:latin typeface="Arial"/>
              </a:rP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Apply security baselines without configuration drift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Recommended settings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instance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Versioned configuration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Pilot cohort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Per-setting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Update workflow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Review new template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Apply security baselines without configuration drift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Baseline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Immutable template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Representative devices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Exception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Documented deviation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Create new profile then retire 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Baseline version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Baseline template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Baseline 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Immutable template snapshot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Same setting in another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Success/conflict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Baseline version state is valid only when Baseline template produces Per-setting status;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Pilot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296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Representative 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Profile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Versioned configuration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Template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automatic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Baseline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Recorded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Pilot state is valid only when Profile instance produces Baseline version; Template update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Exception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Pilot cohort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Documented deviation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Legacy setting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Unsupported on current 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Pilot acceptance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Security + productivity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Exception state is valid only when Assignment produces Pilot acceptance; Legacy setting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Migration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Per-setting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Create new profile then retire 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Overhardening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business workload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Exception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Approved control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Migration state is valid only when Per-setting report produces Exception evidence; Overhardening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Apply security baselines without configuration drift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Same setting in another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Template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Not automatic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Legacy setting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Unsupported on current 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Overhardening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business workload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300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Profile instance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Baseline version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Same setting in another profile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Per-setting status shows Success/conflict;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Template update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301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Template update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Assignment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Pilot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Not automatic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Recorded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Baseline version shows Recorded;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Legacy setting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Legacy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Per-setting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Exception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Unsupported on current 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Pilot acceptance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Pilot acceptance shows Security + productivity;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APPLY SECURITY BASELINES WITHOUT CONFIGURATION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Overhardening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Update workflow  |  SUSPECT · Migration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Overhardening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 business workload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Exception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Exception evidence shows Approved control;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Apply security baselines without configuration drift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Success/conflict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Baseline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Pilot acceptance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+ productivity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Exception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Intune with Defender for Endpoint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Tenant trust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Onboarding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Sensor activation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Defender device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Risk threshold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Conditional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Resource gate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Intune with Defender for Endpoint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Connector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EDR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Onboard blob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Risk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Clear · low · medium · high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Compliance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below threshold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Connector status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Connector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Connector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not onboarded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Sense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MDE device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Sensor health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Connector status state is valid only when Connector produces MDE device page; Device not onboarded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EDR policy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308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EDR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Onboard blob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Onboarding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Sensor activation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Duplicate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Resolve device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Intune connector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Last sync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EDR policy state is valid only when Onboarding policy produces Intune connector; Duplicate record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level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Defender device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Clear · low · medium ·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not flowing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connector 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Compliance 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Machine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Risk level state is valid only when Risk signal produces Compliance detail; Risk not flowing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rule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Risk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Compliance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Require below 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unexpectedly blocked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Inspect CA and risk timeline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Sign-in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Risk-based block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Compliance rule state is valid only when Compliance produces Sign-in result; Access unexpectedly blocked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Intune with Defender for Endpoint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not onboarded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Sense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Resolve device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Risk not flowing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connector 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unexpectedly blocked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CA and risk timeline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not onboarded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312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Device not onboarded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Onboarding 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Connector status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Check Sense service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MDE device 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MDE device page shows Sensor health;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Duplicate record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313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Duplicate record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Risk signal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EDR policy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Resolve device 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Last sync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Intune connector shows Last sync;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not flowing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Risk not flowing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level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Check connector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Compliance detail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Compliance detail shows Machine risk;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INTEGRATE INTUNE WITH DEFENDER FOR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unexpectedly blocked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Conditional Access  |  SUSPECT · Compliance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Access unexpectedly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CA and risk timeline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Sign-in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Sign-in result shows Risk-based block;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Integrate Intune with Defender for Endpoint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MDE device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Sensor 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connector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Last 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Compliance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Machine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Risk-based block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8A73"/>
                </a:solidFill>
                <a:latin typeface="Arial"/>
              </a:rP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application execution with App Control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Allow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Signature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Execution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File identity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Allow/audit/block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CodeIntegrity 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application execution with App Control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Trusted estate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Supplemental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Scoped extension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Audit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Inventory before enforcement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installer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Trust tagged deployment 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 policy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Policy creation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Trusted estate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Unsigned business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Create publisher/file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CodeIntegrity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File and signer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Base policy state is valid only when Policy creation produces CodeIntegrity event; Unsigned business app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Supplemental policy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321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Supplemental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Scoped extension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Code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Signature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brick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Stage in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CIPolicy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Supplemental policy state is valid only when Code integrity produces Policy ID; Policy brick risk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mode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File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Inventory before enforcement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 too broad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Avoid path trust where writable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Required exceptions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Audit mode state is valid only when Execution request produces Audit inventory; Rule too broad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Managed installer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Allow/audit/block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Managed installer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Trust tagged deployment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Rollback unavailable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Maintain recovery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Block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Unauthorized binary denied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Managed installer state is valid only when Decision produces Block test; Rollback unavailable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Control application execution with App Control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Unsigned business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Create publisher/file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brick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Stage in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too broad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Avoid path trust where writable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Rollback unavailable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Maintain recovery 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Unsigned business app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325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Unsigned business app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Code integrity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Base policy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Create publisher/file rule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CodeIntegrity 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CodeIntegrity event shows File and signer;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brick risk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326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Policy brick risk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Execution request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Supplemental policy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Stage in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Applied CIPolicy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Policy ID shows Applied CIPolicy;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Rule too broad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Rule too broad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mode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Avoid path trust where writable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Audit inventory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Audit inventory shows Required exceptions;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CONTROL APPLICATION EXECUTION WITH APP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Rollback unavailable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Telemetry  |  SUSPECT · Managed installer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Rollback unavailable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Maintain recovery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Block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Block test shows Unauthorized binary denied;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Control application execution with App Control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CodeIntegrity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and signer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CIPolicy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exceptions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Block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Unauthorized binary denied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update rings, Autopatch and Hotpatch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Quality/feature update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Deployment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Target ring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Client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Applicability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Install/restart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Deadline behavior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Update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7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update rings, Autopatch and Hotpatch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Deferral + deadline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Feature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Pinned version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Autopatch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Service-managed rings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Hotpatch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Eligible baseline + quarterly refresh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Ring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Release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Deferral + deadline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Offer not received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safeguards and 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Update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Offer/install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Ring state is valid only when Release service produces Update report; Offer not received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policy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333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Feature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Pinned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Deployment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Target 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Restart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Tune active hours/deadlines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Client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WindowsUpdate.log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Feature policy state is valid only when Deployment service produces Client log; Restart disruption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Autopatch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Applicability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Service-managed rings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Conflicting policies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Consolidate update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Autopatch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Release phase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Autopatch state is valid only when Client scan produces Autopatch status; Conflicting policies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Hotpatch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Install/restart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Deadline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Hotpatch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Eligible baseline + quarterly refresh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Hotpatch ineligible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edition and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Compliance by deadline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Hotpatch state is valid only when Install/restart produces KPI; Hotpatch ineligible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update rings, Autopatch and Hotpatch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Offer not 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safeguards and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Restart disruption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Tune active hours/deadlines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Conflicting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Consolidate update 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Hotpatch ineligible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edition and baseline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Offer not received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337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Offer not received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Deployment service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Check safeguards and policy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Update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Update report shows Offer/install state;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Restart disruption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338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Restart disruption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Client scan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Feature policy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Tune active hours/deadlines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WindowsUpdate.log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Client log shows WindowsUpdate.log;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Conflicting policies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Conflicting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Install/restart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Autopatch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Consolidate update 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Autopatch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Autopatch status shows Release phase;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OPERATE UPDATE RINGS, AUTOPATCH AND HOTPATCH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Hotpatch ineligible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threat-protection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Reporting  |  SUSPECT · Hotpatch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Hotpatch ineligible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Validate edition and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KPI shows Compliance by deadline;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update rings, Autopatch and Hotpatch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Update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Offer/install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Client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WindowsUpdate.log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Autopatch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Release phase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Compliance by deadline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HANDS-ON · 120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6: Endpoint security, Defender, BitLocker, firewall and ASR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Security control set with Defender/BitLocker/firewall/ASR verification and exception record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LO2 · LO3 · K3 · K4 · A4 · A5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labs/lab-06-endpoint-security-defender/evidence/.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7: Update rings, feature updates, Autopatch, Hotpatch and Delivery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Staged update design, eligibility checks, rollout metrics and rollback decision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LO1 · LO2 · K1 · K2 · A2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labs/lab-07-updates-autopatch-hotpatch/evidence/.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3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Configure Defender Antivirus policy
• Manage BitLocker encryption and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Enforce Windows Firewall policy
• Reduce attack surface with ASR and Zero Trust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Apply security baselines without configuration drift
• Integrate Intune with Defender for Endpoint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Control application execution with App Control
• Operate update rings, Autopatch and Hotpatch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8A73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77600"/>
                </a:solidFill>
                <a:latin typeface="Arial"/>
              </a:rPr>
              <a:t>DAY 4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Application lifecycle and data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Win32 and Microsoft 365 Apps; MAM; app configuration; troubleshooting · 15–20% · LO2 · LO3 · K2 · K3 · A2 · 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and secure applications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C77600"/>
                </a:solidFill>
                <a:latin typeface="Arial"/>
              </a:rPr>
              <a:t>15–20%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 · LO3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K2 · K3 · A2 · 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66944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77840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Separate true failures from not-applicable devices before changing an application.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Package and deploy Win32 applications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Install payload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 prep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.intunewin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upload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Encrypted package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IME download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cache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Exit code + detection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Package and deploy Win32 applications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Install 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Silent and idempotent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MSI · file · registry · 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Architecture and 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Return codes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Success · retry · reboot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 command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Source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Install command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Silent and idempotent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0x87D30067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Detection failed after install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IntuneManagementExtension.log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Install command state is valid only when Source files produces IME log; 0x87D30067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352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MSI · file · registry · 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Content prep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.intunewin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0x80070002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File or path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Detection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Installed state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Detection state is valid only when Content prep tool produces Detection output; 0x80070002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Encrypted package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Architecture and 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Installer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System vs user mismatch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 install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Requirements state is valid only when Service upload produces App report; Installer context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Return codes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IME 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Return codes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Success · retry · reboot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Reboot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Map return codes correctly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Mapped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Return codes state is valid only when IME download produces Exit code; Reboot loop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Package and deploy Win32 applications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0x87D30067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Detection failed after install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0x80070002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File or path missing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Installer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System vs user mismatch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Reboot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Map return codes correctly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0x87D30067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356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0x87D30067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Content prep tool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Install command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Detection failed after install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IME log shows IntuneManagementExtension.log;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0x80070002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357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0x80070002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Service upload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Detection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File or path missing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Installed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Detection output shows Installed state;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Installer context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Installer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IME download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System vs user 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 report shows Device install status;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PACKAGE AND DEPLOY WIN32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Reboot loop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Installer  |  SUSPECT · Return codes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Reboot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 return codes correctly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Exit code shows Mapped result;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Package and deploy Win32 applications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IntuneManagementExtension.log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Installed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install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Mapped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Sequence apps with dependencies and supersedence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Required/available/uninstall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Prerequisites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Topological sequence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Supersedence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Update or replace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Final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Sequence apps with dependencies and supersedence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Auto-install prerequisite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Supersedence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Update or uninstall previous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Gate by device state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Company Portal intent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Dependency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Assignment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Auto-install prerequisite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Remove circular dependency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Expected sequence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Dependency state is valid only when Assignment produces Dependency graph; Cycle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Supersedence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364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Supersedence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Update or uninstall previous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Prerequisites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uninstall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 supersedence 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Install orchestration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Supersedence state is valid only when Dependency graph produces IME log; Wrong uninstall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Topological 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Gate by device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Detection 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version-aware rule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New build detected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Requirement state is valid only when Install order produces App version; Detection overlap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Availability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Supersedence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Update or replace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Company Portal intent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Assignment 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Resolve required vs uninstall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No stale required failure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Availability state is valid only when Supersedence produces Report; Assignment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Sequence apps with dependencies and supersedence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circular dependency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uninstall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supersedence option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 overlap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version-aware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Assignment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Resolve required vs uninstall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Cycle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368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Remove circular dependency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Dependency graph shows Expected sequence;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uninstall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369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Wrong uninstall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Install order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Supersedence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Test supersedence option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Install orchestration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IME log shows Install orchestration;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overlap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Detection overlap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Supersedence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 version-aware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 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 version shows New build detected;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SEQUENCE APPS WITH DEPENDENCIES AND SUPERSEDENCE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Assignment 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Detection  |  SUSPECT ·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Assignment conflict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Resolve required vs uninstall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Report shows No stale required failure;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Sequence apps with dependencies and supersedence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sequence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build detected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stale required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Apps and channel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Office CDN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Click-to-Run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Streaming install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policy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Version and channel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Update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Current Enterprise or selected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64-bit by default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ODT XML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Product · language · updates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priority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Cloud policy vs local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channel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Update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Current Enterprise or selected 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Channel 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CDNBaseUrl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OfficeC2RClient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Version/channel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Update channel state is valid only when Configuration produces OfficeC2RClient; Channel mismatch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Architecture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376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64-bit by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Content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Office CDN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Office apps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Handle update deadline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Intune app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Installed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Architecture state is valid only when Content source produces Intune app status; Office apps open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ODT XML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Click-to-Run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Streaming install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ODT 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Product · language ·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Delivery Optimization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Apps admin center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Inventory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ODT XML state is valid only when Click-to-Run produces Apps admin center; Network optimization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priority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Cloud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Cloud policy vs local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Inspect cloud policy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Applied Office settings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Policy priority state is valid only when Policy service produces Policy report; Policy conflict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Channel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CDNBaseUrl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Office apps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Handle update deadline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Delivery Optimization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cloud policy 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Channel mismatch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380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Channel mismatch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Content source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Update channel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Review CDNBaseUrl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OfficeC2RClient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OfficeC2RClient shows Version/channel;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Office apps open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381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Office apps open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Click-to-Run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Handle update deadline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Installed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Intune app status shows Installed;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optimization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Network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ODT XML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 Delivery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Apps admin center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Apps admin center shows Inventory;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DEPLOY MICROSOFT 365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conflict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Inventory  |  SUSPECT · Policy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cloud policy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Policy report shows Applied Office settings;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OfficeC2RClient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Version/channel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app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Apps admin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Inventory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Office settings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Apple and Managed Google Play stores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 tenant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ABM or Managed Google Play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Token/sync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User/device/license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Managed install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 service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Install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Apple and Managed Google Play stores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Apple VPP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Location-specific and renewable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Google 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Enterprise bind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Managed store 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Licensing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or user where supported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Apple VPP token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Store tenant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Apple VPP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Location-specific and renewable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Token expired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Renew with same account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Connector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Last successful 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Apple VPP token state is valid only when Store tenant link produces Connector health; Token expired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Managed Google Play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388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Managed Google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Enterprise bind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acquisition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Token/sync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not synced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Force connector sync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Current metadata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Managed Google Play state is valid only when App acquisition produces App record; App not synced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 type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User/device/license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Managed store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License exhausted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Acquire more licenses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License 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Assigned/available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App type state is valid only when Assignment produces License count; License exhausted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Licensing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Managed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Platform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Licensing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 or user where supported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Wrong storefront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Verify tenant binding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Managed install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Licensing state is valid only when Managed install produces Device report; Wrong storefront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Integrate Apple and Managed Google Play stores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Token expired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Renew with same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not synced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Force connector 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License exhausted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Acquire more licenses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storefront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tenant binding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 expired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392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Token expired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App acquisition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Apple VPP token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Renew with same account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Connector health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Connector health shows Last successful sync;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 not synced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393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App not synced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Assignment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Managed Google Play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Force connector sync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Current metadata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 record shows Current metadata;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License exhausted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License exhausted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Managed install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type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Acquire more licenses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License 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License count shows Assigned/available;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INTEGRATE APPLE AND MANAGED GOOGLE PLAY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storefront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Inventory  |  SUSPECT · Licensing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storefront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tenant binding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report shows Managed install;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Integrate Apple and Managed Google Play stores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Connector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Last successful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metadata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License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Assigned/available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 install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 corporate data with MAM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signs 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SDK/wrapper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Policy acquisition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Work identity context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Save/copy/open-in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Selective wipe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Corporate data removed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 corporate data with MAM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Policy-managed apps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Encryption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Organizational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requirement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PIN + threat condition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Wipe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User or device scoped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transfer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App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Data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Policy-managed apps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not protected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Unsupported app or wrong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protection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User + app + device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Data transfer state is valid only when App launch produces App protection status; App not protected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Encryption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401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Organizational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SDK/wrapper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Policy acquisition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not applied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user assignment and license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diagnostics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settings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Encryption state is valid only when SDK/wrapper produces Policy diagnostics; Policy not applied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requirement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Work identity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PIN + threat condition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Copy blocked unexpectedly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Review exempt apps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Selective wipe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Completed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Access requirement state is valid only when Data boundary produces Selective wipe report; Copy blocked unexpectedly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Wipe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Save/copy/open-in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User or device scoped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Wipe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 must check 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Require app protection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Wipe state is valid only when Action evaluation produces CA result; Wipe pending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Protect corporate data with MAM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not 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Unsupported app or wrong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not applied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user assignment and license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Copy blocked unexpectedly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exempt apps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Wipe 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App must check 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 not protected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405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 not protected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SDK/wrapper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Data transfer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Unsupported app or wrong identity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 protection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 protection status shows User + app + device;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not applied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406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Policy not applied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Data boundary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Encryption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user assignment and license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Applied settings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Policy diagnostics shows Applied settings;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Copy blocked unexpectedly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Copy blocked unexpectedly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requirement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 exempt apps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Selective wipe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Selective wipe report shows Completed;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PROTECT CORPORATE DATA WITH 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Wipe pending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Selective wipe  |  SUSPECT · Wipe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Wipe 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must check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CA result shows Require app protection;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Protect corporate data with MAM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protection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 + app + 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Selective wipe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 app protection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Combine app protection with Conditional Access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+ app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Platform/client/risk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Grant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 approved app or APP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Data controls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Protected session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Combine app protection with Conditional Access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app protection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Client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Mobile apps and desktop clients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Report-only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before enforce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Emergency access accounts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Grant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Sign-in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 app protection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Unsupported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Block or constrain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 policy 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Grant state is valid only when Sign-in produces Sign-in log; Unsupported client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Client apps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413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Client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Mobile apps and desktop 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Platform/client/risk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 grants access without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Policy delivered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Client apps state is valid only when CA conditions produces APP report; Policy gap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Report-only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Grant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Require approved app or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before enforce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report-only and exclusions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 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Client/app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Report-only state is valid only when Grant control produces Token claim; Lockout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Exclusion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Data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Emergency access accounts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Legacy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Block separately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Test 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Managed/unmanaged × platform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Exclusion state is valid only when App policy produces Test matrix; Legacy auth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Combine app protection with Conditional Access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 or constrain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CA grants access without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Lockout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report-only and exclusions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Legacy 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 separately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Unsupported client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417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Unsupported client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CA conditions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Grant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Block or constrain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Sign-in log shows CA policy result;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Policy gap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418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Policy gap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Grant control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Client apps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CA grants access without 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Policy delivered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 report shows Policy delivered;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Lockout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Lockout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Report-only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 report-only and exclusions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Token claim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Token claim shows Client/app context;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COMBINE APP PROTECTION WITH CONDITIONAL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Legacy auth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Token  |  SUSPECT · Exclusion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Legacy 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Block separately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Test matrix shows Managed/unmanaged × platform;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Combine app protection with Conditional Access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 policy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delivered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Client/app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Managed/unmanaged ×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key-value payload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or device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Delivery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MDM or MAM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reads keys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Runtime behavior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Configuration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Configuration through MDM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Configuration through APP channel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String · boolean · integer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Vendor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Exact supported keys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Managed device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Configuration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Managed 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Configuration through MDM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ignored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Wrong name or 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 payload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Exact keys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Managed device state is valid only when Configuration source produces Policy payload; Key ignored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Managed app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426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Managed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Configuration through APP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User or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Managed app vs managed 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 diagnostics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Received configuration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Managed app state is valid only when Assignment produces App diagnostics; Wrong channel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type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MDM or MAM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String · boolean · integer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Conflicting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Consolidate policies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Data type state is valid only when Delivery channel produces Device report; Conflicting values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Vendor schema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reads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Runtime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Vendor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Exact supported keys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Verify app supports reporting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Behavior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Expected tenant/account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Vendor schema state is valid only when App reads keys produces Behavior test; No report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Key ignored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Wrong name or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Managed app vs managed device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Conflicting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Consolidate policies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app supports reporting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ignored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430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Key ignored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Managed device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Wrong name or type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Policy payload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Policy payload shows Exact keys;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channel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431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Wrong channel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Delivery channel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Managed app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Managed app vs managed device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Received configuration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 diagnostics shows Received configuration;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Conflicting values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Conflicting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reads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type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Consolidate policies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report shows Success;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DELIVER APP CONFIGURATION TO MANAGED AND UNMANAGED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 report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Reporting  |  SUSPECT · Vendor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 app supports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Behavior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Behavior test shows Expected tenant/account state;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keys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Received configuration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Behavior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tenant/account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application deployment from logs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IME policy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 metadata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 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DO/BITS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Installer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Reported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application deployment from logs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IntuneManagementExtension.log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Agent Executor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PowerShell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Content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Staging 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Portal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install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IME log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Assignment 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IntuneManagementExtension.log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Network/proxy/DO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Timestamp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First failing phase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IME log state is valid only when Assignment resolution produces Timestamp chain; Download timeout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Executor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438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Agent Executor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PowerShell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IME policy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 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Install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Exit code and command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Vendor meaning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Agent Executor state is valid only when IME policy sync produces Exit code; Install failure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Content cache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 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DO/BITS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Staging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Detection false negative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Fix rule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Detection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Rule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Content cache state is valid only when Content download produces Detection trace; Detection false negative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Portal report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Installer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Portal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Device install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Requirement not met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Inspect applicability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Successful device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Portal report state is valid only when Installer execution produces Retest; Requirement not met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application deployment from logs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Download 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Network/proxy/DO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Install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Exit code and command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 false negative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Fix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Requirement not met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applicability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timeout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442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Download timeout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IME policy sync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Network/proxy/DO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Timestamp chain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Timestamp chain shows First failing phase;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 failure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443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Install failure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Content download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Agent Executor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Exit code and command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Vendor meaning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Exit code shows Vendor meaning;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false negative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Detection false negative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Installer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 cache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Fix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Detection trace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Detection trace shows Rule output;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TROUBLESHOOT APPLICATION DEPLOYMENT FROM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not met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Detection  |  SUSPECT · Portal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Requirement not met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applicability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Retest shows Successful device status;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application deployment from logs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Timestamp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 failing 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Vendor meaning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 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Rule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Successful device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app lifecycle and inventory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Managed app inventory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Owner + criticality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Install intent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Supersedence/store update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Retirement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Uninstall and revoke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app lifecycle and inventory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Named service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Version-aware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Update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Risk-based deadline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Retirement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Data and access cleanup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Owner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Named service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Shadow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Compare discovered vs approved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Discovered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Version footprint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Owner state is valid only when Discovery produces Discovered apps; Shadow IT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450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Version-aware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Owner + criticality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Stale package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Monitor version drift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Install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Device/user count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Detection state is valid only when Classification produces Install base; Stale package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SLA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Install intent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Update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Risk-based deadline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Uninstall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command/context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Update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Current version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Update SLA state is valid only when Deployment produces Update compliance; Uninstall fails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Retirement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Supersedence/store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Data and access cleanup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Orphan assignment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Review group lifecycle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Retirement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No active assignment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Retirement state is valid only when Update produces Retirement proof; Orphan assignment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app lifecycle and inventory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Shadow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discovered vs 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Monitor version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Uninstall fails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command/context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Orphan 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group lifecycle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Shadow IT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454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Shadow 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Classification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Compare discovered vs approved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Discovered apps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Discovered apps shows Version footprint;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Stale package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455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Stale package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Deployment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Detection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Monitor version drift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Device/user 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Install base shows Device/user count;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Uninstall fails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Uninstall fails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Update SLA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 command/context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Update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Update compliance shows Current version %;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MANAGE APP LIFECYCLE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Orphan assignment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pp-lifecycle-v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Retirement  |  SUSPECT · Retirement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Orphan assignment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group lifecycle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Retirement proof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Retirement proof shows No active assignment;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app lifecycle and inventory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Discovered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Install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Device/user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Update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version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Retirement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active assignment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HANDS-ON · 120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8: Win32 apps, Microsoft 365 Apps, MAM and app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Deployable app contract, detection evidence, MAM/CA test matrix and troubleshooting trace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LO2 · LO3 · K2 · K3 · A2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labs/lab-08-apps-mam-configuration/evidence/.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4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Package and deploy Win32 applications
• Sequence apps with dependencies and supersedence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Deploy Microsoft 365 Apps
• Integrate Apple and Managed Google Play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Protect corporate data with MAM
• Combine app protection with Conditional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Deliver app configuration to managed and unmanaged apps
• Troubleshoot application deployment from 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2413A"/>
                </a:solidFill>
                <a:latin typeface="Arial"/>
              </a:rPr>
              <a:t>DAY 5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Automation, analytics and incident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Graph; PowerShell; analytics; remediation; health; unauthorized-access investigation · 10–15% · LO3 · LO4 · K3 · K5 · A5 · A7 · 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Optimize endpoint operations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C2413A"/>
                </a:solidFill>
                <a:latin typeface="Arial"/>
              </a:rPr>
              <a:t>10–15%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 · LO4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K3 · K5 · A5 · A7 · A8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66944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77840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Operational time accumulates in triage and remediation; automation must preserve verification.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MECHANISM VISUAL · ANNOTATED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is an evidence-preserving control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464</a:t>
            </a:r>
          </a:p>
        </p:txBody>
      </p:sp>
      <p:pic>
        <p:nvPicPr>
          <p:cNvPr id="9" name="Picture 8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5665"/>
            <a:ext cx="7452360" cy="41941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75320" y="1645920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645920"/>
            <a:ext cx="73152" cy="8138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1737360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F6FEB"/>
                </a:solidFill>
                <a:latin typeface="Arial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011680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Read tenant and device signals.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633472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633472"/>
            <a:ext cx="73152" cy="8138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724912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6D3FD2"/>
                </a:solidFill>
                <a:latin typeface="Arial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999232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Apply bounded policy logic.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3621024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3621024"/>
            <a:ext cx="73152" cy="8138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712463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0B981"/>
                </a:solidFill>
                <a:latin typeface="Arial"/>
              </a:rPr>
              <a:t>Remediate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986784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Change only the required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4608576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4608576"/>
            <a:ext cx="73152" cy="8138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3064" y="4700016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4974336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Re-read state and publish outcome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92531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Concept illustration generated for this course; Graph/PowerShell contracts are taught on adjacent editable slides.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Intune with Microsoft Graph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 or delegated sign-in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OAuth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Scope/role claims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Graph 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Resource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@odata.nextLink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Result handling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Retry and audit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Automate Intune with Microsoft Graph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 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https://graph.microsoft.com/v1.0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Permission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DeviceManagementManagedDevices.Read.All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Follow every nextLink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Throttling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Honor Retry-After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 URI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 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https://graph.microsoft.com/v1.0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 missing/expired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aud + roles/scp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Base URI state is valid only when Identity produces Token claims; 401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Permission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468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Permission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DeviceManagementManagedDevices.Read.All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OAuth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Scope/role 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Permission or role absent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HTTP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Status + request-id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Permission state is valid only when OAuth token produces HTTP trace; 403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Pagination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Graph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Resource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Follow every nextLink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Back off and retry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Count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All pages retrieved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Pagination state is valid only when Graph endpoint produces Count check; 429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Throttling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@odata.nextLink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Throttling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Honor Retry-After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Partial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Pagination ignored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Automation identity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Throttling state is valid only when Pagination produces Audit log; Partial export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Automate Intune with Microsoft Graph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401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Token missing/expired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Permission or role absent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Back off and retry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Partial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Pagination ignored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401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472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401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OAuth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Base URI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Token missing/expired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Token claims shows aud + roles/scp;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403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473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403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Graph endpoint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Permission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Permission or role absent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Status + request-id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HTTP trace shows Status + request-id;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429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Back off and retry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Count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Count check shows All pages retrieved;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AUTOMATE INTUNE WITH MICROSOFT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Partial export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Result handling  |  SUSPECT · Throttling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Partial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Pagination ignored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Audit log shows Automation identity;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Automate Intune with Microsoft Graph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 + roles/scp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Status + request-id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Count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pages retrieved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Automation identity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Use PowerShell for repeatable endpoint operations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Connect-MgGraph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Authentication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Select-MgProfile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API surface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Get cmdlet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Read 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Update cmdlet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Controlled mutation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Export/log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Evidence and rollback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Use PowerShell for repeatable endpoint operations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Get-MgContext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Explicit scopes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WhatIf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Preview intended targets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Idempotence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before update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Connect-MgGraph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Get-MgContext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tenant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TenantId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Command and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Context state is valid only when Connect-MgGraph produces Transcript; Wrong tenant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Least privilege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480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Explicit scopes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Select-MgProfile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API surface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Broad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Count before mutate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Before/after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Changed fields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Least privilege state is valid only when Select-MgProfile produces Before/after JSON; Broad filter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WhatIf pattern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Get cmdlet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Read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WhatIf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Preview intended 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Module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Pin/test 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Target 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Expected devices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WhatIf pattern state is valid only when Get cmdlet produces Target count; Module drift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Idempotence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Update cmdlet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Controlled mutation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Idempotence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Compare before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Transient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Retry safe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Exit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Automation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Idempotence state is valid only when Update cmdlet produces Exit status; Transient failure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Use PowerShell for repeatable endpoint operations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TenantId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Broad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Count before mutate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Module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Pin/test version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Transient failure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Retry safe operations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tenant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484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Wrong tenant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Select-MgProfile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Check TenantId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Transcript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Transcript shows Command and time;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Broad filter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485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Broad filter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Get cmdlet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Least privilege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Count before mutate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Changed fields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Before/after JSON shows Changed fields;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Module drift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Module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Update cmdlet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WhatIf pattern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Pin/test version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Target 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Target count shows Expected devices;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USE POWERSHELL FOR REPEATABLE ENDPOINT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Transient failure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Export/log  |  SUSPECT · Idempotence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Transient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Retry safe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Exit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Exit status shows Automation result;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Use PowerShell for repeatable endpoint operations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Transcript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Command and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Before/after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Changed 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devices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Exit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Automation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 compliance with custom scripts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Discovery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Return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Custom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Setting definitions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Compliance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values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Per-setting result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Remediation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Operational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Extend compliance with custom scripts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0 for successful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Single compressed JSON object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Match schema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Periodic reevaluation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Exit code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Discovery 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0 for successful discovery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Invalid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Validate serialization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Local script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Valid 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Exit code state is valid only when Discovery script produces Local script output; Invalid JSON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492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Single compressed JSON object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Custom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Setting definitions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Wrong property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Match boolean/int/string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Per-setting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Detected value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Output state is valid only when Custom schema produces Per-setting report; Wrong property type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types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Compliance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Compare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Match 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Script timeout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Keep discovery bounded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Compliance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Expected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Data types state is valid only when Compliance engine produces Compliance state; Script timeout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Per-setting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Periodic reevaluation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Sensitive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Do not emit secrets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Remediation 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Closed with proof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Schedule state is valid only when Device status produces Remediation ticket; Sensitive data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Extend compliance with custom scripts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Invalid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serialization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property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Match boolean/int/string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Script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Keep discovery bounded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Sensitive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Do not emit secrets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Invalid JSON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496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Invalid 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Custom schema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Validate serialization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Local script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Local script output shows Valid JSON;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Wrong property type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497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Wrong property type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Compliance engine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Match boolean/int/string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Detected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Per-setting report shows Detected value;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 timeout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Script timeout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types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Keep discovery bounded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Compliance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Compliance state shows Expected result;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EXTEND COMPLIANCE WITH CUSTOM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Sensitive data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Remediation  |  SUSPECT · Schedule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Sensitive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 not emit secrets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Remediation ticket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Remediation ticket shows Closed with proof;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Extend compliance with custom scripts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Local script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Detected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Compliance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Remediation ticket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Closed with 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Security Copilot agents responsibly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Threat/performance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 and context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Suggested action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Validate scope and evidence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Controlled remediation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10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Security Copilot agents responsibly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Tenant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Not automatic authority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affected devices and blast radius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Record decision and outcome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Grounding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Signal intake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Tenant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Hallucinated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Verify against raw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Linked telemetry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Grounding state is valid only when Signal intake produces Source evidence; Hallucinated cause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504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automatic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Pattern and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Overbroad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Pilot and approve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Reviewer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Accept/modify/reject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Recommendation state is valid only when Agent analysis produces Reviewer decision; Overbroad action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Suggested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affected devices and blast radius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Sensitive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Apply data governance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Approved scope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Review state is valid only when Recommendation produces Change record; Sensitive prompt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Validate scope and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Record decision and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unavailable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Maintain manual runbook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Issue resolved without regression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Audit state is valid only when Human review produces Outcome metric; Agent unavailable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Security Copilot agents responsibly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Hallucinated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against raw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Overbroad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Pilot and approve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Sensitive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Apply data governance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Agent unavailable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Maintain manual runbook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Hallucinated cause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508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Hallucinated cause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Agent analysis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Grounding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Verify against raw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Source evidence shows Linked telemetry;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Overbroad action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509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Overbroad action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Pilot and approve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Accept/modify/reject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Reviewer decision shows Accept/modify/reject;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Sensitive prompt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Sensitive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Apply data governance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Change record shows Approved scope;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OPERATE SECURITY COPILOT AGENTS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unavailable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Execution  |  SUSPECT ·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unavailable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Maintain manual runbook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 metric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Outcome metric shows Issue resolved without regression;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Security Copilot agents responsibly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Linked telemetry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Reviewer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Accept/modify/reject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Outcome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resolved without regression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operational reports and dashboards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Device/app/policy facts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Filters and columns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Export/API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Structured 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Workbook/dashboard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Operational view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Action and owner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Build operational reports and dashboards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Freshness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Record report timestamp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Define cohort explicitly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CSV or 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Numerator, denominator, threshold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Freshness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Service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Freshness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Record report timestamp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Misleading denominator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Exclude not-applicable correctly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Query definition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Reproducible filter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Freshness state is valid only when Service data produces Query definition; Misleading denominator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517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Define cohort explicitly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Filters and columns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Stale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Display freshness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Dashboard 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Current value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Filter state is valid only when Report query produces Dashboard tile; Stale export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Export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Export/API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Structured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CSV or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devices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stable device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Drill-through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Affected devices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Export state is valid only when Export/API produces Drill-through; Duplicate devices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Workbook/dashboard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Operational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Numerator, denominator, 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Vanity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Tie KPI to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Owner and deadline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KPI state is valid only when Workbook/dashboard produces Action log; Vanity metric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Build operational reports and dashboards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Misleading denominator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Exclude not-applicable correctly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Display freshness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devices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stable device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Vanity metric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Tie KPI to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Misleading denominator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521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Misleading denominator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Report query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Freshness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Exclude not-applicable correctly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Query definition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Query definition shows Reproducible filter;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Stale export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522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Stale export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Export/API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Filter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Display freshness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Current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Dashboard tile shows Current value;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Duplicate devices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Duplicate devices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Workbook/dashboard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 stable device 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Drill-through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Drill-through shows Affected devices;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BUILD OPERATIONAL REPORTS AND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Vanity metric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Decision  |  SUSPECT · KPI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Vanity metric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Tie KPI to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Action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Action log shows Owner and deadline;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Build operational reports and dashboards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Query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Reproducible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Dashboard 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Drill-through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Affected devices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deadline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Interpret Endpoint Analytics and reliability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Startup/app/restart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Population metrics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Startup + application reliability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Outlier or regression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Hardware/policy/remediation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Interpret Endpoint Analytics and reliability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Startup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Boot + sign-in 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Crashes and hangs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Restart frequency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Operational stability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cohort and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Startup score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Device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Startup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Boot + sign-in 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Low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Avoid overinterpreting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Score trend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Before/after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Startup score state is valid only when Device telemetry produces Score trend; Low sample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 reliability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529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App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Crashes and hangs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Population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Cohort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Segment by model/OS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Outlier devices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App reliability state is valid only when Aggregation produces Model cohort; Cohort mix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Restart frequency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Startup + application reliability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Restart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Operational stability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Score improved but tickets 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multiple signals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Top regressions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Restart frequency state is valid only when Scoring produces App report; Score improved but tickets rise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Baseline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Outlier or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Compare cohort and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Telemetry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Check prerequisites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Reduced incident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Baseline state is valid only when Insight produces Validation; Telemetry gap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Interpret Endpoint Analytics and reliability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Low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Avoid overinterpreting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Cohort mix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Segment by model/OS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Score improved but tickets 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multiple signals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Telemetry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prerequisites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Low sample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533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Low sample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Startup score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Avoid overinterpreting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Score trend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Score trend shows Before/after;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Cohort mix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534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Cohort mix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Scoring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App reliability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Segment by model/OS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Outlier devices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Model cohort shows Outlier devices;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Score improved but tickets rise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Score improved but tickets rise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Restart frequency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 multiple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App report shows Top regressions;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INTERPRET ENDPOINT ANALYTICS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Telemetry gap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Action  |  SUSPECT ·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Telemetry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prerequisites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Validation shows Reduced incident rate;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Interpret Endpoint Analytics and reliability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Score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Before/after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Outlier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 regressions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Reduced incident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proactive remediations safely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Exit 0/1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Issue found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Remediation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Post-detection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Verify fix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Run outcome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proactive remediations safely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 change, evidence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Remediation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Idempotent and bounded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System or user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Operational need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Detection 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change, evidence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Detection always fails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Fix exit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Pre-state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Issue reproduced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Detection state is valid only when Detection script produces Pre-state; Detection always fails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Remediation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542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Remediation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Idempotent and bounded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Service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Issue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Remediation 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Make desired state idempotent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Detection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Issue found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Remediation state is valid only when Service evaluation produces Detection result; Remediation loops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Execution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Remediation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Correct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System or user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32/64-bit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Choose host setting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Remediation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Change made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Execution state is valid only when Remediation script produces Remediation log; 32/64-bit mismatch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Post-detection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Verify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Operational need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Large blast radius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Pilot and stage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Post-state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Issue absent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Schedule state is valid only when Post-detection produces Post-state; Large blast radius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proactive remediations safely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 always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Fix exit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Remediation 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Make desired state idempotent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32/64-bit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Choose host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Large blast radius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Pilot and stage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always fails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546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Detection always fails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Service evaluation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Fix exit logic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Pre-state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Pre-state shows Issue reproduced;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Remediation loops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547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Remediation loops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Remediation script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Remediation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Make desired state idempotent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Issue found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Detection result shows Issue found;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32/64-bit mismatch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32/64-bit mismatch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Post-detection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Choose host setting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Remediation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Remediation log shows Change made;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DEPLOY PROACTIVE REMEDIATIONS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Large blast radius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Reporting  |  SUSPECT · Schedule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Large blast radius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Pilot and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Post-state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Post-state shows Issue absent;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proactive remediations safely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Pre-state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reproduced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found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Remediation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made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Post-state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absent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tenant health, alerts and change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Health/message center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Operational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Expected rate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Alert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Threshold or event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Triage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Impact and ownership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Communicate and recover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10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Monitor tenant health, alerts and change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Enrollment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Failure-rate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Compliance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Noncompliant percentage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Config 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New conflict count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advisory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Affected workload and region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Enrollment alert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Service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Enrollment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Failure-rate threshold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Alert fatigue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Tune severity and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Alert payload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Cohort + timestamp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Enrollment alert state is valid only when Service signal produces Alert payload; Alert fatigue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drift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554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Compliance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Noncompliant percentage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Operational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Expected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Measure normal first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Detection to recovery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Compliance drift state is valid only when Operational baseline produces Incident timeline; No baseline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 conflict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Alert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Threshold or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Config conflict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New conflict 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incident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Correlate service advisory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 correlation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Policy/deployment event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Config conflict state is valid only when Alert rule produces Change correlation; Duplicate incident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advisory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Impact and ownership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 advisory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Affected workload and region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Unowned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Use escalation matrix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Postmortem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Control improvement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Service advisory state is valid only when Triage produces Postmortem; Unowned action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Monitor tenant health, alerts and change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Alert fatigue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Tune severity and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Measure normal 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incident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Correlate service advisory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Unowned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escalation matrix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Alert fatigue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558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Alert fatigue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Operational baseline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Enrollment alert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Tune severity and routing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Alert payload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Alert payload shows Cohort + timestamp;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 baseline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559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No baseline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Alert rule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Compliance drift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Measure normal first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Detection to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Incident timeline shows Detection to recovery;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Duplicate incident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Duplicate 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Config conflict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Correlate service advisory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 correlation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Change correlation shows Policy/deployment event;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MONITOR TENANT HEALTH, ALERTS AND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Unowned action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Response  |  SUSPECT · Service advisory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Unowned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escalation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Postmortem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Postmortem shows Control improvement;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Monitor tenant health, alerts and change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Alert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Cohort + timestamp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Detection to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Policy/deployment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Postmortem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improvement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Investigate unauthorized endpoint access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Risk/sign-in/device alert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+ device + app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Disable/revoke/isolate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Logs and timeline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Restore and monitor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10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Investigate unauthorized endpoint access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Identity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Revoke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Isolate or retire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Preserve timestamps and IDs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excess privilege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action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6492240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10" y="1755648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4270248"/>
            <a:ext cx="576072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52544"/>
            <a:ext cx="56509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57276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572768"/>
            <a:ext cx="109728" cy="9326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82495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66420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Identity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6596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Revoke sessions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267004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24927" y="2670048"/>
            <a:ext cx="109728" cy="9326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77977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76148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Premature wipe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06324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Preserve evidence 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67328"/>
            <a:ext cx="4096512" cy="9326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3767328"/>
            <a:ext cx="109728" cy="9326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3877056"/>
            <a:ext cx="122529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858768"/>
            <a:ext cx="2240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160520"/>
            <a:ext cx="34564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Ordered events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Identity action state is valid only when Detection produces Incident timeline; Premature wipe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action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566</a:t>
            </a:r>
          </a:p>
        </p:txBody>
      </p:sp>
      <p:sp>
        <p:nvSpPr>
          <p:cNvPr id="9" name="Oval 8"/>
          <p:cNvSpPr/>
          <p:nvPr/>
        </p:nvSpPr>
        <p:spPr>
          <a:xfrm>
            <a:off x="4096512" y="2148840"/>
            <a:ext cx="4005072" cy="1554480"/>
          </a:xfrm>
          <a:prstGeom prst="ellipse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340864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88336"/>
            <a:ext cx="29443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Device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108960"/>
            <a:ext cx="29443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Isolate or retire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User + device +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572768"/>
            <a:ext cx="3072384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1682495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664208"/>
            <a:ext cx="157276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Incomplete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075688"/>
            <a:ext cx="2670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Correlate device and sign-in 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822191"/>
            <a:ext cx="4005072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931920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913631"/>
            <a:ext cx="2468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325112"/>
            <a:ext cx="3621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 and device details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0752" y="2212848"/>
            <a:ext cx="365760" cy="576072"/>
          </a:xfrm>
          <a:prstGeom prst="line">
            <a:avLst/>
          </a:prstGeom>
          <a:ln w="2286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01583" y="2212848"/>
            <a:ext cx="384049" cy="576072"/>
          </a:xfrm>
          <a:prstGeom prst="line">
            <a:avLst/>
          </a:prstGeom>
          <a:ln w="2286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2286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Device action state is valid only when Scope produces Sign-in log; Incomplete scope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handling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1801368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Containment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Disable/revoke/isolate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801368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7556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73736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19456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Preserve timestamps and 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18688"/>
            <a:ext cx="5340096" cy="14081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47288"/>
            <a:ext cx="548640" cy="548640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 persists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Reset and revoke tokens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218688"/>
            <a:ext cx="5340096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47288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48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0156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3840480"/>
            <a:ext cx="40782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Alert/process activity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Evidence handling state is valid only when Containment produces Device timeline; Credential persists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review —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36192"/>
            <a:ext cx="128016" cy="704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39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691639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673351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19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Logs and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95728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395728"/>
            <a:ext cx="128016" cy="70408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51176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551176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EXACT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32888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05456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Remove excess privilege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55263"/>
            <a:ext cx="10808208" cy="70408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55263"/>
            <a:ext cx="128016" cy="704088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1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10711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CONTROL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3392423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restored early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Require clean 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14800"/>
            <a:ext cx="10808208" cy="704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114800"/>
            <a:ext cx="128016" cy="704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0248"/>
            <a:ext cx="420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270248"/>
            <a:ext cx="148132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4251960"/>
            <a:ext cx="2761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Closure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24528"/>
            <a:ext cx="510235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Risk cleared and access reviewed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CONTROL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Access review state is valid only when Evidence produces Closure proof; Access restored early requires the bounded recovery shown above.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Investigate unauthorized endpoint access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Premature wipe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Preserve evidence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Incomplete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Correlate device and sign-in 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Credential persists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Reset and revoke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restored early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clean compliance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9320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0410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Premature wipe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570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1563624"/>
            <a:ext cx="493776" cy="493776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55063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45919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517904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636776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Premature wipe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" y="2066543"/>
            <a:ext cx="0" cy="164593"/>
          </a:xfrm>
          <a:prstGeom prst="line">
            <a:avLst/>
          </a:prstGeom>
          <a:ln w="20320">
            <a:solidFill>
              <a:srgbClr val="C241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" y="2258568"/>
            <a:ext cx="493776" cy="493776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350008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4086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212848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2331720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2761488"/>
            <a:ext cx="0" cy="164592"/>
          </a:xfrm>
          <a:prstGeom prst="line">
            <a:avLst/>
          </a:prstGeom>
          <a:ln w="2032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" y="2953511"/>
            <a:ext cx="493776" cy="493776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044951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35808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76" y="2907791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026663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Identity 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" y="3456432"/>
            <a:ext cx="0" cy="164592"/>
          </a:xfrm>
          <a:prstGeom prst="line">
            <a:avLst/>
          </a:prstGeom>
          <a:ln w="2032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248" y="3648456"/>
            <a:ext cx="493776" cy="493776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39896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730752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3602736"/>
            <a:ext cx="7955279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721608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61B26"/>
                </a:solidFill>
                <a:latin typeface="Arial"/>
              </a:rPr>
              <a:t>Preserve evidence first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" y="4151376"/>
            <a:ext cx="0" cy="164592"/>
          </a:xfrm>
          <a:prstGeom prst="line">
            <a:avLst/>
          </a:prstGeom>
          <a:ln w="2032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" y="4343400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34840"/>
            <a:ext cx="4937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425696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36976" y="4297680"/>
            <a:ext cx="7955279" cy="585216"/>
          </a:xfrm>
          <a:prstGeom prst="round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1296" y="4416552"/>
            <a:ext cx="7388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Incident timeline shows Ordered events;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Incomplete scope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571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1755648"/>
            <a:ext cx="1975104" cy="1536192"/>
          </a:xfrm>
          <a:prstGeom prst="chevron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Incomplete scope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755648"/>
            <a:ext cx="1975104" cy="1536192"/>
          </a:xfrm>
          <a:prstGeom prst="chevron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Containment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157216" y="1755648"/>
            <a:ext cx="1975104" cy="1536192"/>
          </a:xfrm>
          <a:prstGeom prst="chevron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Device action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7406640" y="1755648"/>
            <a:ext cx="1975104" cy="153619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Bounded action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9656064" y="1755648"/>
            <a:ext cx="1975104" cy="1536192"/>
          </a:xfrm>
          <a:prstGeom prst="chevron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1938528"/>
            <a:ext cx="1005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2359152"/>
            <a:ext cx="1005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Verified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67328"/>
            <a:ext cx="523036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86784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RECOVERY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3904487"/>
            <a:ext cx="294436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Correlate device and sign-in IDs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767328"/>
            <a:ext cx="5047488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1865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ACCEPTANCE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04487"/>
            <a:ext cx="25786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CA and device details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Sign-in log shows CA and device details;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Credential persists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1481328"/>
            <a:ext cx="4443984" cy="9509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627632"/>
            <a:ext cx="2084831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Credential persists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779776"/>
            <a:ext cx="513892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00837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SUSPECT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944368"/>
            <a:ext cx="29077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handling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10128" y="2432304"/>
            <a:ext cx="1426464" cy="347472"/>
          </a:xfrm>
          <a:prstGeom prst="line">
            <a:avLst/>
          </a:prstGeom>
          <a:ln w="2286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3216" y="2432304"/>
            <a:ext cx="1408176" cy="347472"/>
          </a:xfrm>
          <a:prstGeom prst="line">
            <a:avLst/>
          </a:prstGeom>
          <a:ln w="2286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Reset and revoke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968496"/>
            <a:ext cx="5138928" cy="804672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60520"/>
            <a:ext cx="11338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411480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Device timeline shows Alert/process activity;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INVESTIGATE UNAUTHORIZED ENDPOINT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restored early — diagnostic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565392" cy="3310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86" y="1737360"/>
            <a:ext cx="5199155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" y="4279392"/>
            <a:ext cx="5833872" cy="384048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57241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BOUNDARY · Recovery  |  SUSPECT · Access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5448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8249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Access restored early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79776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Require clean 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749039"/>
            <a:ext cx="402336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77055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79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Closure proof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EVIDENCE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1266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Accept the recovery only when Closure proof shows Risk cleared and access reviewed; otherwise remain at the first unresolved boundary.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Investigate unauthorized endpoint access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Ordered 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 and device details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Alert/process activity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Closure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 cleared and access reviewed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9: Graph, PowerShell, remote actions and Endpoint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Least-privilege automation transcript, paginated export, remote-action evidence and KPI readout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LO3 · LO4 · K3 · K5 · A5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labs/lab-09-graph-powershell-analytics/evidence/.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10: Capstone: investigate access, remediate endpoints and brief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7433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28523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Incident timeline, containment record, remediation proof, access review and executive operations brief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LO4 · K5 · A7 ·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20640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31536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the evidence under labs/lab-10-capstone-incident-operations/evidence/.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5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Automate Intune with Microsoft Graph
• Use PowerShell for repeatable endpoint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Extend compliance with custom scripts
• Operate Security Copilot agents responsibly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Build operational reports and dashboards
• Interpret Endpoint Analytics and reliability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Deploy proactive remediations safely
• Monitor tenant health, alerts and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57216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2413A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68112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CLOSING BLOCK ·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Assessment: demonstrate current endpoint judgment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mechanism and decision rule using K1–K5.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six connected tasks and preserve evidence for A1–A8.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Meet every criterion; partial evidence does not demonstrate the full 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the completed learner-facing papers to the LMS.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WA → PP →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flow: final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581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331720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5 SAQs
K1–K5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383280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93852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331720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 knowledge
criteria covered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383280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93852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331720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 tasks
A1–A8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383280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93852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331720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Evidence and
explanation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383280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3852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331720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 or NYC
recorded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7492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07492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184648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77600"/>
                </a:solidFill>
                <a:latin typeface="Arial"/>
              </a:rPr>
              <a:t>SUBMISSION RULE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495544"/>
            <a:ext cx="9875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papers go to the LMS. Answer keys remain trainer-only and are never linked from the learner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CLOSING BLOCK · TRAQOM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attendance: final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every required session has a recorded attendance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Resolve 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the trainer the relevant Singpass/TRAQOM result.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 not 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Attendance exceptions become harder to resolve after course close.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the confirmation until the training record is finalized.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436"/>
            <a:ext cx="6903720" cy="38854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481328"/>
            <a:ext cx="4224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66543"/>
            <a:ext cx="4315968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Manage endpoints as an evidence-driven control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22191"/>
            <a:ext cx="4297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Identity · Policy · Security · Applications ·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992624"/>
            <a:ext cx="4297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https://www.tertiarycourses.com.sg/wsq-microsoft-certified-endpoint-administrator-associate-md-102.html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797296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TGS-2024042603 · Version v3.1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