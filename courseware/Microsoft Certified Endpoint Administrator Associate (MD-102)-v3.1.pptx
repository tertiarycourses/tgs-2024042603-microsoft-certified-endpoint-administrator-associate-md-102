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62.xml" ContentType="application/vnd.openxmlformats-officedocument.presentationml.slide+xml"/>
  <Override PartName="/ppt/slides/slide563.xml" ContentType="application/vnd.openxmlformats-officedocument.presentationml.slide+xml"/>
  <Override PartName="/ppt/slides/slide564.xml" ContentType="application/vnd.openxmlformats-officedocument.presentationml.slide+xml"/>
  <Override PartName="/ppt/slides/slide565.xml" ContentType="application/vnd.openxmlformats-officedocument.presentationml.slide+xml"/>
  <Override PartName="/ppt/slides/slide566.xml" ContentType="application/vnd.openxmlformats-officedocument.presentationml.slide+xml"/>
  <Override PartName="/ppt/slides/slide567.xml" ContentType="application/vnd.openxmlformats-officedocument.presentationml.slide+xml"/>
  <Override PartName="/ppt/slides/slide568.xml" ContentType="application/vnd.openxmlformats-officedocument.presentationml.slide+xml"/>
  <Override PartName="/ppt/slides/slide569.xml" ContentType="application/vnd.openxmlformats-officedocument.presentationml.slide+xml"/>
  <Override PartName="/ppt/slides/slide57.xml" ContentType="application/vnd.openxmlformats-officedocument.presentationml.slide+xml"/>
  <Override PartName="/ppt/slides/slide570.xml" ContentType="application/vnd.openxmlformats-officedocument.presentationml.slide+xml"/>
  <Override PartName="/ppt/slides/slide571.xml" ContentType="application/vnd.openxmlformats-officedocument.presentationml.slide+xml"/>
  <Override PartName="/ppt/slides/slide572.xml" ContentType="application/vnd.openxmlformats-officedocument.presentationml.slide+xml"/>
  <Override PartName="/ppt/slides/slide573.xml" ContentType="application/vnd.openxmlformats-officedocument.presentationml.slide+xml"/>
  <Override PartName="/ppt/slides/slide574.xml" ContentType="application/vnd.openxmlformats-officedocument.presentationml.slide+xml"/>
  <Override PartName="/ppt/slides/slide575.xml" ContentType="application/vnd.openxmlformats-officedocument.presentationml.slide+xml"/>
  <Override PartName="/ppt/slides/slide576.xml" ContentType="application/vnd.openxmlformats-officedocument.presentationml.slide+xml"/>
  <Override PartName="/ppt/slides/slide577.xml" ContentType="application/vnd.openxmlformats-officedocument.presentationml.slide+xml"/>
  <Override PartName="/ppt/slides/slide578.xml" ContentType="application/vnd.openxmlformats-officedocument.presentationml.slide+xml"/>
  <Override PartName="/ppt/slides/slide579.xml" ContentType="application/vnd.openxmlformats-officedocument.presentationml.slide+xml"/>
  <Override PartName="/ppt/slides/slide58.xml" ContentType="application/vnd.openxmlformats-officedocument.presentationml.slide+xml"/>
  <Override PartName="/ppt/slides/slide580.xml" ContentType="application/vnd.openxmlformats-officedocument.presentationml.slide+xml"/>
  <Override PartName="/ppt/slides/slide581.xml" ContentType="application/vnd.openxmlformats-officedocument.presentationml.slide+xml"/>
  <Override PartName="/ppt/slides/slide582.xml" ContentType="application/vnd.openxmlformats-officedocument.presentationml.slide+xml"/>
  <Override PartName="/ppt/slides/slide583.xml" ContentType="application/vnd.openxmlformats-officedocument.presentationml.slide+xml"/>
  <Override PartName="/ppt/slides/slide584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839" r:id="rId590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  <p:sldId id="763" r:id="rId514"/>
    <p:sldId id="764" r:id="rId515"/>
    <p:sldId id="765" r:id="rId516"/>
    <p:sldId id="766" r:id="rId517"/>
    <p:sldId id="767" r:id="rId518"/>
    <p:sldId id="768" r:id="rId519"/>
    <p:sldId id="769" r:id="rId520"/>
    <p:sldId id="770" r:id="rId521"/>
    <p:sldId id="771" r:id="rId522"/>
    <p:sldId id="772" r:id="rId523"/>
    <p:sldId id="773" r:id="rId524"/>
    <p:sldId id="774" r:id="rId525"/>
    <p:sldId id="775" r:id="rId526"/>
    <p:sldId id="776" r:id="rId527"/>
    <p:sldId id="777" r:id="rId528"/>
    <p:sldId id="778" r:id="rId529"/>
    <p:sldId id="779" r:id="rId530"/>
    <p:sldId id="780" r:id="rId531"/>
    <p:sldId id="781" r:id="rId532"/>
    <p:sldId id="782" r:id="rId533"/>
    <p:sldId id="783" r:id="rId534"/>
    <p:sldId id="784" r:id="rId535"/>
    <p:sldId id="785" r:id="rId536"/>
    <p:sldId id="786" r:id="rId537"/>
    <p:sldId id="787" r:id="rId538"/>
    <p:sldId id="788" r:id="rId539"/>
    <p:sldId id="789" r:id="rId540"/>
    <p:sldId id="790" r:id="rId541"/>
    <p:sldId id="791" r:id="rId542"/>
    <p:sldId id="792" r:id="rId543"/>
    <p:sldId id="793" r:id="rId544"/>
    <p:sldId id="794" r:id="rId545"/>
    <p:sldId id="795" r:id="rId546"/>
    <p:sldId id="796" r:id="rId547"/>
    <p:sldId id="797" r:id="rId548"/>
    <p:sldId id="798" r:id="rId549"/>
    <p:sldId id="799" r:id="rId550"/>
    <p:sldId id="800" r:id="rId551"/>
    <p:sldId id="801" r:id="rId552"/>
    <p:sldId id="802" r:id="rId553"/>
    <p:sldId id="803" r:id="rId554"/>
    <p:sldId id="804" r:id="rId555"/>
    <p:sldId id="805" r:id="rId556"/>
    <p:sldId id="806" r:id="rId557"/>
    <p:sldId id="807" r:id="rId558"/>
    <p:sldId id="808" r:id="rId559"/>
    <p:sldId id="809" r:id="rId560"/>
    <p:sldId id="810" r:id="rId561"/>
    <p:sldId id="811" r:id="rId562"/>
    <p:sldId id="812" r:id="rId563"/>
    <p:sldId id="813" r:id="rId564"/>
    <p:sldId id="814" r:id="rId565"/>
    <p:sldId id="815" r:id="rId566"/>
    <p:sldId id="816" r:id="rId567"/>
    <p:sldId id="817" r:id="rId568"/>
    <p:sldId id="818" r:id="rId569"/>
    <p:sldId id="819" r:id="rId570"/>
    <p:sldId id="820" r:id="rId571"/>
    <p:sldId id="821" r:id="rId572"/>
    <p:sldId id="822" r:id="rId573"/>
    <p:sldId id="823" r:id="rId574"/>
    <p:sldId id="824" r:id="rId575"/>
    <p:sldId id="825" r:id="rId576"/>
    <p:sldId id="826" r:id="rId577"/>
    <p:sldId id="827" r:id="rId578"/>
    <p:sldId id="828" r:id="rId579"/>
    <p:sldId id="829" r:id="rId580"/>
    <p:sldId id="830" r:id="rId581"/>
    <p:sldId id="831" r:id="rId582"/>
    <p:sldId id="832" r:id="rId583"/>
    <p:sldId id="833" r:id="rId584"/>
    <p:sldId id="834" r:id="rId585"/>
    <p:sldId id="835" r:id="rId586"/>
    <p:sldId id="836" r:id="rId587"/>
    <p:sldId id="837" r:id="rId588"/>
    <p:sldId id="838" r:id="rId58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Relationship Id="rId514" Type="http://schemas.openxmlformats.org/officeDocument/2006/relationships/slide" Target="slides/slide508.xml"/><Relationship Id="rId515" Type="http://schemas.openxmlformats.org/officeDocument/2006/relationships/slide" Target="slides/slide509.xml"/><Relationship Id="rId516" Type="http://schemas.openxmlformats.org/officeDocument/2006/relationships/slide" Target="slides/slide510.xml"/><Relationship Id="rId517" Type="http://schemas.openxmlformats.org/officeDocument/2006/relationships/slide" Target="slides/slide511.xml"/><Relationship Id="rId518" Type="http://schemas.openxmlformats.org/officeDocument/2006/relationships/slide" Target="slides/slide512.xml"/><Relationship Id="rId519" Type="http://schemas.openxmlformats.org/officeDocument/2006/relationships/slide" Target="slides/slide513.xml"/><Relationship Id="rId520" Type="http://schemas.openxmlformats.org/officeDocument/2006/relationships/slide" Target="slides/slide514.xml"/><Relationship Id="rId521" Type="http://schemas.openxmlformats.org/officeDocument/2006/relationships/slide" Target="slides/slide515.xml"/><Relationship Id="rId522" Type="http://schemas.openxmlformats.org/officeDocument/2006/relationships/slide" Target="slides/slide516.xml"/><Relationship Id="rId523" Type="http://schemas.openxmlformats.org/officeDocument/2006/relationships/slide" Target="slides/slide517.xml"/><Relationship Id="rId524" Type="http://schemas.openxmlformats.org/officeDocument/2006/relationships/slide" Target="slides/slide518.xml"/><Relationship Id="rId525" Type="http://schemas.openxmlformats.org/officeDocument/2006/relationships/slide" Target="slides/slide519.xml"/><Relationship Id="rId526" Type="http://schemas.openxmlformats.org/officeDocument/2006/relationships/slide" Target="slides/slide520.xml"/><Relationship Id="rId527" Type="http://schemas.openxmlformats.org/officeDocument/2006/relationships/slide" Target="slides/slide521.xml"/><Relationship Id="rId528" Type="http://schemas.openxmlformats.org/officeDocument/2006/relationships/slide" Target="slides/slide522.xml"/><Relationship Id="rId529" Type="http://schemas.openxmlformats.org/officeDocument/2006/relationships/slide" Target="slides/slide523.xml"/><Relationship Id="rId530" Type="http://schemas.openxmlformats.org/officeDocument/2006/relationships/slide" Target="slides/slide524.xml"/><Relationship Id="rId531" Type="http://schemas.openxmlformats.org/officeDocument/2006/relationships/slide" Target="slides/slide525.xml"/><Relationship Id="rId532" Type="http://schemas.openxmlformats.org/officeDocument/2006/relationships/slide" Target="slides/slide526.xml"/><Relationship Id="rId533" Type="http://schemas.openxmlformats.org/officeDocument/2006/relationships/slide" Target="slides/slide527.xml"/><Relationship Id="rId534" Type="http://schemas.openxmlformats.org/officeDocument/2006/relationships/slide" Target="slides/slide528.xml"/><Relationship Id="rId535" Type="http://schemas.openxmlformats.org/officeDocument/2006/relationships/slide" Target="slides/slide529.xml"/><Relationship Id="rId536" Type="http://schemas.openxmlformats.org/officeDocument/2006/relationships/slide" Target="slides/slide530.xml"/><Relationship Id="rId537" Type="http://schemas.openxmlformats.org/officeDocument/2006/relationships/slide" Target="slides/slide531.xml"/><Relationship Id="rId538" Type="http://schemas.openxmlformats.org/officeDocument/2006/relationships/slide" Target="slides/slide532.xml"/><Relationship Id="rId539" Type="http://schemas.openxmlformats.org/officeDocument/2006/relationships/slide" Target="slides/slide533.xml"/><Relationship Id="rId540" Type="http://schemas.openxmlformats.org/officeDocument/2006/relationships/slide" Target="slides/slide534.xml"/><Relationship Id="rId541" Type="http://schemas.openxmlformats.org/officeDocument/2006/relationships/slide" Target="slides/slide535.xml"/><Relationship Id="rId542" Type="http://schemas.openxmlformats.org/officeDocument/2006/relationships/slide" Target="slides/slide536.xml"/><Relationship Id="rId543" Type="http://schemas.openxmlformats.org/officeDocument/2006/relationships/slide" Target="slides/slide537.xml"/><Relationship Id="rId544" Type="http://schemas.openxmlformats.org/officeDocument/2006/relationships/slide" Target="slides/slide538.xml"/><Relationship Id="rId545" Type="http://schemas.openxmlformats.org/officeDocument/2006/relationships/slide" Target="slides/slide539.xml"/><Relationship Id="rId546" Type="http://schemas.openxmlformats.org/officeDocument/2006/relationships/slide" Target="slides/slide540.xml"/><Relationship Id="rId547" Type="http://schemas.openxmlformats.org/officeDocument/2006/relationships/slide" Target="slides/slide541.xml"/><Relationship Id="rId548" Type="http://schemas.openxmlformats.org/officeDocument/2006/relationships/slide" Target="slides/slide542.xml"/><Relationship Id="rId549" Type="http://schemas.openxmlformats.org/officeDocument/2006/relationships/slide" Target="slides/slide543.xml"/><Relationship Id="rId550" Type="http://schemas.openxmlformats.org/officeDocument/2006/relationships/slide" Target="slides/slide544.xml"/><Relationship Id="rId551" Type="http://schemas.openxmlformats.org/officeDocument/2006/relationships/slide" Target="slides/slide545.xml"/><Relationship Id="rId552" Type="http://schemas.openxmlformats.org/officeDocument/2006/relationships/slide" Target="slides/slide546.xml"/><Relationship Id="rId553" Type="http://schemas.openxmlformats.org/officeDocument/2006/relationships/slide" Target="slides/slide547.xml"/><Relationship Id="rId554" Type="http://schemas.openxmlformats.org/officeDocument/2006/relationships/slide" Target="slides/slide548.xml"/><Relationship Id="rId555" Type="http://schemas.openxmlformats.org/officeDocument/2006/relationships/slide" Target="slides/slide549.xml"/><Relationship Id="rId556" Type="http://schemas.openxmlformats.org/officeDocument/2006/relationships/slide" Target="slides/slide550.xml"/><Relationship Id="rId557" Type="http://schemas.openxmlformats.org/officeDocument/2006/relationships/slide" Target="slides/slide551.xml"/><Relationship Id="rId558" Type="http://schemas.openxmlformats.org/officeDocument/2006/relationships/slide" Target="slides/slide552.xml"/><Relationship Id="rId559" Type="http://schemas.openxmlformats.org/officeDocument/2006/relationships/slide" Target="slides/slide553.xml"/><Relationship Id="rId560" Type="http://schemas.openxmlformats.org/officeDocument/2006/relationships/slide" Target="slides/slide554.xml"/><Relationship Id="rId561" Type="http://schemas.openxmlformats.org/officeDocument/2006/relationships/slide" Target="slides/slide555.xml"/><Relationship Id="rId562" Type="http://schemas.openxmlformats.org/officeDocument/2006/relationships/slide" Target="slides/slide556.xml"/><Relationship Id="rId563" Type="http://schemas.openxmlformats.org/officeDocument/2006/relationships/slide" Target="slides/slide557.xml"/><Relationship Id="rId564" Type="http://schemas.openxmlformats.org/officeDocument/2006/relationships/slide" Target="slides/slide558.xml"/><Relationship Id="rId565" Type="http://schemas.openxmlformats.org/officeDocument/2006/relationships/slide" Target="slides/slide559.xml"/><Relationship Id="rId566" Type="http://schemas.openxmlformats.org/officeDocument/2006/relationships/slide" Target="slides/slide560.xml"/><Relationship Id="rId567" Type="http://schemas.openxmlformats.org/officeDocument/2006/relationships/slide" Target="slides/slide561.xml"/><Relationship Id="rId568" Type="http://schemas.openxmlformats.org/officeDocument/2006/relationships/slide" Target="slides/slide562.xml"/><Relationship Id="rId569" Type="http://schemas.openxmlformats.org/officeDocument/2006/relationships/slide" Target="slides/slide563.xml"/><Relationship Id="rId570" Type="http://schemas.openxmlformats.org/officeDocument/2006/relationships/slide" Target="slides/slide564.xml"/><Relationship Id="rId571" Type="http://schemas.openxmlformats.org/officeDocument/2006/relationships/slide" Target="slides/slide565.xml"/><Relationship Id="rId572" Type="http://schemas.openxmlformats.org/officeDocument/2006/relationships/slide" Target="slides/slide566.xml"/><Relationship Id="rId573" Type="http://schemas.openxmlformats.org/officeDocument/2006/relationships/slide" Target="slides/slide567.xml"/><Relationship Id="rId574" Type="http://schemas.openxmlformats.org/officeDocument/2006/relationships/slide" Target="slides/slide568.xml"/><Relationship Id="rId575" Type="http://schemas.openxmlformats.org/officeDocument/2006/relationships/slide" Target="slides/slide569.xml"/><Relationship Id="rId576" Type="http://schemas.openxmlformats.org/officeDocument/2006/relationships/slide" Target="slides/slide570.xml"/><Relationship Id="rId577" Type="http://schemas.openxmlformats.org/officeDocument/2006/relationships/slide" Target="slides/slide571.xml"/><Relationship Id="rId578" Type="http://schemas.openxmlformats.org/officeDocument/2006/relationships/slide" Target="slides/slide572.xml"/><Relationship Id="rId579" Type="http://schemas.openxmlformats.org/officeDocument/2006/relationships/slide" Target="slides/slide573.xml"/><Relationship Id="rId580" Type="http://schemas.openxmlformats.org/officeDocument/2006/relationships/slide" Target="slides/slide574.xml"/><Relationship Id="rId581" Type="http://schemas.openxmlformats.org/officeDocument/2006/relationships/slide" Target="slides/slide575.xml"/><Relationship Id="rId582" Type="http://schemas.openxmlformats.org/officeDocument/2006/relationships/slide" Target="slides/slide576.xml"/><Relationship Id="rId583" Type="http://schemas.openxmlformats.org/officeDocument/2006/relationships/slide" Target="slides/slide577.xml"/><Relationship Id="rId584" Type="http://schemas.openxmlformats.org/officeDocument/2006/relationships/slide" Target="slides/slide578.xml"/><Relationship Id="rId585" Type="http://schemas.openxmlformats.org/officeDocument/2006/relationships/slide" Target="slides/slide579.xml"/><Relationship Id="rId586" Type="http://schemas.openxmlformats.org/officeDocument/2006/relationships/slide" Target="slides/slide580.xml"/><Relationship Id="rId587" Type="http://schemas.openxmlformats.org/officeDocument/2006/relationships/slide" Target="slides/slide581.xml"/><Relationship Id="rId588" Type="http://schemas.openxmlformats.org/officeDocument/2006/relationships/slide" Target="slides/slide582.xml"/><Relationship Id="rId589" Type="http://schemas.openxmlformats.org/officeDocument/2006/relationships/slide" Target="slides/slide583.xml"/><Relationship Id="rId590" Type="http://schemas.openxmlformats.org/officeDocument/2006/relationships/slide" Target="slides/slide58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Midpoint weight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6D3FD2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108A73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C77600"/>
              </a:solidFill>
              <a:ln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C2413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Infrastructure</c:v>
                </c:pt>
                <c:pt idx="1">
                  <c:v>Devices</c:v>
                </c:pt>
                <c:pt idx="2">
                  <c:v>Protect</c:v>
                </c:pt>
                <c:pt idx="3">
                  <c:v>Apps</c:v>
                </c:pt>
                <c:pt idx="4">
                  <c:v>Operations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22.5</c:v>
                </c:pt>
                <c:pt idx="1">
                  <c:v>27.5</c:v>
                </c:pt>
                <c:pt idx="2">
                  <c:v>17.5</c:v>
                </c:pt>
                <c:pt idx="3">
                  <c:v>17.5</c:v>
                </c:pt>
                <c:pt idx="4">
                  <c:v>12.5</c:v>
                </c:pt>
              </c:numCache>
            </c:numRef>
          </c:val>
        </c:ser>
        <c:dLbls>
          <c:dLblPos val="bestFit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0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  <a:ln>
                <a:solidFill>
                  <a:srgbClr val="1F6FEB"/>
                </a:solidFill>
              </a:ln>
            </c:spPr>
          </c:dPt>
          <c:dPt>
            <c:idx val="1"/>
            <c:spPr>
              <a:solidFill>
                <a:srgbClr val="6D3FD2"/>
              </a:solidFill>
              <a:ln>
                <a:solidFill>
                  <a:srgbClr val="6D3FD2"/>
                </a:solidFill>
              </a:ln>
            </c:spPr>
          </c:dPt>
          <c:dPt>
            <c:idx val="2"/>
            <c:spPr>
              <a:solidFill>
                <a:srgbClr val="10B981"/>
              </a:solidFill>
              <a:ln>
                <a:solidFill>
                  <a:srgbClr val="10B981"/>
                </a:solidFill>
              </a:ln>
            </c:spPr>
          </c:dPt>
          <c:dPt>
            <c:idx val="3"/>
            <c:spPr>
              <a:solidFill>
                <a:srgbClr val="16845B"/>
              </a:solidFill>
              <a:ln>
                <a:solidFill>
                  <a:srgbClr val="16845B"/>
                </a:solidFill>
              </a:ln>
            </c:spPr>
          </c:dPt>
          <c:dPt>
            <c:idx val="4"/>
            <c:spPr>
              <a:solidFill>
                <a:srgbClr val="C77600"/>
              </a:solidFill>
              <a:ln>
                <a:solidFill>
                  <a:srgbClr val="C77600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Eligible</c:v>
                </c:pt>
                <c:pt idx="1">
                  <c:v>Discovered</c:v>
                </c:pt>
                <c:pt idx="2">
                  <c:v>Registered</c:v>
                </c:pt>
                <c:pt idx="3">
                  <c:v>Enrolled</c:v>
                </c:pt>
                <c:pt idx="4">
                  <c:v>Compliant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97</c:v>
                </c:pt>
                <c:pt idx="2">
                  <c:v>93</c:v>
                </c:pt>
                <c:pt idx="3">
                  <c:v>88</c:v>
                </c:pt>
                <c:pt idx="4">
                  <c:v>82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 val="0"/>
        <c:axPos val="l"/>
        <c:majorGridlines>
          <c:spPr>
            <a:ln>
              <a:solidFill>
                <a:srgbClr val="D7E0EA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  <a:ln>
                <a:solidFill>
                  <a:srgbClr val="1F6FEB"/>
                </a:solidFill>
              </a:ln>
            </c:spPr>
          </c:dPt>
          <c:dPt>
            <c:idx val="1"/>
            <c:spPr>
              <a:solidFill>
                <a:srgbClr val="6D3FD2"/>
              </a:solidFill>
              <a:ln>
                <a:solidFill>
                  <a:srgbClr val="6D3FD2"/>
                </a:solidFill>
              </a:ln>
            </c:spPr>
          </c:dPt>
          <c:dPt>
            <c:idx val="2"/>
            <c:spPr>
              <a:solidFill>
                <a:srgbClr val="10B981"/>
              </a:solidFill>
              <a:ln>
                <a:solidFill>
                  <a:srgbClr val="10B981"/>
                </a:solidFill>
              </a:ln>
            </c:spPr>
          </c:dPt>
          <c:dPt>
            <c:idx val="3"/>
            <c:spPr>
              <a:solidFill>
                <a:srgbClr val="16845B"/>
              </a:solidFill>
              <a:ln>
                <a:solidFill>
                  <a:srgbClr val="16845B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Pilot</c:v>
                </c:pt>
                <c:pt idx="1">
                  <c:v>Ring 1</c:v>
                </c:pt>
                <c:pt idx="2">
                  <c:v>Ring 2</c:v>
                </c:pt>
                <c:pt idx="3">
                  <c:v>Broad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33</c:v>
                </c:pt>
                <c:pt idx="3">
                  <c:v>46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.279999999999994"/>
          <c:min val="0.0"/>
        </c:scaling>
        <c:delete val="0"/>
        <c:axPos val="l"/>
        <c:majorGridlines>
          <c:spPr>
            <a:ln>
              <a:solidFill>
                <a:srgbClr val="D7E0EA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  <a:ln>
                <a:solidFill>
                  <a:srgbClr val="1F6FEB"/>
                </a:solidFill>
              </a:ln>
            </c:spPr>
          </c:dPt>
          <c:dPt>
            <c:idx val="1"/>
            <c:spPr>
              <a:solidFill>
                <a:srgbClr val="6D3FD2"/>
              </a:solidFill>
              <a:ln>
                <a:solidFill>
                  <a:srgbClr val="6D3FD2"/>
                </a:solidFill>
              </a:ln>
            </c:spPr>
          </c:dPt>
          <c:dPt>
            <c:idx val="2"/>
            <c:spPr>
              <a:solidFill>
                <a:srgbClr val="10B981"/>
              </a:solidFill>
              <a:ln>
                <a:solidFill>
                  <a:srgbClr val="10B981"/>
                </a:solidFill>
              </a:ln>
            </c:spPr>
          </c:dPt>
          <c:dPt>
            <c:idx val="3"/>
            <c:spPr>
              <a:solidFill>
                <a:srgbClr val="16845B"/>
              </a:solidFill>
              <a:ln>
                <a:solidFill>
                  <a:srgbClr val="16845B"/>
                </a:solidFill>
              </a:ln>
            </c:spPr>
          </c:dPt>
          <c:dPt>
            <c:idx val="4"/>
            <c:spPr>
              <a:solidFill>
                <a:srgbClr val="C77600"/>
              </a:solidFill>
              <a:ln>
                <a:solidFill>
                  <a:srgbClr val="C77600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AV</c:v>
                </c:pt>
                <c:pt idx="1">
                  <c:v>Encryption</c:v>
                </c:pt>
                <c:pt idx="2">
                  <c:v>Firewall</c:v>
                </c:pt>
                <c:pt idx="3">
                  <c:v>ASR</c:v>
                </c:pt>
                <c:pt idx="4">
                  <c:v>EDR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</c:v>
                </c:pt>
                <c:pt idx="1">
                  <c:v>91</c:v>
                </c:pt>
                <c:pt idx="2">
                  <c:v>94</c:v>
                </c:pt>
                <c:pt idx="3">
                  <c:v>83</c:v>
                </c:pt>
                <c:pt idx="4">
                  <c:v>89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3.28"/>
          <c:min val="0.0"/>
        </c:scaling>
        <c:delete val="0"/>
        <c:axPos val="l"/>
        <c:majorGridlines>
          <c:spPr>
            <a:ln>
              <a:solidFill>
                <a:srgbClr val="D7E0EA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  <a:ln>
                <a:solidFill>
                  <a:srgbClr val="1F6FEB"/>
                </a:solidFill>
              </a:ln>
            </c:spPr>
          </c:dPt>
          <c:dPt>
            <c:idx val="1"/>
            <c:spPr>
              <a:solidFill>
                <a:srgbClr val="6D3FD2"/>
              </a:solidFill>
              <a:ln>
                <a:solidFill>
                  <a:srgbClr val="6D3FD2"/>
                </a:solidFill>
              </a:ln>
            </c:spPr>
          </c:dPt>
          <c:dPt>
            <c:idx val="2"/>
            <c:spPr>
              <a:solidFill>
                <a:srgbClr val="10B981"/>
              </a:solidFill>
              <a:ln>
                <a:solidFill>
                  <a:srgbClr val="10B981"/>
                </a:solidFill>
              </a:ln>
            </c:spPr>
          </c:dPt>
          <c:dPt>
            <c:idx val="3"/>
            <c:spPr>
              <a:solidFill>
                <a:srgbClr val="16845B"/>
              </a:solidFill>
              <a:ln>
                <a:solidFill>
                  <a:srgbClr val="16845B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Required</c:v>
                </c:pt>
                <c:pt idx="1">
                  <c:v>Available</c:v>
                </c:pt>
                <c:pt idx="2">
                  <c:v>Failed</c:v>
                </c:pt>
                <c:pt idx="3">
                  <c:v>Not applicable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18</c:v>
                </c:pt>
                <c:pt idx="2">
                  <c:v>6</c:v>
                </c:pt>
                <c:pt idx="3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4.96"/>
          <c:min val="0.0"/>
        </c:scaling>
        <c:delete val="0"/>
        <c:axPos val="l"/>
        <c:majorGridlines>
          <c:spPr>
            <a:ln>
              <a:solidFill>
                <a:srgbClr val="D7E0EA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value</c:v>
                </c:pt>
              </c:strCache>
            </c:strRef>
          </c:tx>
          <c:dPt>
            <c:idx val="0"/>
            <c:spPr>
              <a:solidFill>
                <a:srgbClr val="1F6FEB"/>
              </a:solidFill>
              <a:ln>
                <a:solidFill>
                  <a:srgbClr val="1F6FEB"/>
                </a:solidFill>
              </a:ln>
            </c:spPr>
          </c:dPt>
          <c:dPt>
            <c:idx val="1"/>
            <c:spPr>
              <a:solidFill>
                <a:srgbClr val="6D3FD2"/>
              </a:solidFill>
              <a:ln>
                <a:solidFill>
                  <a:srgbClr val="6D3FD2"/>
                </a:solidFill>
              </a:ln>
            </c:spPr>
          </c:dPt>
          <c:dPt>
            <c:idx val="2"/>
            <c:spPr>
              <a:solidFill>
                <a:srgbClr val="10B981"/>
              </a:solidFill>
              <a:ln>
                <a:solidFill>
                  <a:srgbClr val="10B981"/>
                </a:solidFill>
              </a:ln>
            </c:spPr>
          </c:dPt>
          <c:dPt>
            <c:idx val="3"/>
            <c:spPr>
              <a:solidFill>
                <a:srgbClr val="16845B"/>
              </a:solidFill>
              <a:ln>
                <a:solidFill>
                  <a:srgbClr val="16845B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Detect</c:v>
                </c:pt>
                <c:pt idx="1">
                  <c:v>Triage</c:v>
                </c:pt>
                <c:pt idx="2">
                  <c:v>Remediate</c:v>
                </c:pt>
                <c:pt idx="3">
                  <c:v>Verify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28</c:v>
                </c:pt>
                <c:pt idx="2">
                  <c:v>41</c:v>
                </c:pt>
                <c:pt idx="3">
                  <c:v>19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8.379999999999995"/>
          <c:min val="0.0"/>
        </c:scaling>
        <c:delete val="0"/>
        <c:axPos val="l"/>
        <c:majorGridlines>
          <c:spPr>
            <a:ln>
              <a:solidFill>
                <a:srgbClr val="D7E0EA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s.tertiaryinfotech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656" y="1405170"/>
            <a:ext cx="6720840" cy="378248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456" y="384048"/>
            <a:ext cx="676656" cy="676656"/>
          </a:xfrm>
          <a:prstGeom prst="rect">
            <a:avLst/>
          </a:prstGeom>
        </p:spPr>
      </p:pic>
      <p:pic>
        <p:nvPicPr>
          <p:cNvPr id="5" name="Picture 4" descr="microsoft-certified-associate-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4992" y="347472"/>
            <a:ext cx="786384" cy="786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1417320"/>
            <a:ext cx="4160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SLIDES · WSQ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847088"/>
            <a:ext cx="4626864" cy="15361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161B26"/>
                </a:solidFill>
                <a:latin typeface="Arial"/>
              </a:rPr>
              <a:t>Microsoft Certified Endpoint Administrator Associate (MD-102)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657600"/>
            <a:ext cx="42976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Course Code: TGS-2024042603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087368"/>
            <a:ext cx="4297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Version v3.1 · 25 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800600"/>
            <a:ext cx="429768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Tertiary Infotech Academy Pte Ltd
UEN: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760720"/>
            <a:ext cx="438912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Aligned to MD-102 skills measured 24 July 2026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21408"/>
            <a:ext cx="960120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587752"/>
            <a:ext cx="9326880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Welcome and course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584448"/>
            <a:ext cx="932688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Briefing · evidence expectations · assessment · learner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73152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COURSE CONTROL ·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with TRAQOM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29718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56816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 Singpass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Singpass app when the trainer announces attendance.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82296" cy="297180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956816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Scan the session QR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the correct course, date and session before submission.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737360"/>
            <a:ext cx="82296" cy="2971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1956816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Verify recorded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Show the trainer the success state if attendance does not appear.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737360"/>
            <a:ext cx="82296" cy="297180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1956816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Escalate early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Resolve attendance exceptions during the session, not after course completion.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04748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047488"/>
            <a:ext cx="91440" cy="10058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15721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REMEMBER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6811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Digital attendance appears again at the close so every session is reconciled.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TRAINER PROFILE · TEMPLATE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Trainer profile template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29718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56816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Name and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Insert the assigned trainer's name, current role and delivery responsibility.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82296" cy="297180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956816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Endpoint expertise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Summarize Intune, Entra, Windows, Defender and automation experience.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737360"/>
            <a:ext cx="82296" cy="2971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1956816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Credentials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List only current, verifiable certifications and assessor credentials.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737360"/>
            <a:ext cx="82296" cy="297180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1956816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Contact protocol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State the approved course support and escalation channel.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04748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047488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15721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REMEMBER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6811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Replace the template only when the named trainer has been confirmed.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TRAINER PROFILE · NAMED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Trainer profile: Dr Alfred Ang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29718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56816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Course leadership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Technical courseware architect and trainer for cloud, AI and enterprise administration.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82296" cy="297180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956816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Delivery focus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Mechanism-led instruction, reproducible labs and evidence-based troubleshooting.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737360"/>
            <a:ext cx="82296" cy="2971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1956816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Learner support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Clarify concepts during class; use the approved support channel after class.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737360"/>
            <a:ext cx="82296" cy="297180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1956816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Assessment boundary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Training support does not disclose model answers during assessment.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04748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047488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15721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REMEMBER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6811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Ask for the evidence behind a conclusion: state, log, report, timestamp and interpretation.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WSQ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 and assessed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29718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56816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Administer complex security programs and analyze system-update impacts on Microsoft Endpoint administration.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82296" cy="297180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956816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Perform Microsoft Endpoint system administration and configure authentication to protect against security threats.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737360"/>
            <a:ext cx="82296" cy="2971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1956816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Troubleshoot Microsoft Endpoint security issues and assist users in defining access rights.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737360"/>
            <a:ext cx="82296" cy="297180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1956816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Coordinate advanced access-control rights and investigate unauthorized-access incidents on Microsoft Endpoint systems.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SECURITY ADMINISTRATION · ICT-OUS-3012-1.1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TSC knowledge and ability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29718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56816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K1 · K4 · A1 · A3
Infrastructure, complex administration and security mechanisms.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82296" cy="297180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956816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K2 · K4 · A2 · A4
Configuration, updates, authentication and protection.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737360"/>
            <a:ext cx="82296" cy="2971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1956816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K3 · A5 · A6
Troubleshooting, validation and user access clarification.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737360"/>
            <a:ext cx="82296" cy="297180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1956816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K5 · A7 · A8
Escalated access control and unauthorized-access investigation.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5 DAYS · 40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roadmap: five connected operating loops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29718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56816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Day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Infrastructure and identity
Prepare infrastructure; Entra identity; enrollment; scoped administration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82296" cy="297180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956816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Day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Device deployment and configuration
Compliance and access; Autopilot; Windows 365; configuration targeting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737360"/>
            <a:ext cx="82296" cy="2971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1956816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Day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Endpoint protection and updates
Defender; BitLocker; firewall; ASR; baselines; update operations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737360"/>
            <a:ext cx="82296" cy="297180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1956816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Day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Application lifecycle and data protection
Win32 and Microsoft 365 Apps; MAM; app configuration; troubleshooting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04748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047488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15721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REMEMBER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6811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Day 5 closes the loop with automation, monitoring, remediation and incident investigation.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SKILLS MEASURED · 24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Current MD-102 exam blueprint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04672" y="1627632"/>
          <a:ext cx="49834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126480" y="1627632"/>
            <a:ext cx="5166360" cy="603504"/>
          </a:xfrm>
          <a:prstGeom prst="rect">
            <a:avLst/>
          </a:prstGeom>
          <a:solidFill>
            <a:srgbClr val="F5F8FC"/>
          </a:solidFill>
          <a:ln w="635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91440" cy="60350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719072"/>
            <a:ext cx="3401568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Prepare infrastructure for devices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94392" y="1719072"/>
            <a:ext cx="9601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40" b="1">
                <a:solidFill>
                  <a:srgbClr val="1F6FEB"/>
                </a:solidFill>
                <a:latin typeface="Arial"/>
              </a:rPr>
              <a:t>20–25%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377440"/>
            <a:ext cx="5166360" cy="603504"/>
          </a:xfrm>
          <a:prstGeom prst="rect">
            <a:avLst/>
          </a:prstGeom>
          <a:solidFill>
            <a:srgbClr val="F5F8FC"/>
          </a:solidFill>
          <a:ln w="635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377440"/>
            <a:ext cx="91440" cy="603504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468880"/>
            <a:ext cx="3401568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Manage and maintain devices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94392" y="2468880"/>
            <a:ext cx="9601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40" b="1">
                <a:solidFill>
                  <a:srgbClr val="6D3FD2"/>
                </a:solidFill>
                <a:latin typeface="Arial"/>
              </a:rPr>
              <a:t>25–30%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127248"/>
            <a:ext cx="5166360" cy="603504"/>
          </a:xfrm>
          <a:prstGeom prst="rect">
            <a:avLst/>
          </a:prstGeom>
          <a:solidFill>
            <a:srgbClr val="F5F8FC"/>
          </a:solidFill>
          <a:ln w="635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127248"/>
            <a:ext cx="91440" cy="603504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218688"/>
            <a:ext cx="3401568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Protect devices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94392" y="3218688"/>
            <a:ext cx="9601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40" b="1">
                <a:solidFill>
                  <a:srgbClr val="108A73"/>
                </a:solidFill>
                <a:latin typeface="Arial"/>
              </a:rPr>
              <a:t>15–20%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3877056"/>
            <a:ext cx="5166360" cy="603504"/>
          </a:xfrm>
          <a:prstGeom prst="rect">
            <a:avLst/>
          </a:prstGeom>
          <a:solidFill>
            <a:srgbClr val="F5F8FC"/>
          </a:solidFill>
          <a:ln w="635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877056"/>
            <a:ext cx="91440" cy="603504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968496"/>
            <a:ext cx="3401568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Manage and secure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94392" y="3968496"/>
            <a:ext cx="9601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40" b="1">
                <a:solidFill>
                  <a:srgbClr val="C77600"/>
                </a:solidFill>
                <a:latin typeface="Arial"/>
              </a:rPr>
              <a:t>15–20%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626864"/>
            <a:ext cx="5166360" cy="603504"/>
          </a:xfrm>
          <a:prstGeom prst="rect">
            <a:avLst/>
          </a:prstGeom>
          <a:solidFill>
            <a:srgbClr val="F5F8FC"/>
          </a:solidFill>
          <a:ln w="635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4626864"/>
            <a:ext cx="91440" cy="603504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718303"/>
            <a:ext cx="3401568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Optimize endpoint operations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94392" y="4718303"/>
            <a:ext cx="9601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40" b="1">
                <a:solidFill>
                  <a:srgbClr val="C2413A"/>
                </a:solidFill>
                <a:latin typeface="Arial"/>
              </a:rPr>
              <a:t>10–15%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19379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5193792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30352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61441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largest single domain is device management, but exam readiness depends on tracing identity, policy, security, apps and operations as one system.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COURSE PORTAL · VISUAL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the course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64208"/>
            <a:ext cx="674827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664208"/>
            <a:ext cx="6748272" cy="475488"/>
          </a:xfrm>
          <a:prstGeom prst="rect">
            <a:avLst/>
          </a:prstGeom>
          <a:solidFill>
            <a:srgbClr val="F5F8FC"/>
          </a:solidFill>
          <a:ln w="635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7552" y="1810512"/>
            <a:ext cx="109728" cy="109728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43584" y="1810512"/>
            <a:ext cx="109728" cy="10972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99616" y="1810512"/>
            <a:ext cx="109728" cy="10972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01952" y="1783080"/>
            <a:ext cx="4892040" cy="2286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48256" y="1819656"/>
            <a:ext cx="4526280" cy="137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lms-tms.tertiaryinfotech.com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423160"/>
            <a:ext cx="14173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My Courses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60" y="2834640"/>
            <a:ext cx="6053328" cy="923544"/>
          </a:xfrm>
          <a:prstGeom prst="rect">
            <a:avLst/>
          </a:prstGeom>
          <a:solidFill>
            <a:srgbClr val="F5F8FC"/>
          </a:solidFill>
          <a:ln w="635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3017520"/>
            <a:ext cx="4242816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Microsoft Certified Endpoint Administrator Associate (MD-102)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3560" y="3026664"/>
            <a:ext cx="1188720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41848" y="3108960"/>
            <a:ext cx="1152144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OPEN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4041648"/>
            <a:ext cx="605332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8448" y="4279392"/>
            <a:ext cx="4608576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Trainer slides · Learner slides · Learner Guide · Lesson Plan · Labs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23560" y="4352544"/>
            <a:ext cx="1188720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41848" y="4434840"/>
            <a:ext cx="1152144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DOWNLOAD</a:t>
            </a:r>
          </a:p>
        </p:txBody>
      </p:sp>
      <p:sp>
        <p:nvSpPr>
          <p:cNvPr id="25" name="Oval 24"/>
          <p:cNvSpPr/>
          <p:nvPr/>
        </p:nvSpPr>
        <p:spPr>
          <a:xfrm>
            <a:off x="7973568" y="1792224"/>
            <a:ext cx="475488" cy="47548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73568" y="1892808"/>
            <a:ext cx="47548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68512" y="1737360"/>
            <a:ext cx="221284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Sign 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68512" y="2029968"/>
            <a:ext cx="24871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the course account provided.</a:t>
            </a:r>
          </a:p>
        </p:txBody>
      </p:sp>
      <p:sp>
        <p:nvSpPr>
          <p:cNvPr id="29" name="Oval 28"/>
          <p:cNvSpPr/>
          <p:nvPr/>
        </p:nvSpPr>
        <p:spPr>
          <a:xfrm>
            <a:off x="7973568" y="2770632"/>
            <a:ext cx="475488" cy="47548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73568" y="2871216"/>
            <a:ext cx="47548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8512" y="2715768"/>
            <a:ext cx="221284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Open this course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8512" y="3008376"/>
            <a:ext cx="24871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Confirm code TGS-2024042603.</a:t>
            </a:r>
          </a:p>
        </p:txBody>
      </p:sp>
      <p:sp>
        <p:nvSpPr>
          <p:cNvPr id="33" name="Oval 32"/>
          <p:cNvSpPr/>
          <p:nvPr/>
        </p:nvSpPr>
        <p:spPr>
          <a:xfrm>
            <a:off x="7973568" y="3749039"/>
            <a:ext cx="475488" cy="47548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73568" y="3849624"/>
            <a:ext cx="47548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68512" y="3694176"/>
            <a:ext cx="221284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Download current files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68512" y="3986784"/>
            <a:ext cx="24871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 PPTX for trainer slides; PDF for learner slides.</a:t>
            </a:r>
          </a:p>
        </p:txBody>
      </p:sp>
      <p:sp>
        <p:nvSpPr>
          <p:cNvPr id="37" name="Oval 36"/>
          <p:cNvSpPr/>
          <p:nvPr/>
        </p:nvSpPr>
        <p:spPr>
          <a:xfrm>
            <a:off x="7973568" y="4727448"/>
            <a:ext cx="475488" cy="47548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73568" y="4828032"/>
            <a:ext cx="47548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68512" y="4672584"/>
            <a:ext cx="221284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Keep versions together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68512" y="4965192"/>
            <a:ext cx="24871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Do not mix archived and current files.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BRIEFING BEFORE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briefing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29718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56816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Written Assessment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5 open-ended questions · K1–K5 · 60 minutes · open book.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82296" cy="297180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956816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Practical 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6 connected tasks · A1–A8 · 60 minutes · evidence required.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737360"/>
            <a:ext cx="82296" cy="2971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1956816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Submission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the supplied document and upload it to lms-tms.tertiaryinfotech.com.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737360"/>
            <a:ext cx="82296" cy="297180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1956816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Competency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Address every criterion and demonstrate the required evidence state.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WA → PP →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 and sign-off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938528"/>
            <a:ext cx="1874519" cy="288036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93852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331720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450592"/>
            <a:ext cx="74980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273552"/>
            <a:ext cx="158191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776472"/>
            <a:ext cx="158191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5 SAQs
K1–K5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383280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938528"/>
            <a:ext cx="1874519" cy="288036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93852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331720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450592"/>
            <a:ext cx="74980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273552"/>
            <a:ext cx="158191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776472"/>
            <a:ext cx="158191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All knowledge
criteria covered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383280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938528"/>
            <a:ext cx="1874519" cy="288036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93852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331720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450592"/>
            <a:ext cx="74980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273552"/>
            <a:ext cx="158191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776472"/>
            <a:ext cx="158191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6 tasks
A1–A8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383280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938528"/>
            <a:ext cx="1874519" cy="288036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93852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331720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450592"/>
            <a:ext cx="74980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273552"/>
            <a:ext cx="158191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Assessor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776472"/>
            <a:ext cx="158191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Evidence and
explanation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383280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938528"/>
            <a:ext cx="1874519" cy="288036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93852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331720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450592"/>
            <a:ext cx="74980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273552"/>
            <a:ext cx="158191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Sign-off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776472"/>
            <a:ext cx="158191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 or NYC
recorded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507492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507492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18464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SUBMISSION RULE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49554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papers go to the LMS. Answer keys remain trainer-only and are never linked from the learner record.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EXAMS.TERTIARYINFOTECH.COM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Practice Exam: MD-102 readiness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64208"/>
            <a:ext cx="66294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664208"/>
            <a:ext cx="6629400" cy="475488"/>
          </a:xfrm>
          <a:prstGeom prst="rect">
            <a:avLst/>
          </a:prstGeom>
          <a:solidFill>
            <a:srgbClr val="F5F8FC"/>
          </a:solidFill>
          <a:ln w="635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1792224"/>
            <a:ext cx="3246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MD-102 Practice Portal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2505456"/>
            <a:ext cx="5980176" cy="1005840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6736" y="2734056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Practice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761488"/>
            <a:ext cx="27432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Feedback after each question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3767328"/>
            <a:ext cx="5980176" cy="1005840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995928"/>
            <a:ext cx="2057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Exam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023360"/>
            <a:ext cx="27432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Timed set with end-of-attempt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" y="5065776"/>
            <a:ext cx="2971800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5148072"/>
            <a:ext cx="29260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  <a:hlinkClick r:id="rId2"/>
              </a:rPr>
              <a:t>https://exams.tertiaryinfotech.com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26679" y="1664208"/>
            <a:ext cx="3566160" cy="786384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26679" y="1664208"/>
            <a:ext cx="73152" cy="786384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4423" y="1746504"/>
            <a:ext cx="1078992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19" y="1746504"/>
            <a:ext cx="20391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30" b="0">
                <a:solidFill>
                  <a:srgbClr val="5B6372"/>
                </a:solidFill>
                <a:latin typeface="Arial"/>
              </a:rPr>
              <a:t>Take one timed attempt before revision.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26679" y="2624328"/>
            <a:ext cx="3566160" cy="786384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26679" y="2624328"/>
            <a:ext cx="73152" cy="786384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2706624"/>
            <a:ext cx="1078992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Gap 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19" y="2706624"/>
            <a:ext cx="20391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30" b="0">
                <a:solidFill>
                  <a:srgbClr val="5B6372"/>
                </a:solidFill>
                <a:latin typeface="Arial"/>
              </a:rPr>
              <a:t>Tag every miss to a current domain and objective.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26679" y="3584448"/>
            <a:ext cx="3566160" cy="786384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26679" y="3584448"/>
            <a:ext cx="73152" cy="78638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3666744"/>
            <a:ext cx="1078992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Retest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19" y="3666744"/>
            <a:ext cx="20391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30" b="0">
                <a:solidFill>
                  <a:srgbClr val="5B6372"/>
                </a:solidFill>
                <a:latin typeface="Arial"/>
              </a:rPr>
              <a:t>Repeat after the linked lab and evidence review.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26679" y="4544568"/>
            <a:ext cx="3566160" cy="786384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26679" y="4544568"/>
            <a:ext cx="73152" cy="786384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64423" y="4626864"/>
            <a:ext cx="1078992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6845B"/>
                </a:solidFill>
                <a:latin typeface="Arial"/>
              </a:rPr>
              <a:t>Exam judgment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19" y="4626864"/>
            <a:ext cx="20391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30" b="0">
                <a:solidFill>
                  <a:srgbClr val="5B6372"/>
                </a:solidFill>
                <a:latin typeface="Arial"/>
              </a:rPr>
              <a:t>Choose the control that satisfies the stated constraint with least privilege.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PRACTICE ·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evidence standard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29718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56816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Configured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policy, assignment, script or control values.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82296" cy="297180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956816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Observed 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device/service result and its timestamp.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737360"/>
            <a:ext cx="82296" cy="2971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1956816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Diagnosis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Tie the failure to an error, log, report or absent state.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737360"/>
            <a:ext cx="82296" cy="297180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1956816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Retest and prove the expected state after correction.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04748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047488"/>
            <a:ext cx="91440" cy="10058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15721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REMEMBER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6811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 screenshot without context is not evidence; pair it with the object, state, time and interpretation.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TECHNICAL 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environment and tools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29718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56816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Microsoft 365 tenant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Intune and Entra permissions appropriate to each lab role.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82296" cy="297180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956816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Windows test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Windows 11 VM or approved test endpoint; do not use production devices.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737360"/>
            <a:ext cx="82296" cy="2971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1956816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Command tools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PowerShell 7, Microsoft Graph PowerShell SDK, Windows Terminal and browser.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737360"/>
            <a:ext cx="82296" cy="297180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1956816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 workspace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Individual lab folder with starter, solution and evidence subfolders.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TECHNICAL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Source currency and exam alignment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29718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56816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Study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Skills measured as of 24 July 2026; five weighted domains.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82296" cy="297180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956816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Microsoft Learn course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MD-102T00-A · 5 days · Intune-centred endpoint operations.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737360"/>
            <a:ext cx="82296" cy="2971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1956816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MicrosoftLearning labs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Adapted from repository commit 25eaad2a.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737360"/>
            <a:ext cx="82296" cy="297180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1956816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Registration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40-hour accredited course; four WSQ outcomes and two assessment hours.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04748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047488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15721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REMEMBER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6811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When a secondary guide disagrees with the current Microsoft study guide, the official study guide wins.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21408"/>
            <a:ext cx="960120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DAY 1 · 8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587752"/>
            <a:ext cx="9326880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Infrastructure and identity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584448"/>
            <a:ext cx="932688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Prepare infrastructure; Entra identity; enrollment; scoped administration · 20–25% · LO1 · K1 · K4 · A1 · A3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73152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NATIVE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Prepare infrastructure for devices — indicative operational signal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41248" y="1682496"/>
          <a:ext cx="740664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8522208" y="1682496"/>
            <a:ext cx="2852928" cy="34290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33104" y="1965960"/>
            <a:ext cx="2231136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1F6FEB"/>
                </a:solidFill>
                <a:latin typeface="Arial"/>
              </a:rPr>
              <a:t>20–25%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3104" y="2615184"/>
            <a:ext cx="223113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5B6372"/>
                </a:solidFill>
                <a:latin typeface="Arial"/>
              </a:rPr>
              <a:t>CURRENT EXAM WEIGHT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3104" y="3172968"/>
            <a:ext cx="223113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3104" y="3584448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K1 · K4 · A1 · A3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33104" y="4416552"/>
            <a:ext cx="223113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77600"/>
                </a:solidFill>
                <a:latin typeface="Arial"/>
              </a:rPr>
              <a:t>Indicative teaching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157216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157216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266944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577840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Enrollment funnels expose loss between identity, discovery and compliance.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MECHANISM VISUAL · ANNOTATED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Zero Trust joins identity, device and access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  <p:pic>
        <p:nvPicPr>
          <p:cNvPr id="9" name="Picture 8" descr="md102-zero-trust-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65665"/>
            <a:ext cx="7452360" cy="419418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275320" y="1645920"/>
            <a:ext cx="3127248" cy="813816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75320" y="1645920"/>
            <a:ext cx="73152" cy="8138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13064" y="1737360"/>
            <a:ext cx="259689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>
                <a:solidFill>
                  <a:srgbClr val="1F6FEB"/>
                </a:solidFill>
                <a:latin typeface="Arial"/>
              </a:rPr>
              <a:t>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13064" y="2011680"/>
            <a:ext cx="2596896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30" b="0">
                <a:solidFill>
                  <a:srgbClr val="5B6372"/>
                </a:solidFill>
                <a:latin typeface="Arial"/>
              </a:rPr>
              <a:t>Who is requesting access?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5320" y="2633472"/>
            <a:ext cx="3127248" cy="813816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2633472"/>
            <a:ext cx="73152" cy="8138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13064" y="2724912"/>
            <a:ext cx="259689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>
                <a:solidFill>
                  <a:srgbClr val="6D3FD2"/>
                </a:solidFill>
                <a:latin typeface="Arial"/>
              </a:rPr>
              <a:t>Device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2999232"/>
            <a:ext cx="2596896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30" b="0">
                <a:solidFill>
                  <a:srgbClr val="5B6372"/>
                </a:solidFill>
                <a:latin typeface="Arial"/>
              </a:rPr>
              <a:t>What join and management state exists?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5320" y="3621024"/>
            <a:ext cx="3127248" cy="813816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20" y="3621024"/>
            <a:ext cx="73152" cy="8138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712463"/>
            <a:ext cx="259689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>
                <a:solidFill>
                  <a:srgbClr val="10B981"/>
                </a:solidFill>
                <a:latin typeface="Arial"/>
              </a:rPr>
              <a:t>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3986784"/>
            <a:ext cx="2596896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30" b="0">
                <a:solidFill>
                  <a:srgbClr val="5B6372"/>
                </a:solidFill>
                <a:latin typeface="Arial"/>
              </a:rPr>
              <a:t>Does the endpoint meet policy?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75320" y="4608576"/>
            <a:ext cx="3127248" cy="813816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75320" y="4608576"/>
            <a:ext cx="73152" cy="813816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13064" y="4700016"/>
            <a:ext cx="259689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>
                <a:solidFill>
                  <a:srgbClr val="16845B"/>
                </a:solidFill>
                <a:latin typeface="Arial"/>
              </a:rPr>
              <a:t>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13064" y="4974336"/>
            <a:ext cx="2596896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30" b="0">
                <a:solidFill>
                  <a:srgbClr val="5B6372"/>
                </a:solidFill>
                <a:latin typeface="Arial"/>
              </a:rPr>
              <a:t>What current threat signal changes the decision?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925312"/>
            <a:ext cx="73152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Concept illustration generated for this course; labels and decision rules remain editable PowerPoint objects.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Choose the correct Microsoft Entra device identity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User sign-in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Primary refresh token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Registration 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Device object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Join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Registered · joined · hybrid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Token claims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deviceid · trustType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Access decision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Identity plus device state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1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Choose the correct Microsoft Entra device identity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Workplace join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AzureAdRegistered = YES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Cloud join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AzureAdJoined = 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Hybrid join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DomainJoined + AzureAdJoined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Verification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dsregcmd /status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CHOOSE THE CORRECT MICROSOFT ENTRA DEVICE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Workplace join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fleet-deployment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User sign-in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Workplace 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AzureAdRegistered = YES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Pending device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Check registration event log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Device State block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Join flags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Workplace join state is valid only when User sign-in produces Device State block; Pending device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CHOOSE THE CORRECT MICROSOFT ENTRA DEVICE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Cloud join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Cloud join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AzureAdJoined = YES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Registration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Device object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Wrong tenant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Inspect TenantId and DeviceId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SSO State block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AzureAdPrt = YES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Cloud join state is valid only when Registration service produces SSO State block; Wrong tenant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CHOOSE THE CORRECT MICROSOFT ENTRA DEVICE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Hybrid join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Join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Registered · joined · hybrid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Hybrid join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DomainJoined + AzureAdJoined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Missing PRT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Validate WAM and sign-in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Entra device record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Owner and trust type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Hybrid join state is valid only when Join state produces Entra device record; Missing PRT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CHOOSE THE CORRECT MICROSOFT ENTRA DEVICE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Verification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Token claims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deviceid · trustType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Verification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dsregcmd /status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Duplicate object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Reconcile stale registrations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Sign-in 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Device ID correlation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Verification state is valid only when Token claims produces Sign-in log; Duplicate object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Choose the correct Microsoft Entra device identity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Pending device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Check registration event log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Wrong tenant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Inspect TenantId and DeviceId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Missing PRT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Validate WAM and sign-in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Duplicate object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Reconcile stale registrations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CHOOSE THE CORRECT MICROSOFT ENTRA DEVICE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Pending device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Pending device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Registration service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Workplace join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Check registration event log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Device State block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Device State block shows Join flags;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CHOOSE THE CORRECT MICROSOFT ENTRA DEVICE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Wrong tenant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Wrong tenant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Join state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Cloud join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Inspect TenantId and DeviceId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AzureAdPrt = YES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SSO State block shows AzureAdPrt = YES;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CHOOSE THE CORRECT MICROSOFT ENTRA DEVICE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Missing PRT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Missing PRT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Token claims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Hybrid join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Validate WAM and sign-in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Entra device record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Entra device record shows Owner and trust type;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CHOOSE THE CORRECT MICROSOFT ENTRA DEVICE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Duplicate object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fleet-deployment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Access decision  |  SUSPECT · Verification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Duplicate object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Reconcile stale registrations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Sign-in log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Sign-in log shows Device ID correlation;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Choose the correct Microsoft Entra device identity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Device State block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Join flags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SSO State block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AzureAdPrt = YES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Entra device 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Owner and trust type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Sign-in log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Device ID correlation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LAB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Target policy with dynamic device groups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Device inventory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Extension attributes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Rule parser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Property operators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Membership engine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Asynchronous evaluation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Assignment resolver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Include and exclude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Policy service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Per-device applicability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1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Target policy with dynamic device groups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OS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device.deviceOSType -eq "Windows"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Ownership rule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device.deviceOwnership -eq "Company"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Autopilot rule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device.devicePhysicalIDs -any _ -contains "[ZTDId]"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Preview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Validate rules before save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TARGET POLICY WITH DYNAMIC DEVICE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OS rule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fleet-deployment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Device inventory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OS rule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device.deviceOSType -eq "Windows"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Invalid 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Use supported device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Rule syntax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Saved expression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OS rule state is valid only when Device inventory produces Rule syntax; Invalid property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TARGET POLICY WITH DYNAMIC DEVICE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Ownership rule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Ownership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device.deviceOwnership -eq "Company"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Rule 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Property operators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Slow membership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Check processing status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Preview result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Expected devices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Ownership rule state is valid only when Rule parser produces Preview result; Slow membership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TARGET POLICY WITH DYNAMIC DEVICE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Autopilot rule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Membership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Asynchronous evaluation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Autopilot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device.devicePhysicalIDs -any _ -contains "[ZTDId]"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Nested group assumption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Dynamic groups do not use nested evaluation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Membership audit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Added/removed objects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Autopilot rule state is valid only when Membership engine produces Membership audit; Nested group assumption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TARGET POLICY WITH DYNAMIC DEVICE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Preview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Assignment resolver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Include and exclude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Validate rules before save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Broad targeting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Test with a preview cohort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Assignment 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Policy reached cohort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Preview state is valid only when Assignment resolver produces Assignment status; Broad targeting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Target policy with dynamic device groups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Invalid property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Use supported device schema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Slow membership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Check processing status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Nested group assumption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Dynamic groups do not use nested evaluation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Broad targeting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Test with a preview cohort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TARGET POLICY WITH DYNAMIC DEVICE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Invalid property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Invalid property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Rule parser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OS rule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Use supported device schema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Rule syntax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Rule syntax shows Saved expression;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TARGET POLICY WITH DYNAMIC DEVICE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Slow membership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Slow membership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Membership engine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Ownership rule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Check processing status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Expected devices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Preview result shows Expected devices;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TARGET POLICY WITH DYNAMIC DEVICE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Nested group assumption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Nested group assumption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Assignment resolver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Autopilot rule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Dynamic groups do not use nested evaluation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Membership audit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Membership audit shows Added/removed objects;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TARGET POLICY WITH DYNAMIC DEVICE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Broad targeting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fleet-deployment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Policy service  |  SUSPECT · Preview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Broad targeting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Test with a preview cohort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Assignment status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Assignment status shows Policy reached cohort;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Target policy with dynamic device groups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Rule syntax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Saved expression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Preview 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Expected devices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Membership audit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Added/removed objects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Assignment status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Policy reached cohort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LAB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Configure Windows automatic enrollment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Licensed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Intune entitlement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MDM user scope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Enrollment authority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Entra join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Discovery URL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Enrollment client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Certificate request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Intune record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Managed device object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2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Configure Windows automatic enrollment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MDM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Some or 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Discovery URL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EnterpriseEnrollment.manage.microsoft.com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Enrollment 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dsregcmd /status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Diagnostics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MDMDiagReport.html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CONFIGURE WINDOWS AUTOMATIC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MDM scope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fleet-deployment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Licensed user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MDM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Some or 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Scope excludes user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Review MDM user scope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ManagedBy value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Intune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MDM scope state is valid only when Licensed user produces ManagedBy value; Scope excludes user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CONFIGURE WINDOWS AUTOMATIC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Discovery URL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Discovery URL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EnterpriseEnrollment.manage.microsoft.com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MDM user scope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Enrollment authority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License missing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Assign Intune entitlement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Enrollment certificate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MS-Organization-Access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Discovery URL state is valid only when MDM user scope produces Enrollment certificate; License missing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CONFIGURE WINDOWS AUTOMATIC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Enrollment status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Entra join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Discovery URL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Enrollment status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dsregcmd /status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Stale enrollment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Inspect scheduled tasks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Event 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DeviceManagement-Enterprise-Diagnostics-Provider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Enrollment status state is valid only when Entra join produces Event log; Stale enrollment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CONFIGURE WINDOWS AUTOMATIC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Diagnostics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Enrollment 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Certificate request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Diagnostics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MDMDiagReport.html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Network block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Test enrollment endpoints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Intune record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Last check-in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Diagnostics state is valid only when Enrollment client produces Intune record; Network block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Configure Windows automatic enrollment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Scope excludes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Review MDM user scope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License missing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Assign Intune entitlement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Stale enrollment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Inspect scheduled tasks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Network block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Test enrollment endpoints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CONFIGURE WINDOWS AUTOMATIC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Scope excludes user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Scope excludes user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MDM user scope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MDM scope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Review MDM user scope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ManagedBy value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ManagedBy value shows Intune;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CONFIGURE WINDOWS AUTOMATIC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License missing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License missing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Entra join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Discovery URL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Assign Intune entitlement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MS-Organization-Access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Enrollment certificate shows MS-Organization-Access;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CONFIGURE WINDOWS AUTOMATIC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Stale enrollment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Stale enrollment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Enrollment client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Enrollment status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Inspect scheduled tasks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Event log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Event log shows DeviceManagement-Enterprise-Diagnostics-Provider;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CONFIGURE WINDOWS AUTOMATIC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block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fleet-deployment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Intune record  |  SUSPECT · Diagnostics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Network block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Test enrollment endpoints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Intune record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Intune record shows Last check-in;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Configure Windows automatic enrollment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ManagedBy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Intune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Enrollment certificate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MS-Organization-Access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Event 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DeviceManagement-Enterprise-Diagnostics-Provider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Intune record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Last check-in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LAB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multi-platform enrollment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Platform authority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Apple · Google · Samsung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Enrollment 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Profile or QR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Ownership signal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Corporate or personal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Restriction evaluation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Platform + OS limits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Managed record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Compliance-capable device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2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multi-platform enrollment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Apple corporate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ABM automated enrollment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Android corporate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Fully managed or corporate work profile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Android shared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Dedicated device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Restriction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Block personal where required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CONTROL MULTI-PLATFORM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Apple corporate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fleet-deployment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Platform authority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Apple corporate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ABM automated enrollment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Expired token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Renew before service impact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Token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Active and unexpired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Apple corporate state is valid only when Platform authority produces Token status; Expired token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CONTROL MULTI-PLATFORM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Android corporate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Android corporate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Fully managed or corporate work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Enrollment token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Profile or QR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Wrong ownership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Use corporate identifiers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Enrollment profile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Assigned devices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Android corporate state is valid only when Enrollment token produces Enrollment profile; Wrong ownership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CONTROL MULTI-PLATFORM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Android shared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Ownership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Corporate or personal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Android shared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Dedicated device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Unsupported 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Check minimum version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Ownership field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Corporate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Android shared state is valid only when Ownership signal produces Ownership field; Unsupported OS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CONTROL MULTI-PLATFORM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Restriction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Restriction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Platform + OS limits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Restriction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Block personal where required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Profile conflict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Verify one intended enrollment path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Platform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Enrollment success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Restriction state is valid only when Restriction evaluation produces Platform report; Profile conflict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Control multi-platform enrollment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Expired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Renew before service impact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Wrong ownership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Use corporate identifiers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Unsupported 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Check minimum version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Profile conflict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Verify one intended enrollment path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CONTROL MULTI-PLATFORM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Expired token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Expired token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Enrollment token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Apple corporate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Renew before service impact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Token status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Token status shows Active and unexpired;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CONTROL MULTI-PLATFORM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Wrong ownership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Wrong ownership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Ownership signal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Android corporate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Use corporate identifiers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Assigned devices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Enrollment profile shows Assigned devices;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CONTROL MULTI-PLATFORM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Unsupported OS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Unsupported 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Restriction evaluation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Android shared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Check minimum version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Ownership field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Ownership field shows Corporate;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CONTROL MULTI-PLATFORM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Profile conflict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fleet-deployment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Managed record  |  SUSPECT · Restriction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Profile conflict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Verify one intended enrollment path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Platform report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Platform report shows Enrollment success;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Control multi-platform enrollment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Token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Active and unexpired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Enrollment profile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Assigned devices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Ownership field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Corporate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Platform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Enrollment success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LAB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901952"/>
            <a:ext cx="10835640" cy="265176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901952"/>
            <a:ext cx="128016" cy="26517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8448" y="2322576"/>
            <a:ext cx="8961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2761488"/>
            <a:ext cx="89611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3675887"/>
            <a:ext cx="89611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Return at the time announced by the trainer.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6858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Delegate Intune administration safely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Role definition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Permissions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Role assignment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Members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Scope group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Objects administered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Scope tag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Objects visible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Audit log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Accountability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1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Delegate Intune administration safely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Built-in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Least-privilege baseline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Custom role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Only required actions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Scope tag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Regional visibility boundary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Multi-admin approval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Second-person control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DELEGATE INTUNE ADMINISTRATION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Built-in role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fleet-deployment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Role definition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Built-in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Least-privilege baseline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Role too broad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Compare actions to task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Effective permissions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Expected actions only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Built-in role state is valid only when Role definition produces Effective permissions; Role too broad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DELEGATE INTUNE ADMINISTRATION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 role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Custom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Only required actions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Role assignment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Members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Empty scope group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Assignment has no reach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Visibility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Only tagged objects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Custom role state is valid only when Role assignment produces Visibility test; Empty scope group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DELEGATE INTUNE ADMINISTRATION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Scope tag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Scope group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Objects administered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Scope tag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Regional visibility boundary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Tag mismatch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Object not visible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Approval record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Requester and approver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Scope tag state is valid only when Scope group produces Approval record; Tag mismatch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DELEGATE INTUNE ADMINISTRATION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Multi-admin approval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Scope tag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Objects visible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Multi-admin approval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Second-person 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Approval deadlock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Maintain approver coverage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Audit event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Role change trace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Multi-admin approval state is valid only when Scope tag produces Audit event; Approval deadlock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Delegate Intune administration safely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Role too broad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Compare actions to task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Empty scope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Assignment has no reach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Tag mismatch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Object not visible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Approval deadlock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Maintain approver coverage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DELEGATE INTUNE ADMINISTRATION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Role too broad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Role too broad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Role assignment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Built-in role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Compare actions to task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Effective permissions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Effective permissions shows Expected actions only;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DELEGATE INTUNE ADMINISTRATION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Empty scope group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Empty scope group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Scope group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Custom role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Assignment has no reach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Only tagged objects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Visibility test shows Only tagged objects;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DELEGATE INTUNE ADMINISTRATION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Tag mismatch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Tag mismatch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Scope tag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Scope tag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Object not visible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Approval record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Approval record shows Requester and approver;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DELEGATE INTUNE ADMINISTRATION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Approval deadlock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fleet-deployment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Audit log  |  SUSPECT · Multi-admin approval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Approval deadlock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Maintain approver coverage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Audit event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Audit event shows Role change trace;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Delegate Intune administration safely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Effective permissions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Expected actions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Visibility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Only tagged objects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Approval 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Requester and approver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Audit event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Role change trace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LAB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Evaluate compliance before access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Device reports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Intune check-in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Compliance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Policy evaluation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Entra claim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isCompliant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Conditional Access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Grant control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Resource token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Allow or block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3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Evaluate compliance before access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Grace period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Controlled remediation window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Mark noncompliant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Immediate or delayed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CA grant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Require compliant device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Break-glass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Exclude emergency account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EVALUATE COMPLIANCE BEFORE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Grace period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fleet-deployment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Device reports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Grace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Controlled remediation window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Not evaluated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Check assignment and check-in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Per-setting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Failed condition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Grace period state is valid only when Device reports state produces Per-setting status; Not evaluated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EVALUATE COMPLIANCE BEFORE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Mark noncompliant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Mark noncompliant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Immediate or delayed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Compliance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Policy evaluation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False block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Inspect per-setting state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Device compliance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Timestamp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Mark noncompliant state is valid only when Compliance engine produces Device compliance; False block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EVALUATE COMPLIANCE BEFORE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 grant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Entra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isCompliant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 grant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Require compliant device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 lockout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Use report-only first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Grant control detail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CA grant state is valid only when Entra claim produces CA result; CA lockout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EVALUATE COMPLIANCE BEFORE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Break-glass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Conditional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Grant control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Break-glass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Exclude emergency account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Stale signal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Force sync and reassess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Sign-in correlation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User + device + policy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Break-glass state is valid only when Conditional Access produces Sign-in correlation; Stale signal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Evaluate compliance before access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Not evaluated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Check assignment and check-in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False block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Inspect per-setting state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CA lockout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Use report-only first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Stale signal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Force sync and reassess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EVALUATE COMPLIANCE BEFORE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Not evaluated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Not evaluated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Compliance engine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Grace period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Check assignment and check-in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Per-setting status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Per-setting status shows Failed condition;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EVALUATE COMPLIANCE BEFORE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False block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False block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Entra claim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Mark noncompliant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Inspect per-setting state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Timestamp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Device compliance shows Timestamp;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EVALUATE COMPLIANCE BEFORE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 lockout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CA lockout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Conditional Access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 grant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Use report-only first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CA result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CA result shows Grant control detail;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EVALUATE COMPLIANCE BEFORE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Stale signal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fleet-deployment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Resource token  |  SUSPECT · Break-glass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Stale signal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Force sync and reassess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Sign-in correlation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Sign-in correlation shows User + device + policy;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Evaluate compliance before access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Per-setting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Failed condition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Device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Timestamp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 result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Grant control detail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Sign-in correlation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User + device + policy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LAB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901952"/>
            <a:ext cx="10835640" cy="265176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901952"/>
            <a:ext cx="128016" cy="26517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8448" y="2322576"/>
            <a:ext cx="8961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2761488"/>
            <a:ext cx="89611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3675887"/>
            <a:ext cx="89611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Return at the time announced by the trainer.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6858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Deploy Windows Hello for Business and Windows LAPS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Identity bootstrap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MFA proof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Key provisioning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TPM-backed credential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Policy delivery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Cloud Kerberos trust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Local admin rotation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LAPS policy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Recovery access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Audited retrieval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3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Deploy Windows Hello for Business and Windows LAPS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WHfB trust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Cloud Kerberos trust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PIN policy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Length and anti-spoofing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LAPS backup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Microsoft Entra ID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Rotation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After-use password reset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DEPLOY WINDOWS HELLO FOR BUSINESS AND WINDOWS 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WHfB trust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fleet-deployment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Identity bootstrap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WHfB trust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Cloud Kerberos trust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Provisioning blocked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Check tenant and device prerequisites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WHfB container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certutil -DeleteHelloContainer for reset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WHfB trust state is valid only when Identity bootstrap produces WHfB container; Provisioning blocked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DEPLOY WINDOWS HELLO FOR BUSINESS AND WINDOWS 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PIN policy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PIN 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Length and anti-spoofing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Key provisioning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TPM-backed credential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TPM unavailable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Review attestation and policy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dsregcmd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NgcSet = YES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PIN policy state is valid only when Key provisioning produces dsregcmd; TPM unavailable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DEPLOY WINDOWS HELLO FOR BUSINESS AND WINDOWS 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LAPS backup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Policy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Cloud Kerberos trust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LAPS backup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Microsoft Entra ID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Password not backed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Inspect LAPS event log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LAPS 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Password backup timestamp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LAPS backup state is valid only when Policy delivery produces LAPS status; Password not backed up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DEPLOY WINDOWS HELLO FOR BUSINESS AND WINDOWS 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Rotation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Local admin rotation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LAPS policy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After-use password reset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Overprivileged retrieval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Restrict role and audit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Audit 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Password retrieval actor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Rotation state is valid only when Local admin rotation produces Audit log; Overprivileged retrieval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Deploy Windows Hello for Business and Windows LAPS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Provisioning blocked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Check tenant and device prerequisites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TPM unavailable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Review attestation and policy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Password not backed 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Inspect LAPS event log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Overprivileged retrieval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Restrict role and audit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DEPLOY WINDOWS HELLO FOR BUSINESS AND WINDOWS 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Provisioning blocked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102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Provisioning blocked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Key provisioning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WHfB trust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Check tenant and device prerequisites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WHfB container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WHfB container shows certutil -DeleteHelloContainer for reset;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DEPLOY WINDOWS HELLO FOR BUSINESS AND WINDOWS 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TPM unavailable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103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TPM unavailable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Policy delivery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PIN policy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Review attestation and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NgcSet = YES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dsregcmd shows NgcSet = YES;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DEPLOY WINDOWS HELLO FOR BUSINESS AND WINDOWS 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Password not backed up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Password not backed 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Local admin rotation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LAPS backup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Inspect LAPS event log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LAPS status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LAPS status shows Password backup timestamp;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DEPLOY WINDOWS HELLO FOR BUSINESS AND WINDOWS 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Overprivileged retrieval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fleet-deployment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Recovery access  |  SUSPECT · Rotation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Overprivileged retrieval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Restrict role and audit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Audit log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Audit log shows Password retrieval actor;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Deploy Windows Hello for Business and Windows LAPS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106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WHfB container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certutil -DeleteHelloContainer for reset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dsregcmd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NgcSet = YES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LAPS 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Password backup timestamp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Audit log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Password retrieval actor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LAB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Troubleshoot enrollment as an evidence chain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107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User eligibility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License and scope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Device eligibility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Platform and ownership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Discovery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MDM endpoints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Client 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Enrollment task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Service record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Managed device state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2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Troubleshoot enrollment as an evidence chain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108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Local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MDMDiagReport.html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Event channel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Admin + Operational logs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Service 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Troubleshooting + support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Network test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Required endpoint reachability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TROUBLESHOOT ENROLLMENT AS AN EVIDENCE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Local report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fleet-deployment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User eligibility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Local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MDMDiagReport.html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0x80180014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Personal Windows blocked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Error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Exact HRESULT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Local report state is valid only when User eligibility produces Error code; 0x80180014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TROUBLESHOOT ENROLLMENT AS AN EVIDENCE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Event channel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110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Event channel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Admin + Operational logs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Device eligibility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Platform and ownership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0x80180018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User not authorized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Correlation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Service-side trace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Event channel state is valid only when Device eligibility produces Correlation ID; 0x80180018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TROUBLESHOOT ENROLLMENT AS AN EVIDENCE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 view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MDM endpoints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Service 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Troubleshooting + support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0x801c03f3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Device registration problem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Enrollment 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First failing stage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Service view state is valid only when Discovery produces Enrollment log; 0x801c03f3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TROUBLESHOOT ENROLLMENT AS AN EVIDENCE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test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Client execution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Enrollment task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Network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Required endpoint reachability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Duplicate serial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Retire stale record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Remediation retest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New successful record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Network test state is valid only when Client execution produces Remediation retest; Duplicate serial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Troubleshoot enrollment as an evidence chain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0x80180014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Personal Windows blocked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0x80180018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User not authorized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0x801c03f3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Device registration problem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Duplicate serial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Retire stale record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TROUBLESHOOT ENROLLMENT AS AN EVIDENCE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0x80180014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114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0x80180014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Device eligibility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Local report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Personal Windows blocked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Error code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Error code shows Exact HRESULT;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TROUBLESHOOT ENROLLMENT AS AN EVIDENCE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0x80180018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115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0x80180018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Discovery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Event channel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User not authorized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Service-side trace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Correlation ID shows Service-side trace;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TROUBLESHOOT ENROLLMENT AS AN EVIDENCE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0x801c03f3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0x801c03f3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Client execution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Service view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Device registration problem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Enrollment log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Enrollment log shows First failing stage;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TROUBLESHOOT ENROLLMENT AS AN EVIDENCE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Duplicate serial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fleet-deployment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Service record  |  SUSPECT · Network test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Duplicate serial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Retire stale record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Remediation retest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Remediation retest shows New successful record;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DOMAIN 1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Troubleshoot enrollment as an evidence chain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Error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Exact HRESULT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Correlation 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Service-side trace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Enrollment 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First failing stage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Remediation retest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New successful record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LAB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HANDS-ON · 110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Lab 1: Entra device identity, dynamic groups and delegated administration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119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10561320" cy="941832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19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847088"/>
            <a:ext cx="8732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Contoso must implement the control, prove the observed state, diagnose one seeded failure, and retain an auditable evidence pack.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17319" y="3236976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19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PLAN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51176" y="3657600"/>
            <a:ext cx="402336" cy="0"/>
          </a:xfrm>
          <a:prstGeom prst="line">
            <a:avLst/>
          </a:prstGeom>
          <a:ln w="1778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026664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84448" y="3236976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448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6D3FD2"/>
                </a:solidFill>
                <a:latin typeface="Arial"/>
              </a:rPr>
              <a:t>CONFIGURE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18304" y="3657600"/>
            <a:ext cx="402336" cy="0"/>
          </a:xfrm>
          <a:prstGeom prst="line">
            <a:avLst/>
          </a:prstGeom>
          <a:ln w="1778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193792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3236976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51576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1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85431" y="3657600"/>
            <a:ext cx="402337" cy="0"/>
          </a:xfrm>
          <a:prstGeom prst="line">
            <a:avLst/>
          </a:prstGeom>
          <a:ln w="1778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60920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918704" y="3236976"/>
            <a:ext cx="548640" cy="54864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18704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6845B"/>
                </a:solidFill>
                <a:latin typeface="Arial"/>
              </a:rPr>
              <a:t>BREAK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052560" y="3657600"/>
            <a:ext cx="402336" cy="0"/>
          </a:xfrm>
          <a:prstGeom prst="line">
            <a:avLst/>
          </a:prstGeom>
          <a:ln w="1778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528048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5832" y="3236976"/>
            <a:ext cx="548640" cy="548640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5832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77600"/>
                </a:solidFill>
                <a:latin typeface="Arial"/>
              </a:rPr>
              <a:t>RECOVER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486460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4864608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97433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528523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Validated join-state evidence pack, dynamic-group rule, scoped role assignment and audit trace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LO1 · K1 · K4 · A1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 — acceptance and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120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30175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6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Configured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Policy/profile/assignment values are visible and scoped to the intended cohort.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5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37360"/>
            <a:ext cx="82296" cy="30175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02736" y="1965960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27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96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Observed 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device, app or identity shows the expected service and client-side outcome.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216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98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37360"/>
            <a:ext cx="82296" cy="30175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45936" y="1965960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28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Failure diagnosis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seeded issue is tied to an error, log, report or missing state—not a guess.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648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30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37360"/>
            <a:ext cx="82296" cy="30175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089136" y="1965960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60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Recovery proof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post-change retest demonstrates the corrected state with timestamp/correlation evidence.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080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262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SUBMISSION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Save the evidence under labs/lab-01-entra-identity-groups-rbac/evidence/. Detailed steps are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HANDS-ON · 115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Lab 2: Multi-platform Intune enrollment and troubleshooting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121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10561320" cy="941832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19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847088"/>
            <a:ext cx="8732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Contoso must implement the control, prove the observed state, diagnose one seeded failure, and retain an auditable evidence pack.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17319" y="3236976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19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PLAN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51176" y="3657600"/>
            <a:ext cx="402336" cy="0"/>
          </a:xfrm>
          <a:prstGeom prst="line">
            <a:avLst/>
          </a:prstGeom>
          <a:ln w="1778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026664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84448" y="3236976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448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6D3FD2"/>
                </a:solidFill>
                <a:latin typeface="Arial"/>
              </a:rPr>
              <a:t>CONFIGURE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18304" y="3657600"/>
            <a:ext cx="402336" cy="0"/>
          </a:xfrm>
          <a:prstGeom prst="line">
            <a:avLst/>
          </a:prstGeom>
          <a:ln w="1778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193792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3236976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51576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1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85431" y="3657600"/>
            <a:ext cx="402337" cy="0"/>
          </a:xfrm>
          <a:prstGeom prst="line">
            <a:avLst/>
          </a:prstGeom>
          <a:ln w="1778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60920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918704" y="3236976"/>
            <a:ext cx="548640" cy="54864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18704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6845B"/>
                </a:solidFill>
                <a:latin typeface="Arial"/>
              </a:rPr>
              <a:t>BREAK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052560" y="3657600"/>
            <a:ext cx="402336" cy="0"/>
          </a:xfrm>
          <a:prstGeom prst="line">
            <a:avLst/>
          </a:prstGeom>
          <a:ln w="1778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528048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5832" y="3236976"/>
            <a:ext cx="548640" cy="548640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5832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77600"/>
                </a:solidFill>
                <a:latin typeface="Arial"/>
              </a:rPr>
              <a:t>RECOVER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486460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4864608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97433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528523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Enrollment configuration matrix, MDMDiag evidence, error-code diagnosis and successful retest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LO1 · K1 · K3 · A1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2 — acceptance and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30175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6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Configured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Policy/profile/assignment values are visible and scoped to the intended cohort.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5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37360"/>
            <a:ext cx="82296" cy="30175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02736" y="1965960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27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96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Observed 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device, app or identity shows the expected service and client-side outcome.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216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98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37360"/>
            <a:ext cx="82296" cy="30175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45936" y="1965960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28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Failure diagnosis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seeded issue is tied to an error, log, report or missing state—not a guess.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648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30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37360"/>
            <a:ext cx="82296" cy="30175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089136" y="1965960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60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Recovery proof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post-change retest demonstrates the corrected state with timestamp/correlation evidence.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080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262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SUBMISSION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Save the evidence under labs/lab-02-intune-enrollment-troubleshooting/evidence/. Detailed steps are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RETRIEVE · DIAGNOSE · EXPLAIN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Day 1 technical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29718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56816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Choose the correct Microsoft Entra device identity
• Target policy with dynamic device groups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82296" cy="297180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956816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Configure Windows automatic enrollment
• Control multi-platform enrollment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737360"/>
            <a:ext cx="82296" cy="2971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1956816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Delegate Intune administration safely
• Evaluate compliance before access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737360"/>
            <a:ext cx="82296" cy="297180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1956816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Deploy Windows Hello for Business and Windows LAPS
• Troubleshoot enrollment as an evidence chain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04748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047488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15721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REMEMBER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6811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For each checkpoint, name the architecture boundary, exact contract, failure evidence and acceptance state.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21408"/>
            <a:ext cx="960120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D3FD2"/>
                </a:solidFill>
                <a:latin typeface="Arial"/>
              </a:rPr>
              <a:t>DAY 2 · 8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587752"/>
            <a:ext cx="9326880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Device deployment and configuration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584448"/>
            <a:ext cx="932688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Compliance and access; Autopilot; Windows 365; configuration targeting · 25–30% · LO1 · LO2 · K1 · K2 · A2 · A4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73152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NATIVE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Manage and maintain devices — indicative operational signal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125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41248" y="1682496"/>
          <a:ext cx="740664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8522208" y="1682496"/>
            <a:ext cx="2852928" cy="34290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33104" y="1965960"/>
            <a:ext cx="2231136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6D3FD2"/>
                </a:solidFill>
                <a:latin typeface="Arial"/>
              </a:rPr>
              <a:t>25–30%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3104" y="2615184"/>
            <a:ext cx="223113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5B6372"/>
                </a:solidFill>
                <a:latin typeface="Arial"/>
              </a:rPr>
              <a:t>CURRENT EXAM WEIGHT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3104" y="3172968"/>
            <a:ext cx="223113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LO1 · LO2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3104" y="3584448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K1 · K2 · A2 · A4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33104" y="4416552"/>
            <a:ext cx="223113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77600"/>
                </a:solidFill>
                <a:latin typeface="Arial"/>
              </a:rPr>
              <a:t>Indicative teaching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157216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157216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266944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WHAT THE DATA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577840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Provisioning duration rises with payload breadth; use phase timing to locate delay.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Select Windows Autopilot or device preparation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Corporate identity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Hardware hash or preparation policy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Profile assignment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Device or user group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OOBE contact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Cloud discovery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Enrollment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Entra + Intune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Provisioning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Apps and policies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4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Select Windows Autopilot or device preparation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Classic Autopilot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Registered corporate devices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Device preparation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Streamlined cloud-native setup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User-driven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Named-user productivity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Self-deploying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Shared or kiosk scenario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SELECT WINDOWS AUTOPILOT OR DEVICE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Classic Autopilot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Corporate identity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Classic Autopilot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Registered corporate devices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 profile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Verify assignment state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Deployment profile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Assigned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Classic Autopilot state is valid only when Corporate identity produces Deployment profile; No profile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SELECT WINDOWS AUTOPILOT OR DEVICE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Device preparation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129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Device preparation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Streamlined cloud-native setup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Profile assignment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Device or user group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Hash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Re-import correct identity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Device identity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Registered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Device preparation state is valid only when Profile assignment produces Device identity; Hash mismatch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SELECT WINDOWS AUTOPILOT OR DEVICE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User-driven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OOBE 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Cloud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User-driven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Named-user productivity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Unsupported mode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Check TPM and network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Enrollment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Phase timings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User-driven state is valid only when OOBE contact produces Enrollment report; Unsupported mode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SELECT WINDOWS AUTOPILOT OR DEVICE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Self-deploying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Enrollment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Entra + Intune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Self-deploying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Shared or kiosk scenario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Policy race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Use readiness reporting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Final state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Entra joined and managed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Self-deploying state is valid only when Enrollment produces Final state; Policy race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Select Windows Autopilot or device preparation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No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Verify assignment 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Hash mismatch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Re-import correct identity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Unsupported mode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Check TPM and network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Policy race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Use readiness reporting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SELECT WINDOWS AUTOPILOT OR DEVICE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No profile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133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No profile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Profile assignment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Classic Autopilot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Verify assignment state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Deployment profile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Deployment profile shows Assigned;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SELECT WINDOWS AUTOPILOT OR DEVICE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Hash mismatch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134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Hash mismatch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OOBE contact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Device preparation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Re-import correct identity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Registered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Device identity shows Registered;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SELECT WINDOWS AUTOPILOT OR DEVICE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Unsupported mode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Unsupported mode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Enrollment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User-driven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Check TPM and network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Enrollment report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Enrollment report shows Phase timings;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SELECT WINDOWS AUTOPILOT OR DEVICE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Policy race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Provisioning  |  SUSPECT · Self-deploying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Policy race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readiness reporting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Final state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Final state shows Entra joined and managed;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Select Windows Autopilot or device preparation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137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Deployment profile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Assigned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Device identity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Registered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Enrollment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Phase timings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Final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Entra joined and managed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6D3FD2"/>
                </a:solidFill>
                <a:latin typeface="Arial"/>
              </a:rPr>
              <a:t>LAB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Autopilot with ESP and naming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138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OOBE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Tenant identification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Device setup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Security policies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Account setup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User-targeted payload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ESP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Blocking selection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Desktop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Provisioning complete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4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Control Autopilot with ESP and naming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139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Name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Prefix plus serial or random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Block 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Until required apps install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Timeout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Controlled failure route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Tracking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Autopilot deployment report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CONTROL AUTOPILOT WITH ESP AND NAMING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Name template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OOBE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Name 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Prefix plus serial or random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Infinite ESP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Review blocking apps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ESP phase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Device or account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Name template state is valid only when OOBE produces ESP phase; Infinite ESP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CONTROL AUTOPILOT WITH ESP AND NAMING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Block use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141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Block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Until required apps install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Device setup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Security policies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Invalid 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Respect 15-character limit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Blocking app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Install status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Block use state is valid only when Device setup produces Blocking app; Invalid name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CONTROL AUTOPILOT WITH ESP AND NAMING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Timeout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142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Account 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User-targeted payload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Controlled failure route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 dependency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Validate install order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Enrollment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Phase duration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Timeout state is valid only when Account setup produces Enrollment time; App dependency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CONTROL AUTOPILOT WITH ESP AND NAMING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Tracking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ESP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Blocking selection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Tracking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Autopilot deployment report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User reaches desktop early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Correct ESP targeting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Device name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Template resolved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Tracking state is valid only when ESP gate produces Device name; User reaches desktop early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Control Autopilot with ESP and naming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144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Infinite ESP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Review blocking apps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Invalid name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Respect 15-character limit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App dependency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Validate install order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User reaches desktop early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Correct ESP targeting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CONTROL AUTOPILOT WITH ESP AND NAMING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Infinite ESP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145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Infinite ESP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Device setup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Name template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Review blocking apps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ESP phase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ESP phase shows Device or account;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CONTROL AUTOPILOT WITH ESP AND NAMING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Invalid name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146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Invalid name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Account setup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Block use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Respect 15-character limit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Install status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Blocking app shows Install status;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CONTROL AUTOPILOT WITH ESP AND NAMING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 dependency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App dependency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ESP gate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Timeout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Validate install order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Enrollment time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Enrollment time shows Phase duration;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CONTROL AUTOPILOT WITH ESP AND NAMING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User reaches desktop early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Desktop  |  SUSPECT · Tracking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User reaches desktop early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Correct ESP targeting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Device name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Device name shows Template resolved;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Control Autopilot with ESP and naming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149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ESP phase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Device or account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Blocking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Install status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Enrollment 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Phase duration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Device name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Template resolved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6D3FD2"/>
                </a:solidFill>
                <a:latin typeface="Arial"/>
              </a:rPr>
              <a:t>LAB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Upgrade Windows 11 with deployment rings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150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Inventory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Readiness signals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Pilot 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Early adopters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App and driver health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Broad rings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Progressive rollout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Rollback window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Recovery control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7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Upgrade Windows 11 with deployment rings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151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Feature policy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Target Windows release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Safeguard hold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Respect by default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Deadline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User experience boundary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Rollback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Uninstall period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UPGRADE WINDOWS 11 WITH DEPLOYMENT RINGS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Feature policy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Inventory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Feature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Target Windows release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Compatibility hold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Inspect safeguard ID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Readiness 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Capable or blocked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Feature policy state is valid only when Inventory produces Readiness report; Compatibility hold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UPGRADE WINDOWS 11 WITH DEPLOYMENT RINGS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Safeguard hold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153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Safeguard hold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Respect by default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Pilot 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Early adopters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Low disk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Use readiness report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Feature version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Target achieved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Safeguard hold state is valid only when Pilot ring produces Feature version; Low disk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UPGRADE WINDOWS 11 WITH DEPLOYMENT RINGS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Deadline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154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App and driver health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Deadline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User experience boundary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Driver failure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Pause affected cohort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Failure 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Deployment error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Deadline state is valid only when Validation produces Failure code; Driver failure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UPGRADE WINDOWS 11 WITH DEPLOYMENT RINGS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Rollback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155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Broad rings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Progressive rollout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Uninstall period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Productivity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Roll back within window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Ring KPI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Success and rollback rate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Rollback state is valid only when Broad rings produces Ring KPI; Productivity impact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Upgrade Windows 11 with deployment rings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156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Compatibility hold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Inspect safeguard 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Low disk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Use readiness report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Driver failure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Pause affected cohort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Productivity impact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Roll back within window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UPGRADE WINDOWS 11 WITH DEPLOYMENT RINGS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Compatibility hold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157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Compatibility hold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Pilot ring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Feature policy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Inspect safeguard ID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Readiness report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Readiness report shows Capable or blocked;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UPGRADE WINDOWS 11 WITH DEPLOYMENT RINGS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Low disk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158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Low disk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Validation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Safeguard hold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Use readiness report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Target achieved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Feature version shows Target achieved;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UPGRADE WINDOWS 11 WITH DEPLOYMENT RINGS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Driver failure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159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Driver failure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Broad rings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Deadline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Pause affected cohort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Failure code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Failure code shows Deployment error;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UPGRADE WINDOWS 11 WITH DEPLOYMENT RINGS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Productivity impact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160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Rollback window  |  SUSPECT · Rollback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Productivity impact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Roll back within window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Ring KPI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Ring KPI shows Success and rollback rate;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Upgrade Windows 11 with deployment rings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161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Readiness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Capable or blocked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Feature 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Target achieved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Failure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Deployment error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Ring KPI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Success and rollback 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6D3FD2"/>
                </a:solidFill>
                <a:latin typeface="Arial"/>
              </a:rPr>
              <a:t>LAB 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Provision Windows 365 Cloud PCs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162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License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Cloud PC entitlement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Provisioning policy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Image + network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Group assignment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User scope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Provisioning service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Cloud PC creation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Management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Intune lifecycle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4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Provision Windows 365 Cloud PCs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163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Join 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Microsoft Entra joined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Network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Microsoft-hosted or ANC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Image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Gallery or custom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Resize/reprovision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Controlled lifecycle action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PROVISION WINDOWS 365 CLOUD PCS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Join type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164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License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Join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Microsoft Entra joined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Provisioning failed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Review network and license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Provisioning state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Succeeded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Join type state is valid only when License produces Provisioning state; Provisioning failed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PROVISION WINDOWS 365 CLOUD PCS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165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Microsoft-hosted or ANC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Provisioning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Image + network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Image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Fix generalized image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Connectivity 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Healthy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Network state is valid only when Provisioning policy produces Connectivity check; Image validation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PROVISION WINDOWS 365 CLOUD PCS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Image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166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Group 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User scope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Gallery or custom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Connectivity issue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Check ANC health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Intune record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Cloud PC managed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Image state is valid only when Group assignment produces Intune record; Connectivity issue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PROVISION WINDOWS 365 CLOUD PCS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Resize/reprovision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167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Provisioning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Cloud PC creation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Resize/reprovision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Controlled lifecycle action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loss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Understand reprovision impact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End-user 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Windows 365 connection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Resize/reprovision state is valid only when Provisioning service produces End-user test; Data loss risk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Provision Windows 365 Cloud PCs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168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Provisioning failed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Review network and license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Image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Fix generalized image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Connectivity issue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Check ANC health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Data loss risk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Understand reprovision impact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PROVISION WINDOWS 365 CLOUD PCS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Provisioning failed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169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Provisioning failed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Provisioning policy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Join type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Review network and license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Provisioning state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Provisioning state shows Succeeded;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PROVISION WINDOWS 365 CLOUD PCS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Image validation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170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Image validation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Group assignment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Fix generalized image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Healthy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Connectivity check shows Healthy;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PROVISION WINDOWS 365 CLOUD PCS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Connectivity issue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171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Connectivity issue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Provisioning 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Image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Check ANC health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Intune record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Intune record shows Cloud PC managed;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PROVISION WINDOWS 365 CLOUD PCS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loss risk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172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Management  |  SUSPECT · Resize/reprovision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Data loss risk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Understand reprovision impact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End-user test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End-user test shows Windows 365 connection;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Provision Windows 365 Cloud PCs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173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Provisioning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Succeeded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Connectivity 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Healthy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Intune 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Cloud PC managed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End-user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Windows 365 connection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6D3FD2"/>
                </a:solidFill>
                <a:latin typeface="Arial"/>
              </a:rPr>
              <a:t>LAB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901952"/>
            <a:ext cx="10835640" cy="265176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901952"/>
            <a:ext cx="128016" cy="265176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8448" y="2322576"/>
            <a:ext cx="8961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DAY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2761488"/>
            <a:ext cx="89611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3675887"/>
            <a:ext cx="89611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Return at the time announced by the trainer.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6858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174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Translate GPOs into Settings Catalog policy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175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GPO 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XML report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Group Policy analytics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Import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CSP mapping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Supported settings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Policy creation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Settings Catalog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Assignment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Cloud-managed cohort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5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Translate GPOs into Settings Catalog policy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176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Migration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Supported · deprecated · unknown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ADMX import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Custom administrative templates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OMA-URI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Only when catalog lacks setting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Conflict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Multiple sources disagree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TRANSLATE GPOS INTO SETTINGS CATALOG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Migration readiness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177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GPO export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Migration readiness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Supported · deprecated · unknown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Unsupported setting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Redesign control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Analytics 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Migration percentage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Migration readiness state is valid only when GPO export produces Analytics report; Unsupported setting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TRANSLATE GPOS INTO SETTINGS CATALOG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ADMX import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178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ADMX import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Custom administrative templates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Group Policy analytics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Import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Duplicate config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Remove overlapping profile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Policy 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Exact settings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ADMX import state is valid only when Group Policy analytics produces Policy JSON; Duplicate config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TRANSLATE GPOS INTO SETTINGS CATALOG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OMA-URI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179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CSP mapping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Supported settings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OMA-URI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Only when catalog lacks setting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ADMX dependency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Import parent first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Per-setting 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Success/conflict/error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OMA-URI state is valid only when CSP mapping produces Per-setting status; ADMX dependency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TRANSLATE GPOS INTO SETTINGS CATALOG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Conflict state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Policy creation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Settings Catalog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Conflict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Multiple sources disagree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Conflict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Trace per-setting source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Client MDM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Applied CSP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Conflict state state is valid only when Policy creation produces Client MDM report; Conflict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Translate GPOs into Settings Catalog policy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181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Unsupported setting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Redesign control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Duplicate config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Remove overlapping profile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ADMX dependency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Import parent first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Conflict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Trace per-setting source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TRANSLATE GPOS INTO SETTINGS CATALOG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Unsupported setting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182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Unsupported setting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Group Policy analytics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Migration readiness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Redesign control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Analytics report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Analytics report shows Migration percentage;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TRANSLATE GPOS INTO SETTINGS CATALOG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Duplicate config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183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Duplicate config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CSP mapping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ADMX import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Remove overlapping profile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Exact settings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Policy JSON shows Exact settings;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TRANSLATE GPOS INTO SETTINGS CATALOG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ADMX dependency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184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ADMX dependency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Policy creation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OMA-URI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Import parent first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Per-setting status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Per-setting status shows Success/conflict/error;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TRANSLATE GPOS INTO SETTINGS CATALOG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Conflict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Assignment  |  SUSPECT · Conflict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Conflict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Trace per-setting source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Client MDM report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Client MDM report shows Applied CSP;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Translate GPOs into Settings Catalog policy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186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Analytics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Migration percentage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Policy 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Exact settings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Per-setting 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Success/conflict/error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Client MDM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Applied CSP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6D3FD2"/>
                </a:solidFill>
                <a:latin typeface="Arial"/>
              </a:rPr>
              <a:t>LAB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Target profiles with filters and enrollment-time grouping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187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Base 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User or device group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Filter 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Device properties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Include/exclude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Assignment logic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Enrollment-time group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Immediate classification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Policy delivery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Resolved applicability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5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Target profiles with filters and enrollment-time grouping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188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Filter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Include or exclude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manufacturer · model · ownership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Evaluation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At assignment check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Enrollment category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Provisioning-time cohort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TARGET PROFILES WITH FILTERS AND ENROLLMENT-TIME GROUPING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Filter mode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189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Base assignment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Filter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Include or exclude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Unsupported property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Use filter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Filter preview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Expected match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Filter mode state is valid only when Base assignment produces Filter preview; Unsupported property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TARGET PROFILES WITH FILTERS AND ENROLLMENT-TIME GROUPING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Property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190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Property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manufacturer · model · ownership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Filter query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Device properties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Wrong operator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Test sample values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Assignment status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Filter applied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Property state is valid only when Filter query produces Assignment status; Wrong operator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TARGET PROFILES WITH FILTERS AND ENROLLMENT-TIME GROUPING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Evaluation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191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Include/exclude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Assignment logic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Evaluation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At assignment check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User assignment mismatch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Know device filter context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Device property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Exact value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Evaluation state is valid only when Include/exclude produces Device property; User assignment mismatch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TARGET PROFILES WITH FILTERS AND ENROLLMENT-TIME GROUPING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Enrollment category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192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Enrollment-time group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Immediate classification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Enrollment category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Provisioning-time cohort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Race condition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Use enrollment-time grouping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Policy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Correct cohort only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Enrollment category state is valid only when Enrollment-time group produces Policy result; Race condition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Target profiles with filters and enrollment-time grouping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193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Unsupported property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Use filter schema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Wrong operator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Test sample values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User assignment mismatch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Know device filter context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Race condition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Use enrollment-time grouping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TARGET PROFILES WITH FILTERS AND ENROLLMENT-TIME GROUPING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Unsupported property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194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Unsupported property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Filter query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Filter mode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Use filter schema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Filter preview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Filter preview shows Expected match;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TARGET PROFILES WITH FILTERS AND ENROLLMENT-TIME GROUPING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Wrong operator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195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Wrong operator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Include/exclude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Property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Test sample values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Filter applied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Assignment status shows Filter applied;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TARGET PROFILES WITH FILTERS AND ENROLLMENT-TIME GROUPING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User assignment mismatch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196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User assignment mismatch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Enrollment-time group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Evaluation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Know device filter context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Device property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Device property shows Exact value;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TARGET PROFILES WITH FILTERS AND ENROLLMENT-TIME GROUPING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Race condition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197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Policy delivery  |  SUSPECT · Enrollment category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Race condition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enrollment-time grouping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Policy result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Policy result shows Correct cohort only;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Target profiles with filters and enrollment-time grouping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198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Filter preview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Expected match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Assignment status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Filter applied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Device property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Exact value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Policy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Correct cohort only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6D3FD2"/>
                </a:solidFill>
                <a:latin typeface="Arial"/>
              </a:rPr>
              <a:t>LAB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901952"/>
            <a:ext cx="10835640" cy="265176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901952"/>
            <a:ext cx="128016" cy="265176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8448" y="2322576"/>
            <a:ext cx="8961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DAY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2761488"/>
            <a:ext cx="89611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3675887"/>
            <a:ext cx="89611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Return at the time announced by the trainer.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6858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199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Apply Intune Suite controls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200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Privilege 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User asks elevation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EPM policy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Rule evaluation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Audit signal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Elevation telemetry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Support channel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Remote Help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Certificate/network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Cloud PKI or Tunnel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5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Apply Intune Suite controls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EPM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File hash · publisher · path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Remote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RBAC and session consent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Cloud PKI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Issuing CA + SCEP profile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Tunnel for MAM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Per-app protected path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APPLY INTUNE SUITE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EPM rule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Privilege request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EPM rule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File hash · publisher · path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Elevation denied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Rule mismatch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Elevation 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File + user + rule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EPM rule state is valid only when Privilege request produces Elevation report; Elevation denied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APPLY INTUNE SUITE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Remote Help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203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Remote Help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RBAC and session consent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EPM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Rule evaluation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Remote Help unavailable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License or RBAC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Session audit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Helper and sharer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Remote Help state is valid only when EPM policy produces Session audit; Remote Help unavailable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APPLY INTUNE SUITE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Cloud PKI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Audit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Elevation telemetry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Cloud PKI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Issuing CA + SCEP profile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Certificate failure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Chain or connector health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Certificate profile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Issued identity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Cloud PKI state is valid only when Audit signal produces Certificate profile; Certificate failure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APPLY INTUNE SUITE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Tunnel for MAM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Support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Remote Help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Tunnel for MAM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Per-app protected path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Tunnel offline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Gateway health and routing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Tunnel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Connection and gateway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Tunnel for MAM state is valid only when Support channel produces Tunnel report; Tunnel offline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Apply Intune Suite controls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206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Elevation denied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Rule mismatch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Remote Help unavailable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License or RBAC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Certificate failure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Chain or connector health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Tunnel offline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Gateway health and routing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APPLY INTUNE SUITE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Elevation denied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207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Elevation denied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EPM policy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EPM rule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Rule mismatch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Elevation report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Elevation report shows File + user + rule;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APPLY INTUNE SUITE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Remote Help unavailable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208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Remote Help unavailable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Audit signal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Remote Help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License or RBAC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Helper and sharer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Session audit shows Helper and sharer;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APPLY INTUNE SUITE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Certificate failure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Certificate failure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Support channel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Cloud PKI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Chain or connector health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Certificate profile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Certificate profile shows Issued identity;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APPLY INTUNE SUITE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Tunnel offline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Certificate/network  |  SUSPECT · Tunnel for MAM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Tunnel offline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Gateway health and routing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Tunnel report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Tunnel report shows Connection and gateway;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Apply Intune Suite controls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211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Elevation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File + user + rule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Session audit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Helper and sharer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Certificate profile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Issued identity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Tunnel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Connection and gateway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6D3FD2"/>
                </a:solidFill>
                <a:latin typeface="Arial"/>
              </a:rPr>
              <a:t>LAB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Perform remote actions and live device query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212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Operator 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RBAC authorization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Intune 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Command queue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Device channel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Push or check-in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Client 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Action result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Audit/report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Outcome recorded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9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Perform remote actions and live device query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Retire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Remove company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Wipe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Reset device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Fresh Start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Reinstall Windows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Device query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KQL against live device data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PERFORM REMOTE ACTIONS AND LIVE DEVICE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Retire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Operator 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Retire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Remove company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Action pending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Device offline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Action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Pending/succeeded/failed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Retire state is valid only when Operator action produces Action status; Action pending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PERFORM REMOTE ACTIONS AND LIVE DEVICE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Wipe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215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Reset device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Intune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Command queue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Wrong destructive 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Confirm ownership and intent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Audit actor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Who initiated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Wipe state is valid only when Intune service produces Audit actor; Wrong destructive action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PERFORM REMOTE ACTIONS AND LIVE DEVICE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Fresh Start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Device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Push or check-in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Fresh Start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Reinstall Windows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Query unavailable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Check supported platform/license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Query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Named columns and timestamp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Fresh Start state is valid only when Device channel produces Query result; Query unavailable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PERFORM REMOTE ACTIONS AND LIVE DEVICE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Device query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Client execution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Action result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Device query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KQL against live device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BitLocker rotation fail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Verify escrow state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Diagnostics bundle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Collected logs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Device query state is valid only when Client execution produces Diagnostics bundle; BitLocker rotation fail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Perform remote actions and live device query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Action pending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Device offline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Wrong destructive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Confirm ownership and intent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Query unavailable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Check supported platform/license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BitLocker rotation fail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Verify escrow state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PERFORM REMOTE ACTIONS AND LIVE DEVICE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Action pending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219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Action pending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Intune service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Retire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Device offline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Action status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Action status shows Pending/succeeded/failed;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PERFORM REMOTE ACTIONS AND LIVE DEVICE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Wrong destructive action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220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Wrong destructive action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Device channel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Wipe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Confirm ownership and intent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Who initiated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Audit actor shows Who initiated;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PERFORM REMOTE ACTIONS AND LIVE DEVICE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Query unavailable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Query unavailable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Client execution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Fresh Start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Check supported platform/license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Query result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Query result shows Named columns and timestamp;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PERFORM REMOTE ACTIONS AND LIVE DEVICE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BitLocker rotation fail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Audit/report  |  SUSPECT · Device query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BitLocker rotation fail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Verify escrow state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Diagnostics bundle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Diagnostics bundle shows Collected logs;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Perform remote actions and live device query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223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Action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Pending/succeeded/failed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Audit 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Who initiated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Query result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Named columns and timestamp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Diagnostics bundle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Collected logs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6D3FD2"/>
                </a:solidFill>
                <a:latin typeface="Arial"/>
              </a:rPr>
              <a:t>LAB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Diagnose policy conflicts from device evidence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224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Multiple profiles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CSP 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Local MDM client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Per-setting merge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Winner or conflict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Reporting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Service aggregation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Remediation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Remove overlap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5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Diagnose policy conflicts from device evidence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Client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MDMDiagReport.html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Policy 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Per-setting status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Registry path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PolicyManager current values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Event log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Enterprise-Diagnostics-Provider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DIAGNOSE POLICY CONFLICTS FROM DEVICE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Client report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Assignment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Client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MDMDiagReport.html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Conflict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Two profiles set different values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Setting 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Exact CSP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Client report state is valid only when Assignment produces Setting name; Conflict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DIAGNOSE POLICY CONFLICTS FROM DEVICE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Policy view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227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Policy 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Per-setting status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CSP 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Local MDM client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Not applicable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Platform/edition mismatch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Source profiles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Both assignments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Policy view state is valid only when CSP processing produces Source profiles; Not applicable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DIAGNOSE POLICY CONFLICTS FROM DEVICE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Registry path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Per-setting merge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Winner or conflict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Registry 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PolicyManager current values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Error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CSP rejected value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Client event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Error code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Registry path state is valid only when Per-setting merge produces Client event; Error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DIAGNOSE POLICY CONFLICTS FROM DEVICE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Event log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Reporting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Service aggregation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Event 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Enterprise-Diagnostics-Provider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No recent device check-in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Success after consolidation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Event log state is valid only when Reporting produces Retest; Pending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Diagnose policy conflicts from device evidence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Conflict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Two profiles set different values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Not applicable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Platform/edition mismatch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Error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CSP rejected value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Pending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No recent device check-in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DIAGNOSE POLICY CONFLICTS FROM DEVICE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Conflict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231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Conflict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CSP processing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Client report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Two profiles set different values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Setting name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Setting name shows Exact CSP;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DIAGNOSE POLICY CONFLICTS FROM DEVICE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Not applicable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232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Not applicable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Per-setting merge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Policy view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Platform/edition mismatch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Both assignments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Source profiles shows Both assignments;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DIAGNOSE POLICY CONFLICTS FROM DEVICE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Error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Reporting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Registry path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CSP rejected value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Client event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Client event shows Error code;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DIAGNOSE POLICY CONFLICTS FROM DEVICE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Pending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Remediation  |  SUSPECT · Event 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Pending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 recent device check-in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Retest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Retest shows Success after consolidation;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DOMAIN 2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Diagnose policy conflicts from device evidence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235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Setting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Exact CSP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Source profiles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Both assignments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Client event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Error code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Success after consolidation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6D3FD2"/>
                </a:solidFill>
                <a:latin typeface="Arial"/>
              </a:rPr>
              <a:t>LAB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HANDS-ON · 115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Lab 3: Compliance, Conditional Access, Windows Hello and LAPS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236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10561320" cy="941832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19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847088"/>
            <a:ext cx="8732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Contoso must implement the control, prove the observed state, diagnose one seeded failure, and retain an auditable evidence pack.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17319" y="3236976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19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PLAN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51176" y="3657600"/>
            <a:ext cx="402336" cy="0"/>
          </a:xfrm>
          <a:prstGeom prst="line">
            <a:avLst/>
          </a:prstGeom>
          <a:ln w="1778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026664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84448" y="3236976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448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6D3FD2"/>
                </a:solidFill>
                <a:latin typeface="Arial"/>
              </a:rPr>
              <a:t>CONFIGURE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18304" y="3657600"/>
            <a:ext cx="402336" cy="0"/>
          </a:xfrm>
          <a:prstGeom prst="line">
            <a:avLst/>
          </a:prstGeom>
          <a:ln w="1778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193792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3236976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51576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1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85431" y="3657600"/>
            <a:ext cx="402337" cy="0"/>
          </a:xfrm>
          <a:prstGeom prst="line">
            <a:avLst/>
          </a:prstGeom>
          <a:ln w="1778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60920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918704" y="3236976"/>
            <a:ext cx="548640" cy="54864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18704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6845B"/>
                </a:solidFill>
                <a:latin typeface="Arial"/>
              </a:rPr>
              <a:t>BREAK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052560" y="3657600"/>
            <a:ext cx="402336" cy="0"/>
          </a:xfrm>
          <a:prstGeom prst="line">
            <a:avLst/>
          </a:prstGeom>
          <a:ln w="1778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528048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5832" y="3236976"/>
            <a:ext cx="548640" cy="548640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5832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77600"/>
                </a:solidFill>
                <a:latin typeface="Arial"/>
              </a:rPr>
              <a:t>RECOVER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486460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4864608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97433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528523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Compliance/CA decision trace, WHfB state and auditable LAPS recovery/rotation evidence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LO2 · K3 · K4 · A4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3 — acceptance and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237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30175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6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Configured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Policy/profile/assignment values are visible and scoped to the intended cohort.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5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37360"/>
            <a:ext cx="82296" cy="30175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02736" y="1965960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27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96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Observed 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device, app or identity shows the expected service and client-side outcome.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216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98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37360"/>
            <a:ext cx="82296" cy="30175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45936" y="1965960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28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Failure diagnosis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seeded issue is tied to an error, log, report or missing state—not a guess.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648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30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37360"/>
            <a:ext cx="82296" cy="30175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089136" y="1965960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60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Recovery proof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post-change retest demonstrates the corrected state with timestamp/correlation evidence.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080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262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SUBMISSION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Save the evidence under labs/lab-03-compliance-ca-whfb-laps/evidence/. Detailed steps are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HANDS-ON · 115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Lab 4: Autopilot, device preparation and Windows 365 provisioning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238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10561320" cy="941832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19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3FD2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847088"/>
            <a:ext cx="8732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Contoso must implement the control, prove the observed state, diagnose one seeded failure, and retain an auditable evidence pack.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17319" y="3236976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19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PLAN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51176" y="3657600"/>
            <a:ext cx="402336" cy="0"/>
          </a:xfrm>
          <a:prstGeom prst="line">
            <a:avLst/>
          </a:prstGeom>
          <a:ln w="1778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026664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84448" y="3236976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448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6D3FD2"/>
                </a:solidFill>
                <a:latin typeface="Arial"/>
              </a:rPr>
              <a:t>CONFIGURE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18304" y="3657600"/>
            <a:ext cx="402336" cy="0"/>
          </a:xfrm>
          <a:prstGeom prst="line">
            <a:avLst/>
          </a:prstGeom>
          <a:ln w="1778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193792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3236976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51576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1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85431" y="3657600"/>
            <a:ext cx="402337" cy="0"/>
          </a:xfrm>
          <a:prstGeom prst="line">
            <a:avLst/>
          </a:prstGeom>
          <a:ln w="1778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60920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918704" y="3236976"/>
            <a:ext cx="548640" cy="54864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18704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6845B"/>
                </a:solidFill>
                <a:latin typeface="Arial"/>
              </a:rPr>
              <a:t>BREAK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052560" y="3657600"/>
            <a:ext cx="402336" cy="0"/>
          </a:xfrm>
          <a:prstGeom prst="line">
            <a:avLst/>
          </a:prstGeom>
          <a:ln w="1778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528048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5832" y="3236976"/>
            <a:ext cx="548640" cy="548640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5832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77600"/>
                </a:solidFill>
                <a:latin typeface="Arial"/>
              </a:rPr>
              <a:t>RECOVER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486460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4864608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97433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YOU'LL PRODUCE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528523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Deployment decision, profile/ESP design, readiness evidence and Cloud PC provisioning check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LO1 · LO4 · K1 · K5 · A2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4 — acceptance and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239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30175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6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Configured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Policy/profile/assignment values are visible and scoped to the intended cohort.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5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37360"/>
            <a:ext cx="82296" cy="30175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02736" y="1965960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27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96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Observed 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device, app or identity shows the expected service and client-side outcome.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216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98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37360"/>
            <a:ext cx="82296" cy="30175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45936" y="1965960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28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Failure diagnosis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seeded issue is tied to an error, log, report or missing state—not a guess.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648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30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37360"/>
            <a:ext cx="82296" cy="30175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089136" y="1965960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60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Recovery proof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post-change retest demonstrates the corrected state with timestamp/correlation evidence.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080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262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SUBMISSION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Save the evidence under labs/lab-04-autopilot-device-prep-windows365/evidence/. Detailed steps are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HANDS-ON · 110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Lab 5: Settings Catalog, ADMX migration and assignment filters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240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10561320" cy="941832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19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3FD2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847088"/>
            <a:ext cx="8732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Contoso must implement the control, prove the observed state, diagnose one seeded failure, and retain an auditable evidence pack.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17319" y="3236976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19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PLAN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51176" y="3657600"/>
            <a:ext cx="402336" cy="0"/>
          </a:xfrm>
          <a:prstGeom prst="line">
            <a:avLst/>
          </a:prstGeom>
          <a:ln w="1778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026664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84448" y="3236976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448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6D3FD2"/>
                </a:solidFill>
                <a:latin typeface="Arial"/>
              </a:rPr>
              <a:t>CONFIGURE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18304" y="3657600"/>
            <a:ext cx="402336" cy="0"/>
          </a:xfrm>
          <a:prstGeom prst="line">
            <a:avLst/>
          </a:prstGeom>
          <a:ln w="1778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193792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3236976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51576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1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85431" y="3657600"/>
            <a:ext cx="402337" cy="0"/>
          </a:xfrm>
          <a:prstGeom prst="line">
            <a:avLst/>
          </a:prstGeom>
          <a:ln w="1778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60920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918704" y="3236976"/>
            <a:ext cx="548640" cy="54864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18704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6845B"/>
                </a:solidFill>
                <a:latin typeface="Arial"/>
              </a:rPr>
              <a:t>BREAK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052560" y="3657600"/>
            <a:ext cx="402336" cy="0"/>
          </a:xfrm>
          <a:prstGeom prst="line">
            <a:avLst/>
          </a:prstGeom>
          <a:ln w="1778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528048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5832" y="3236976"/>
            <a:ext cx="548640" cy="548640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5832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77600"/>
                </a:solidFill>
                <a:latin typeface="Arial"/>
              </a:rPr>
              <a:t>RECOVER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486460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4864608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97433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YOU'LL PRODUCE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528523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Migrated settings policy, filter preview, conflict diagnosis and corrected per-setting result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LO2 · K2 · K4 · A2 ·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5 — acceptance and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241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30175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6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Configured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Policy/profile/assignment values are visible and scoped to the intended cohort.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5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37360"/>
            <a:ext cx="82296" cy="30175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02736" y="1965960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27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96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Observed 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device, app or identity shows the expected service and client-side outcome.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216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98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37360"/>
            <a:ext cx="82296" cy="30175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45936" y="1965960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28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Failure diagnosis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seeded issue is tied to an error, log, report or missing state—not a guess.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648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30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37360"/>
            <a:ext cx="82296" cy="30175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089136" y="1965960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60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Recovery proof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post-change retest demonstrates the corrected state with timestamp/correlation evidence.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080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262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SUBMISSION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Save the evidence under labs/lab-05-configuration-admx-filters/evidence/. Detailed steps are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D3FD2"/>
                </a:solidFill>
                <a:latin typeface="Arial"/>
              </a:rPr>
              <a:t>RETRIEVE · DIAGNOSE · EXPLAIN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Day 2 technical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242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29718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56816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Select Windows Autopilot or device preparation
• Control Autopilot with ESP and naming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82296" cy="297180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956816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Upgrade Windows 11 with deployment rings
• Provision Windows 365 Cloud PCs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737360"/>
            <a:ext cx="82296" cy="2971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1956816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Translate GPOs into Settings Catalog policy
• Target profiles with filters and enrollment-time grouping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737360"/>
            <a:ext cx="82296" cy="297180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1956816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Apply Intune Suite controls
• Perform remote actions and live device query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04748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047488"/>
            <a:ext cx="91440" cy="10058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15721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REMEMBER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6811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For each checkpoint, name the architecture boundary, exact contract, failure evidence and acceptance state.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21408"/>
            <a:ext cx="960120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8A73"/>
                </a:solidFill>
                <a:latin typeface="Arial"/>
              </a:rPr>
              <a:t>DAY 3 · 8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587752"/>
            <a:ext cx="9326880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Endpoint protection and updates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584448"/>
            <a:ext cx="932688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Defender; BitLocker; firewall; ASR; baselines; update operations · 15–20% · LO2 · LO3 · K3 · K4 · A4 · A5 · A6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73152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243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NATIVE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Protect devices — indicative operational signal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244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41248" y="1682496"/>
          <a:ext cx="740664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8522208" y="1682496"/>
            <a:ext cx="2852928" cy="34290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33104" y="1965960"/>
            <a:ext cx="2231136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108A73"/>
                </a:solidFill>
                <a:latin typeface="Arial"/>
              </a:rPr>
              <a:t>15–20%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3104" y="2615184"/>
            <a:ext cx="223113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5B6372"/>
                </a:solidFill>
                <a:latin typeface="Arial"/>
              </a:rPr>
              <a:t>CURRENT EXAM WEIGHT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3104" y="3172968"/>
            <a:ext cx="223113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LO2 · LO3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3104" y="3584448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K3 · K4 · A4 · A5 · A6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33104" y="4416552"/>
            <a:ext cx="223113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77600"/>
                </a:solidFill>
                <a:latin typeface="Arial"/>
              </a:rPr>
              <a:t>Indicative teaching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157216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157216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266944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WHAT THE DATA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577840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 single weak control can dominate endpoint risk; investigate the lowest control.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Configure Defender Antivirus policy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245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Intune policy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Antivirus settings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CSP delivery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Defender configuration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Engine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Real-time protection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Cloud service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Block-at-first-sight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Telemetry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Protection status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6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Configure Defender Antivirus policy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246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Cloud protection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Enabled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Sample submission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Safe samples automatically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PUA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Block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Tamper protection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On through security management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CONFIGURE DEFENDER ANTIVIRUS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Cloud protection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threat-protection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Intune policy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Cloud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Enabled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Setting locked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Tamper protection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Get-MpComputerStatus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Engine + signature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Cloud protection state is valid only when Intune policy produces Get-MpComputerStatus; Setting locked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CONFIGURE DEFENDER ANTIVIRUS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Sample submission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248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Sample submission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Safe samples automatically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CSP 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Defender configuration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Signature stale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Trigger intelligence update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Policy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Applied settings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Sample submission state is valid only when CSP delivery produces Policy report; Signature stale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CONFIGURE DEFENDER ANTIVIRUS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PUA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Real-time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PUA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Block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Policy conflict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Security policy vs profile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Device timeline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Detection evidence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PUA state is valid only when Engine produces Device timeline; Policy conflict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CONFIGURE DEFENDER ANTIVIRUS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Tamper protection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Cloud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Block-at-first-sight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Tamper 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On through security management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Sensor unhealthy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Collect Defender diagnostics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Security intelligence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Current version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Tamper protection state is valid only when Cloud service produces Security intelligence; Sensor unhealthy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Configure Defender Antivirus policy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251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Setting locked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Tamper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Signature stale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Trigger intelligence update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Policy conflict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Security policy vs profile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Sensor unhealthy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Collect Defender diagnostics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CONFIGURE DEFENDER ANTIVIRUS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Setting locked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252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Setting locked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CSP delivery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Cloud protection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Tamper protection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Get-MpComputerStatus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Get-MpComputerStatus shows Engine + signature;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CONFIGURE DEFENDER ANTIVIRUS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Signature stale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253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Signature stale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Engine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Sample submission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Trigger intelligence update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Applied settings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Policy report shows Applied settings;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CONFIGURE DEFENDER ANTIVIRUS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Policy conflict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254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Policy conflict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Cloud 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PUA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Security policy vs profile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Device timeline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Device timeline shows Detection evidence;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CONFIGURE DEFENDER ANTIVIRUS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Sensor unhealthy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255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threat-protection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Telemetry  |  SUSPECT · Tamper protection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Sensor unhealthy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Collect Defender diagnostics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Security intelligence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Security intelligence shows Current version;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Configure Defender Antivirus policy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256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Get-MpComputerStatus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Engine + signature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Policy report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Applied settings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Device timeline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Detection evidence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Security intelligence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Current version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08A73"/>
                </a:solidFill>
                <a:latin typeface="Arial"/>
              </a:rPr>
              <a:t>LAB 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Manage BitLocker encryption and recovery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257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Encryption policy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Algorithm and scope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TPM protector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Key material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Volume encryption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Background state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Key escrow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Entra recovery object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Rotation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Invalidate exposed key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6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Manage BitLocker encryption and recovery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258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Silent enablement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Standard user allowed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Recovery escrow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Before encryption required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Algorithm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XTS-AES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Rotation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After key use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MANAGE BITLOCKER ENCRYPTION AND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Silent enablement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259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threat-protection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Encryption policy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Silent enablement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Standard user allowed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 escrow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Check device join and permissions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manage-bde -status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Protection state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Silent enablement state is valid only when Encryption policy produces manage-bde -status; No escrow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MANAGE BITLOCKER ENCRYPTION AND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Recovery escrow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260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Recovery escrow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Before encryption required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TPM protector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Key material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TPM not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Inspect tpm.msc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Recovery object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Key ID match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Recovery escrow state is valid only when TPM protector produces Recovery object; TPM not ready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MANAGE BITLOCKER ENCRYPTION AND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Algorithm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261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Volume encryption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Background 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Algorithm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XTS-AES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Encryption suspended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Resume protectors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Encryption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Compliant volume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Algorithm state is valid only when Volume encryption produces Encryption report; Encryption suspended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MANAGE BITLOCKER ENCRYPTION AND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Rotation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262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Key escrow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Entra recovery object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After key 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Recovery key exposed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Rotate from Intune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Rotation audit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New key timestamp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Rotation state is valid only when Key escrow produces Rotation audit; Recovery key exposed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Manage BitLocker encryption and recovery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263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No escrow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Check device join and permissions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TPM not ready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Inspect tpm.msc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Encryption suspended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Resume protectors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Recovery key exposed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Rotate from Intune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MANAGE BITLOCKER ENCRYPTION AND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No escrow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264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No escrow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TPM protector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Silent enablement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Check device join and permissions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manage-bde -status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manage-bde -status shows Protection state;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MANAGE BITLOCKER ENCRYPTION AND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TPM not ready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265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TPM not ready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Volume encryption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Recovery escrow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Inspect tpm.msc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Key ID match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Recovery object shows Key ID match;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MANAGE BITLOCKER ENCRYPTION AND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Encryption suspended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266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Encryption suspended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Key escrow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Algorithm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Resume protectors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Encryption report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Encryption report shows Compliant volume;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MANAGE BITLOCKER ENCRYPTION AND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Recovery key exposed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267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threat-protection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Rotation  |  SUSPECT · Rotation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Recovery key exposed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Rotate from Intune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Rotation audit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Rotation audit shows New key timestamp;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Manage BitLocker encryption and recovery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268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manage-bde -status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Protection state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Recovery object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Key ID match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Encryption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Compliant volume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Rotation audit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New key timestamp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08A73"/>
                </a:solidFill>
                <a:latin typeface="Arial"/>
              </a:rPr>
              <a:t>LAB 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Enforce Windows Firewall policy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269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Profile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Domain/private/public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Policy merge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Local + MDM rules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Filtering platform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Inbound/outbound decision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Logging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Dropped and allowed traffic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Firewall state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6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Enforce Windows Firewall policy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270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Default inbound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Block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Rule 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Program · port · address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Local merge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Disable where required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Log path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pfirewall.log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ENFORCE WINDOWS FIREWALL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Default inbound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271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threat-protection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Profile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Default inbound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Block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Wrong profile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Inspect active network category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Get-NetFirewallProfile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Enabled state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Default inbound state is valid only when Profile detection produces Get-NetFirewallProfile; Wrong profile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ENFORCE WINDOWS FIREWALL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Rule scope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272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Rule 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Program · port · address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Policy merge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Local + MDM rules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Overbroad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Constrain program and remote address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Get-NetFirewallRule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Policy source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Rule scope state is valid only when Policy merge produces Get-NetFirewallRule; Overbroad rule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ENFORCE WINDOWS FIREWALL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Local merge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273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Filtering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Inbound/outbound decision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Local merge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Disable where required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Rule conflict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Review policy stores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Firewall 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Dropped packet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Local merge state is valid only when Filtering platform produces Firewall log; Rule conflict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ENFORCE WINDOWS FIREWALL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Log path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274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Logging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Dropped and allowed traffic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Log 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pfirewall.log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 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Enable successful/dropped logging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Intune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Profile applied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Log path state is valid only when Logging produces Intune report; No log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Enforce Windows Firewall policy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275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Wrong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Inspect active network category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Overbroad rule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Constrain program and remote address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Rule conflict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Review policy stores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No log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Enable successful/dropped logging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ENFORCE WINDOWS FIREWALL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Wrong profile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276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Wrong profile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Policy merge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Default inbound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Inspect active network category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Get-NetFirewallProfile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Get-NetFirewallProfile shows Enabled state;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ENFORCE WINDOWS FIREWALL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Overbroad rule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277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Overbroad rule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Filtering platform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Rule scope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Constrain program and remote address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Policy source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Get-NetFirewallRule shows Policy source;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ENFORCE WINDOWS FIREWALL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Rule conflict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278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Rule conflict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Logging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Local merge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Review policy stores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Firewall log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Firewall log shows Dropped packet;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ENFORCE WINDOWS FIREWALL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No log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279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threat-protection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Report  |  SUSPECT · Log path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 log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Enable successful/dropped logging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Intune report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Intune report shows Profile applied;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Enforce Windows Firewall policy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280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Get-NetFirewallProfile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Enabled state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Get-NetFirewallRule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Policy source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Firewall 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Dropped packet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Intune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Profile applied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08A73"/>
                </a:solidFill>
                <a:latin typeface="Arial"/>
              </a:rPr>
              <a:t>LAB 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Reduce attack surface with ASR and Zero Trust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281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Process behavior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Command or content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ASR rule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Rule ID evaluation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Audit · warn · block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Defender telemetry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Event recorded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Operations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Tune exclusions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6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Reduce attack surface with ASR and Zero Trust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282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Phased rollout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Audit then warn then block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Rule 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Stable GUID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Exclusion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Narrow and justified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Zero Trust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Verify explicitly and limit impact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REDUCE ATTACK SURFACE WITH ASR AND ZERO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Phased rollout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283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threat-protection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Process behavior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Phased rollout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Audit then warn then block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Business app blocked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Use event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Event 1121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Blocked action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Phased rollout state is valid only when Process behavior produces Event 1121; Business app blocked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REDUCE ATTACK SURFACE WITH ASR AND ZERO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Rule ID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284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Rule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Stable GUID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ASR rule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Rule ID evaluation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Global exclusion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Replace with per-rule exclusion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Advanced hunting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DeviceEvents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Rule ID state is valid only when ASR rule engine produces Advanced hunting; Global exclusion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REDUCE ATTACK SURFACE WITH ASR AND ZERO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Exclusion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Audit · warn · block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Exclusion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Narrow and justified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 telemetry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Verify cloud protection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ASR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Rule and device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Exclusion state is valid only when Mode produces ASR report; No telemetry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REDUCE ATTACK SURFACE WITH ASR AND ZERO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Zero Trust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286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Defender telemetry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Event recorded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Zero Trust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Verify explicitly and limit impact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Rule not active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Check edition and policy precedence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Exception register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Owner + expiry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Zero Trust state is valid only when Defender telemetry produces Exception register; Rule not active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Reduce attack surface with ASR and Zero Trust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287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Business app blocked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Use event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Global exclusion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Replace with per-rule exclusion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No telemetry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Verify cloud protection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Rule not active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Check edition and policy precedence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REDUCE ATTACK SURFACE WITH ASR AND ZERO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Business app blocked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288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Business app blocked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ASR rule engine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Phased rollout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Use event evidence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Event 1121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Event 1121 shows Blocked action;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REDUCE ATTACK SURFACE WITH ASR AND ZERO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Global exclusion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289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Global exclusion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Mode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Rule ID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Replace with per-rule exclusion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DeviceEvents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Advanced hunting shows DeviceEvents;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REDUCE ATTACK SURFACE WITH ASR AND ZERO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No telemetry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290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No telemetry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Defender telemetry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Exclusion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Verify cloud protection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ASR report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ASR report shows Rule and device;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REDUCE ATTACK SURFACE WITH ASR AND ZERO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Rule not active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291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threat-protection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Operations  |  SUSPECT · Zero Trust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Rule not active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Check edition and policy precedence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Exception register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Exception register shows Owner + expiry;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Reduce attack surface with ASR and Zero Trust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292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Event 1121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Blocked 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Advanced hunting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DeviceEvents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ASR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Rule and device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Exception register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Owner + expiry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08A73"/>
                </a:solidFill>
                <a:latin typeface="Arial"/>
              </a:rPr>
              <a:t>LAB 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901952"/>
            <a:ext cx="10835640" cy="265176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901952"/>
            <a:ext cx="128016" cy="265176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8448" y="2322576"/>
            <a:ext cx="8961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8A73"/>
                </a:solidFill>
                <a:latin typeface="Arial"/>
              </a:rPr>
              <a:t>DAY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2761488"/>
            <a:ext cx="89611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3675887"/>
            <a:ext cx="89611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Return at the time announced by the trainer.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6858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293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Apply security baselines without configuration drift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294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Baseline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Recommended settings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Profile instance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Versioned configuration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Assignment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Pilot cohort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Per-setting 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State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Update workflow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Review new template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6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Apply security baselines without configuration drift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295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Baseline 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Immutable template snapshot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Representative devices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Exception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Documented deviation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Migration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Create new profile then retire old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APPLY SECURITY BASELINES WITHOUT CONFIGURATION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Baseline version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296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threat-protection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Baseline template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Baseline version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Immutable template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Conflict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Same setting in another profile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Per-setting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Success/conflict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Baseline version state is valid only when Baseline template produces Per-setting status; Conflict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APPLY SECURITY BASELINES WITHOUT CONFIGURATION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Pilot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297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Representative devices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Profile instance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Versioned configuration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Template update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Not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Baseline version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Recorded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Pilot state is valid only when Profile instance produces Baseline version; Template update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APPLY SECURITY BASELINES WITHOUT CONFIGURATION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Exception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298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Pilot cohort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Exception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Documented deviation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Legacy setting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Unsupported on current 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Pilot acceptance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Security + productivity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Exception state is valid only when Assignment produces Pilot acceptance; Legacy setting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APPLY SECURITY BASELINES WITHOUT CONFIGURATION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Migration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299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Per-setting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Migration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Create new profile then retire old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Overhardening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Validate business workload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Exception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Approved control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Migration state is valid only when Per-setting report produces Exception evidence; Overhardening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Apply security baselines without configuration drift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300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Conflict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Same setting in another profile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Template update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Not automatic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Legacy setting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Unsupported on current 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Overhardening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Validate business workload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APPLY SECURITY BASELINES WITHOUT CONFIGURATION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Conflict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301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Conflict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Profile instance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Baseline version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Same setting in another profile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Per-setting status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Per-setting status shows Success/conflict;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APPLY SECURITY BASELINES WITHOUT CONFIGURATION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Template update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302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Template update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Pilot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Not automatic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Recorded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Baseline version shows Recorded;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APPLY SECURITY BASELINES WITHOUT CONFIGURATION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Legacy setting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Legacy setting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Per-setting report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Exception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Unsupported on current 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Pilot acceptance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Pilot acceptance shows Security + productivity;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APPLY SECURITY BASELINES WITHOUT CONFIGURATION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Overhardening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threat-protection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Update workflow  |  SUSPECT · Migration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Overhardening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Validate business workload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Exception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Exception evidence shows Approved control;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Apply security baselines without configuration drift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305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Per-setting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Success/conflict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Baseline 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Recorded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Pilot acceptance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Security + productivity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Exception 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Approved control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08A73"/>
                </a:solidFill>
                <a:latin typeface="Arial"/>
              </a:rPr>
              <a:t>LAB 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Integrate Intune with Defender for Endpoint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306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Connector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Tenant trust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Onboarding policy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Sensor activation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Risk signal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Defender device risk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Compliance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Risk threshold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Conditional Access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Resource gate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6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Integrate Intune with Defender for Endpoint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307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Connector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Active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EDR policy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Onboard blob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Risk level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Clear · low · medium · high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Compliance rule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Require below threshold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INTEGRATE INTUNE WITH DEFENDER FOR ENDPOINT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Connector status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threat-protection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Connector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Connector status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Active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Device not onboarded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Check Sense service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MDE device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Sensor health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Connector status state is valid only when Connector produces MDE device page; Device not onboarded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INTEGRATE INTUNE WITH DEFENDER FOR ENDPOINT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EDR policy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309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EDR 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Onboard blob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Onboarding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Sensor activation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Duplicate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Resolve device identity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Intune connector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Last sync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EDR policy state is valid only when Onboarding policy produces Intune connector; Duplicate record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INTEGRATE INTUNE WITH DEFENDER FOR ENDPOINT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 level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Defender device risk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 level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Clear · low · medium · high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 not flowing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Check connector scope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Compliance detail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Machine risk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Risk level state is valid only when Risk signal produces Compliance detail; Risk not flowing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INTEGRATE INTUNE WITH DEFENDER FOR ENDPOINT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Compliance rule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Risk threshold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Compliance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Require below threshold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Access unexpectedly blocked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Inspect CA and risk timeline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Sign-in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Risk-based block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Compliance rule state is valid only when Compliance produces Sign-in result; Access unexpectedly blocked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Integrate Intune with Defender for Endpoint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Device not onboarded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Check Sense 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Duplicate record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Resolve device identity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Risk not flowing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Check connector scope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Access unexpectedly blocked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Inspect CA and risk timeline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INTEGRATE INTUNE WITH DEFENDER FOR ENDPOINT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Device not onboarded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313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Device not onboarded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Onboarding policy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Connector status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Check Sense service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MDE device page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MDE device page shows Sensor health;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INTEGRATE INTUNE WITH DEFENDER FOR ENDPOINT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Duplicate record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314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Duplicate record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Risk signal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EDR policy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Resolve device identity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Last sync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Intune connector shows Last sync;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INTEGRATE INTUNE WITH DEFENDER FOR ENDPOINT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 not flowing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Risk not flowing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Compliance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 level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Check connector scope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Compliance detail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Compliance detail shows Machine risk;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INTEGRATE INTUNE WITH DEFENDER FOR ENDPOINT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unexpectedly blocked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threat-protection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Conditional Access  |  SUSPECT · Compliance rule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Access unexpectedly blocked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CA and risk timeline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Sign-in result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Sign-in result shows Risk-based block;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Integrate Intune with Defender for Endpoint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317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MDE device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Sensor health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Intune connector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Last sync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Compliance detail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Machine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Sign-in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Risk-based block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08A73"/>
                </a:solidFill>
                <a:latin typeface="Arial"/>
              </a:rPr>
              <a:t>LAB 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901952"/>
            <a:ext cx="10835640" cy="265176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901952"/>
            <a:ext cx="128016" cy="265176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8448" y="2322576"/>
            <a:ext cx="8961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8A73"/>
                </a:solidFill>
                <a:latin typeface="Arial"/>
              </a:rPr>
              <a:t>DAY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2761488"/>
            <a:ext cx="89611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3675887"/>
            <a:ext cx="89611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Return at the time announced by the trainer.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6858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Control application execution with App Control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319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Policy creation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Allow rules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Code integrity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Signature evaluation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Execution request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File identity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Decision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Allow/audit/block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Telemetry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CodeIntegrity events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6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Control application execution with App Control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320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Base policy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Trusted estate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Supplemental policy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Scoped extension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Audit mode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Inventory before enforcement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Managed installer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Trust tagged deployment source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CONTROL APPLICATION EXECUTION WITH APP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Base policy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threat-protection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Policy creation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Base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Trusted estate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Unsigned business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Create publisher/file rule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CodeIntegrity 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File and signer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Base policy state is valid only when Policy creation produces CodeIntegrity event; Unsigned business app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CONTROL APPLICATION EXECUTION WITH APP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Supplemental policy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322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Supplemental 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Scoped extension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Code integrity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Signature evaluation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Policy brick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Stage in audit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Policy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Applied CIPolicy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Supplemental policy state is valid only when Code integrity produces Policy ID; Policy brick risk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CONTROL APPLICATION EXECUTION WITH APP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mode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Execution 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File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Audit mode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Inventory before enforcement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Rule too broad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Avoid path trust where writable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Audit inventory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Required exceptions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Audit mode state is valid only when Execution request produces Audit inventory; Rule too broad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CONTROL APPLICATION EXECUTION WITH APP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Managed installer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Decision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Allow/audit/block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Managed 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Trust tagged deployment source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Rollback unavailable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Maintain recovery plan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Block 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Unauthorized binary denied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Managed installer state is valid only when Decision produces Block test; Rollback unavailable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Control application execution with App Control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Unsigned business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Create publisher/file rule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Policy brick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Stage in audit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Rule too broad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Avoid path trust where writable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Rollback unavailable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Maintain recovery plan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CONTROL APPLICATION EXECUTION WITH APP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Unsigned business app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326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Unsigned business app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Code integrity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Base policy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Create publisher/file rule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CodeIntegrity event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CodeIntegrity event shows File and signer;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CONTROL APPLICATION EXECUTION WITH APP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Policy brick risk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327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Policy brick risk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Execution request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Supplemental policy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Stage in audit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Applied CIPolicy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Policy ID shows Applied CIPolicy;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CONTROL APPLICATION EXECUTION WITH APP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Rule too broad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Rule too broad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Decision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Audit mode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Avoid path trust where writable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Audit inventory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Audit inventory shows Required exceptions;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CONTROL APPLICATION EXECUTION WITH APP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Rollback unavailable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threat-protection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Telemetry  |  SUSPECT · Managed installer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Rollback unavailable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Maintain recovery 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Block test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Block test shows Unauthorized binary denied;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Control application execution with App Control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CodeIntegrity event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File and signer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Policy 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Applied CIPolicy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Audit inventory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Required exceptions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Block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Unauthorized binary denied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08A73"/>
                </a:solidFill>
                <a:latin typeface="Arial"/>
              </a:rPr>
              <a:t>LAB 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Operate update rings, Autopatch and Hotpatch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331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Release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Quality/feature update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Deployment 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Target ring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Client scan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Applicability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Install/restart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Deadline behavior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Reporting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Update state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7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Operate update rings, Autopatch and Hotpatch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Deferral + deadline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Feature policy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Pinned version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Autopatch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Service-managed rings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Hotpatch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Eligible baseline + quarterly refresh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OPERATE UPDATE RINGS, AUTOPATCH AND HOTPATCH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Ring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threat-protection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Release service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Deferral + deadline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Offer not received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Check safeguards and policy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Update 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Offer/install state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Ring state is valid only when Release service produces Update report; Offer not received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OPERATE UPDATE RINGS, AUTOPATCH AND HOTPATCH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Feature policy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334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Feature 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Pinned version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Deployment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Target 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Restart disruption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Tune active hours/deadlines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Client 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WindowsUpdate.log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Feature policy state is valid only when Deployment service produces Client log; Restart disruption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OPERATE UPDATE RINGS, AUTOPATCH AND HOTPATCH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Autopatch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Client scan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Applicability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Autopatch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Service-managed rings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Conflicting policies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Consolidate update source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Autopatch 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Release phase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Autopatch state is valid only when Client scan produces Autopatch status; Conflicting policies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OPERATE UPDATE RINGS, AUTOPATCH AND HOTPATCH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Hotpatch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Install/restart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Deadline behavior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Hotpatch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Eligible baseline + quarterly refresh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Hotpatch ineligible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Validate edition and baseline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Compliance by deadline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Hotpatch state is valid only when Install/restart produces KPI; Hotpatch ineligible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Operate update rings, Autopatch and Hotpatch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337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Offer not received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Check safeguards and policy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Restart disruption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Tune active hours/deadlines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Conflicting policies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Consolidate update source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Hotpatch ineligible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Validate edition and baseline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OPERATE UPDATE RINGS, AUTOPATCH AND HOTPATCH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Offer not received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338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Offer not received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Deployment service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Ring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Check safeguards and policy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Update report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Update report shows Offer/install state;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OPERATE UPDATE RINGS, AUTOPATCH AND HOTPATCH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Restart disruption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339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Restart disruption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Client scan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Feature policy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Tune active hours/deadlines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WindowsUpdate.log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Client log shows WindowsUpdate.log;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OPERATE UPDATE RINGS, AUTOPATCH AND HOTPATCH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Conflicting policies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Conflicting policies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Install/restart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Autopatch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Consolidate update source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Autopatch status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Autopatch status shows Release phase;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OPERATE UPDATE RINGS, AUTOPATCH AND HOTPATCH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Hotpatch ineligible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threat-protection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Reporting  |  SUSPECT · Hotpatch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Hotpatch ineligible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Validate edition and baseline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KPI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KPI shows Compliance by deadline;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DOMAIN 3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Operate update rings, Autopatch and Hotpatch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342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Update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Offer/install state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Client 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WindowsUpdate.log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Autopatch 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Release phase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Compliance by deadline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08A73"/>
                </a:solidFill>
                <a:latin typeface="Arial"/>
              </a:rPr>
              <a:t>LAB 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HANDS-ON · 120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Lab 6: Endpoint security, Defender, BitLocker, firewall and ASR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343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10561320" cy="941832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19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847088"/>
            <a:ext cx="8732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Contoso must implement the control, prove the observed state, diagnose one seeded failure, and retain an auditable evidence pack.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17319" y="3236976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19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PLAN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51176" y="3657600"/>
            <a:ext cx="402336" cy="0"/>
          </a:xfrm>
          <a:prstGeom prst="line">
            <a:avLst/>
          </a:prstGeom>
          <a:ln w="1778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026664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84448" y="3236976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448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6D3FD2"/>
                </a:solidFill>
                <a:latin typeface="Arial"/>
              </a:rPr>
              <a:t>CONFIGURE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18304" y="3657600"/>
            <a:ext cx="402336" cy="0"/>
          </a:xfrm>
          <a:prstGeom prst="line">
            <a:avLst/>
          </a:prstGeom>
          <a:ln w="1778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193792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3236976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51576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1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85431" y="3657600"/>
            <a:ext cx="402337" cy="0"/>
          </a:xfrm>
          <a:prstGeom prst="line">
            <a:avLst/>
          </a:prstGeom>
          <a:ln w="1778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60920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918704" y="3236976"/>
            <a:ext cx="548640" cy="54864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18704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6845B"/>
                </a:solidFill>
                <a:latin typeface="Arial"/>
              </a:rPr>
              <a:t>BREAK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052560" y="3657600"/>
            <a:ext cx="402336" cy="0"/>
          </a:xfrm>
          <a:prstGeom prst="line">
            <a:avLst/>
          </a:prstGeom>
          <a:ln w="1778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528048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5832" y="3236976"/>
            <a:ext cx="548640" cy="548640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5832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77600"/>
                </a:solidFill>
                <a:latin typeface="Arial"/>
              </a:rPr>
              <a:t>RECOVER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486460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4864608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97433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YOU'LL PRODUCE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528523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Security control set with Defender/BitLocker/firewall/ASR verification and exception record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LO2 · LO3 · K3 · K4 · A4 · A5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6 — acceptance and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344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30175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6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Configured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Policy/profile/assignment values are visible and scoped to the intended cohort.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5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37360"/>
            <a:ext cx="82296" cy="30175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02736" y="1965960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27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96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Observed 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device, app or identity shows the expected service and client-side outcome.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216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98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37360"/>
            <a:ext cx="82296" cy="30175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45936" y="1965960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28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Failure diagnosis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seeded issue is tied to an error, log, report or missing state—not a guess.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648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30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37360"/>
            <a:ext cx="82296" cy="30175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089136" y="1965960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60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Recovery proof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post-change retest demonstrates the corrected state with timestamp/correlation evidence.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080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262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SUBMISSION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Save the evidence under labs/lab-06-endpoint-security-defender/evidence/. Detailed steps are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HANDS-ON · 110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Lab 7: Update rings, feature updates, Autopatch, Hotpatch and Delivery Optimization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345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10561320" cy="941832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19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847088"/>
            <a:ext cx="8732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Contoso must implement the control, prove the observed state, diagnose one seeded failure, and retain an auditable evidence pack.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17319" y="3236976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19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PLAN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51176" y="3657600"/>
            <a:ext cx="402336" cy="0"/>
          </a:xfrm>
          <a:prstGeom prst="line">
            <a:avLst/>
          </a:prstGeom>
          <a:ln w="1778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026664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84448" y="3236976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448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6D3FD2"/>
                </a:solidFill>
                <a:latin typeface="Arial"/>
              </a:rPr>
              <a:t>CONFIGURE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18304" y="3657600"/>
            <a:ext cx="402336" cy="0"/>
          </a:xfrm>
          <a:prstGeom prst="line">
            <a:avLst/>
          </a:prstGeom>
          <a:ln w="1778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193792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3236976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51576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1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85431" y="3657600"/>
            <a:ext cx="402337" cy="0"/>
          </a:xfrm>
          <a:prstGeom prst="line">
            <a:avLst/>
          </a:prstGeom>
          <a:ln w="1778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60920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918704" y="3236976"/>
            <a:ext cx="548640" cy="54864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18704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6845B"/>
                </a:solidFill>
                <a:latin typeface="Arial"/>
              </a:rPr>
              <a:t>BREAK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052560" y="3657600"/>
            <a:ext cx="402336" cy="0"/>
          </a:xfrm>
          <a:prstGeom prst="line">
            <a:avLst/>
          </a:prstGeom>
          <a:ln w="1778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528048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5832" y="3236976"/>
            <a:ext cx="548640" cy="548640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5832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77600"/>
                </a:solidFill>
                <a:latin typeface="Arial"/>
              </a:rPr>
              <a:t>RECOVER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486460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4864608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97433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YOU'LL PRODUCE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528523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Staged update design, eligibility checks, rollout metrics and rollback decision evidence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LO1 · LO2 · K1 · K2 · A2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7 — acceptance and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346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30175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6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Configured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Policy/profile/assignment values are visible and scoped to the intended cohort.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5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37360"/>
            <a:ext cx="82296" cy="30175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02736" y="1965960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27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96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Observed 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device, app or identity shows the expected service and client-side outcome.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216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98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37360"/>
            <a:ext cx="82296" cy="30175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45936" y="1965960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28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Failure diagnosis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seeded issue is tied to an error, log, report or missing state—not a guess.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648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30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37360"/>
            <a:ext cx="82296" cy="30175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089136" y="1965960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60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Recovery proof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post-change retest demonstrates the corrected state with timestamp/correlation evidence.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080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262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SUBMISSION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Save the evidence under labs/lab-07-updates-autopatch-hotpatch/evidence/. Detailed steps are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8A73"/>
                </a:solidFill>
                <a:latin typeface="Arial"/>
              </a:rPr>
              <a:t>RETRIEVE · DIAGNOSE · EXPLAIN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Day 3 technical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347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29718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56816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Configure Defender Antivirus policy
• Manage BitLocker encryption and recovery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82296" cy="297180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956816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Enforce Windows Firewall policy
• Reduce attack surface with ASR and Zero Trust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737360"/>
            <a:ext cx="82296" cy="2971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1956816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Apply security baselines without configuration drift
• Integrate Intune with Defender for Endpoint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737360"/>
            <a:ext cx="82296" cy="297180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1956816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Control application execution with App Control
• Operate update rings, Autopatch and Hotpatch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04748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047488"/>
            <a:ext cx="91440" cy="1005840"/>
          </a:xfrm>
          <a:prstGeom prst="rect">
            <a:avLst/>
          </a:prstGeom>
          <a:solidFill>
            <a:srgbClr val="108A73"/>
          </a:solidFill>
          <a:ln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15721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8A73"/>
                </a:solidFill>
                <a:latin typeface="Arial"/>
              </a:rPr>
              <a:t>REMEMBER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6811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For each checkpoint, name the architecture boundary, exact contract, failure evidence and acceptance state.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21408"/>
            <a:ext cx="960120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77600"/>
                </a:solidFill>
                <a:latin typeface="Arial"/>
              </a:rPr>
              <a:t>DAY 4 · 8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587752"/>
            <a:ext cx="9326880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Application lifecycle and data protection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584448"/>
            <a:ext cx="932688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Win32 and Microsoft 365 Apps; MAM; app configuration; troubleshooting · 15–20% · LO2 · LO3 · K2 · K3 · A2 · A5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73152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348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NATIVE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Manage and secure applications — indicative operational signal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349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41248" y="1682496"/>
          <a:ext cx="740664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8522208" y="1682496"/>
            <a:ext cx="2852928" cy="34290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33104" y="1965960"/>
            <a:ext cx="2231136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C77600"/>
                </a:solidFill>
                <a:latin typeface="Arial"/>
              </a:rPr>
              <a:t>15–20%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3104" y="2615184"/>
            <a:ext cx="223113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5B6372"/>
                </a:solidFill>
                <a:latin typeface="Arial"/>
              </a:rPr>
              <a:t>CURRENT EXAM WEIGHT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3104" y="3172968"/>
            <a:ext cx="223113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LO2 · LO3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3104" y="3584448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K2 · K3 · A2 · A5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33104" y="4416552"/>
            <a:ext cx="223113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77600"/>
                </a:solidFill>
                <a:latin typeface="Arial"/>
              </a:rPr>
              <a:t>Indicative teaching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157216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157216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266944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WHAT THE DATA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577840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Separate true failures from not-applicable devices before changing an application.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Package and deploy Win32 applications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350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Source 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Install payload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Content prep tool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.intunewin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Service upload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Encrypted package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IME download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Device cache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Installer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Exit code + detection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8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Package and deploy Win32 applications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351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Install command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Silent and idempotent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MSI · file · registry · script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Architecture and 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Return codes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Success · retry · reboot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PACKAGE AND DEPLOY WIN32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Install command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Source files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Install command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Silent and idempotent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0x87D30067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Detection failed after install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IME log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IntuneManagementExtension.log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Install command state is valid only when Source files produces IME log; 0x87D30067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PACKAGE AND DEPLOY WIN32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Detection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353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MSI · file · registry · script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Content prep tool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.intunewin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0x80070002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File or path missing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Detection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Installed state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Detection state is valid only when Content prep tool produces Detection output; 0x80070002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PACKAGE AND DEPLOY WIN32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Requirements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354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Service upload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Encrypted package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Requirements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Architecture and 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Installer context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System vs user mismatch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Device install status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Requirements state is valid only when Service upload produces App report; Installer context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PACKAGE AND DEPLOY WIN32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Return codes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355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IME download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Device cache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Return codes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Success · retry · reboot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Reboot 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Map return codes correctly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Exit 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Mapped result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Return codes state is valid only when IME download produces Exit code; Reboot loop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Package and deploy Win32 applications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356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0x87D30067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Detection failed after install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0x80070002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File or path missing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Installer 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System vs user mismatch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Reboot loop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Map return codes correctly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PACKAGE AND DEPLOY WIN32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0x87D30067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357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0x87D30067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Content prep tool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Install command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Detection failed after install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IME log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IME log shows IntuneManagementExtension.log;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PACKAGE AND DEPLOY WIN32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0x80070002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358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0x80070002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Service upload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Detection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File or path missing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Installed state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Detection output shows Installed state;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PACKAGE AND DEPLOY WIN32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Installer context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359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Installer context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IME download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Requirements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System vs user mismatch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 report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App report shows Device install status;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PACKAGE AND DEPLOY WIN32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Reboot loop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360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Installer  |  SUSPECT · Return codes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Reboot loop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Map return codes correctly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Exit 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Exit code shows Mapped result;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Package and deploy Win32 applications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361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IME 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IntuneManagementExtension.log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Detection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Installed state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App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Device install status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Exit 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Mapped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77600"/>
                </a:solidFill>
                <a:latin typeface="Arial"/>
              </a:rPr>
              <a:t>LAB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Sequence apps with dependencies and supersedence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362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Required/available/uninstall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Dependency 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Prerequisites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Install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Topological sequence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Supersedence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Update or replace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Detection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Final state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8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Sequence apps with dependencies and supersedence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363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Dependency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Auto-install prerequisite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Supersedence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Update or uninstall previous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Requirement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Gate by device state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Availability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Company Portal intent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SEQUENCE APPS WITH DEPENDENCIES AND SUPERSEDENCE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Dependency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364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Assignment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Dependency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Auto-install prerequisite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Cycle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Remove circular dependency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Dependency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Expected sequence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Dependency state is valid only when Assignment produces Dependency graph; Cycle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SEQUENCE APPS WITH DEPENDENCIES AND SUPERSEDENCE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Supersedence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365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Supersedence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Update or uninstall previous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Dependency graph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Prerequisites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Wrong uninstall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Test supersedence option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IME 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Install orchestration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Supersedence state is valid only when Dependency graph produces IME log; Wrong uninstall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SEQUENCE APPS WITH DEPENDENCIES AND SUPERSEDENCE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Requirement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366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Install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Topological sequence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Requirement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Gate by device state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Detection overlap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Use version-aware rule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 version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New build detected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Requirement state is valid only when Install order produces App version; Detection overlap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SEQUENCE APPS WITH DEPENDENCIES AND SUPERSEDENCE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Availability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367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Supersedence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Update or replace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Availability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Company Portal intent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Assignment conflict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Resolve required vs uninstall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No stale required failure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Availability state is valid only when Supersedence produces Report; Assignment conflict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Sequence apps with dependencies and supersedence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368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Remove circular dependency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Wrong uninstall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Test supersedence option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Detection overlap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Use version-aware rule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Assignment conflict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Resolve required vs uninstall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SEQUENCE APPS WITH DEPENDENCIES AND SUPERSEDENCE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Cycle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369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Cycle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Dependency graph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Dependency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Remove circular dependency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Dependency graph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Dependency graph shows Expected sequence;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SEQUENCE APPS WITH DEPENDENCIES AND SUPERSEDENCE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Wrong uninstall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370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Wrong uninstall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Install order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Supersedence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Test supersedence option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Install orchestration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IME log shows Install orchestration;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SEQUENCE APPS WITH DEPENDENCIES AND SUPERSEDENCE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Detection overlap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371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Detection overlap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Supersedence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Requirement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Use version-aware rule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 version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App version shows New build detected;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SEQUENCE APPS WITH DEPENDENCIES AND SUPERSEDENCE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Assignment conflict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372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Detection  |  SUSPECT · Availability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Assignment conflict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Resolve required vs uninstall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Report shows No stale required failure;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Sequence apps with dependencies and supersedence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373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Dependency 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Expected sequence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IME 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Install orchestration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App 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New build detected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stale required failure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77600"/>
                </a:solidFill>
                <a:latin typeface="Arial"/>
              </a:rPr>
              <a:t>LAB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 Microsoft 365 Apps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374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Configuration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Apps and channel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Content source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Office CDN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Click-to-Run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Streaming install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Policy service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Cloud policy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Inventory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Version and channel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8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 Microsoft 365 Apps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375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Update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Current Enterprise or selected channel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Architecture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64-bit by default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ODT XML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Product · language · updates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Policy priority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Cloud policy vs local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DEPLOY MICROSOFT 365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Update channel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376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Configuration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Update channel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Current Enterprise or selected channel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Channel mismatch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Review CDNBaseUrl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OfficeC2RClient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Version/channel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Update channel state is valid only when Configuration produces OfficeC2RClient; Channel mismatch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DEPLOY MICROSOFT 365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Architecture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377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64-bit by default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Content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Office CDN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Office apps open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Handle update deadline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Intune app status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Installed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Architecture state is valid only when Content source produces Intune app status; Office apps open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DEPLOY MICROSOFT 365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ODT XML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378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Click-to-Run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Streaming install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ODT XML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Product · language · updates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Network optimization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Use Delivery Optimization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Apps admin center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Inventory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ODT XML state is valid only when Click-to-Run produces Apps admin center; Network optimization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DEPLOY MICROSOFT 365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Policy priority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379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Policy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Cloud policy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Policy priority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Cloud policy vs local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Policy conflict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Inspect cloud policy status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Policy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Applied Office settings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Policy priority state is valid only when Policy service produces Policy report; Policy conflict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 Microsoft 365 Apps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380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Channel mismatch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Review CDNBaseUrl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Office apps open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Handle update deadline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Network optimization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Use Delivery Optimization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Policy conflict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Inspect cloud policy status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DEPLOY MICROSOFT 365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Channel mismatch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381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Channel mismatch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Content source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Update channel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Review CDNBaseUrl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OfficeC2RClient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OfficeC2RClient shows Version/channel;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DEPLOY MICROSOFT 365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Office apps open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382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Office apps open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Click-to-Run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Handle update deadline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Installed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Intune app status shows Installed;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DEPLOY MICROSOFT 365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optimization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383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Network optimization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Policy 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ODT XML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Use Delivery Optimization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Apps admin center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Apps admin center shows Inventory;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DEPLOY MICROSOFT 365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Policy conflict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384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Inventory  |  SUSPECT · Policy priority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Policy conflict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cloud policy status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Policy report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Policy report shows Applied Office settings;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 Microsoft 365 Apps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385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OfficeC2RClient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Version/channel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Intune app status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Installed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Apps admin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Inventory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Policy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Applied Office settings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77600"/>
                </a:solidFill>
                <a:latin typeface="Arial"/>
              </a:rPr>
              <a:t>LAB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Integrate Apple and Managed Google Play stores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386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Store tenant 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ABM or Managed Google Play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App acquisition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Token/sync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Assignment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User/device/license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Managed install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Platform service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Inventory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Install status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8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Integrate Apple and Managed Google Play stores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387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Apple VPP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Location-specific and renewable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Managed Google Play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Enterprise bind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App 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Managed store app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Licensing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Device or user where supported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INTEGRATE APPLE AND MANAGED GOOGLE PLAY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Apple VPP token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388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Store tenant link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Apple VPP token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Location-specific and renewable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Token expired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Renew with same account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Connector health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Last successful sync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Apple VPP token state is valid only when Store tenant link produces Connector health; Token expired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INTEGRATE APPLE AND MANAGED GOOGLE PLAY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Managed Google Play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389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Managed Google 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Enterprise bind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 acquisition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Token/sync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 not synced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Force connector sync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 record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Current metadata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Managed Google Play state is valid only when App acquisition produces App record; App not synced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INTEGRATE APPLE AND MANAGED GOOGLE PLAY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 type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390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User/device/license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 type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Managed store app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License exhausted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Acquire more licenses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License count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Assigned/available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App type state is valid only when Assignment produces License count; License exhausted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INTEGRATE APPLE AND MANAGED GOOGLE PLAY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Licensing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391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Managed install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Platform 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Licensing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Device or user where supported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Wrong storefront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Verify tenant binding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Device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Managed install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Licensing state is valid only when Managed install produces Device report; Wrong storefront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Integrate Apple and Managed Google Play stores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392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Token expired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Renew with same account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App not synced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Force connector sync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License exhausted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Acquire more licenses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Wrong storefront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Verify tenant binding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INTEGRATE APPLE AND MANAGED GOOGLE PLAY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Token expired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393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Token expired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App acquisition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Apple VPP token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Renew with same account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Connector health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Connector health shows Last successful sync;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INTEGRATE APPLE AND MANAGED GOOGLE PLAY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 not synced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394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App not synced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Managed Google Play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Force connector sync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Current metadata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App record shows Current metadata;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INTEGRATE APPLE AND MANAGED GOOGLE PLAY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License exhausted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395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License exhausted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Managed install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 type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Acquire more licenses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License count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License count shows Assigned/available;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INTEGRATE APPLE AND MANAGED GOOGLE PLAY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Wrong storefront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396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Inventory  |  SUSPECT · Licensing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Wrong storefront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Verify tenant binding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Device report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Device report shows Managed install;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Integrate Apple and Managed Google Play stores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397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Connector health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Last successful sync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App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Current metadata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License 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Assigned/available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Device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Managed install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77600"/>
                </a:solidFill>
                <a:latin typeface="Arial"/>
              </a:rPr>
              <a:t>LAB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901952"/>
            <a:ext cx="10835640" cy="265176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901952"/>
            <a:ext cx="128016" cy="265176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8448" y="2322576"/>
            <a:ext cx="8961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DAY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2761488"/>
            <a:ext cx="89611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3675887"/>
            <a:ext cx="89611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Return at the time announced by the trainer.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6858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398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Protect corporate data with MAM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399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App launch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User signs 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SDK/wrapper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Policy acquisition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Data boundary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Work identity context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Action evaluation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Save/copy/open-in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Selective wipe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Corporate data removed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8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Protect corporate data with MAM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400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Data transfer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Policy-managed apps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Encryption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Organizational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Access requirement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PIN + threat condition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Wipe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User or device scoped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PROTECT CORPORATE DATA WITH MAM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transfer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App launch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Data transfer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Policy-managed apps only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 not protected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Unsupported app or wrong identity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 protection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User + app + device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Data transfer state is valid only when App launch produces App protection status; App not protected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PROTECT CORPORATE DATA WITH MAM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Encryption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402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Encryption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Organizational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SDK/wrapper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Policy acquisition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Policy not applied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Check user assignment and license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Policy diagnostics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Applied settings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Encryption state is valid only when SDK/wrapper produces Policy diagnostics; Policy not applied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PROTECT CORPORATE DATA WITH MAM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requirement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Work identity context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Access requirement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PIN + threat condition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Copy blocked unexpectedly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Review exempt apps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Selective wipe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Completed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Access requirement state is valid only when Data boundary produces Selective wipe report; Copy blocked unexpectedly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PROTECT CORPORATE DATA WITH MAM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Wipe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Action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Save/copy/open-in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Wipe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User or device scoped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Wipe pending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App must check 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Require app protection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Wipe state is valid only when Action evaluation produces CA result; Wipe pending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Protect corporate data with MAM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App not protected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Unsupported app or wrong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Policy not applied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Check user assignment and license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Copy blocked unexpectedly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Review exempt apps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Wipe pending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App must check in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PROTECT CORPORATE DATA WITH MAM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 not protected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406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 not protected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SDK/wrapper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Data transfer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Unsupported app or wrong identity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 protection status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App protection status shows User + app + device;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PROTECT CORPORATE DATA WITH MAM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Policy not applied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407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Policy not applied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Data boundary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Encryption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Check user assignment and license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Applied settings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Policy diagnostics shows Applied settings;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PROTECT CORPORATE DATA WITH MAM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Copy blocked unexpectedly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Copy blocked unexpectedly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Action evaluation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Access requirement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Review exempt apps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Selective wipe report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Selective wipe report shows Completed;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PROTECT CORPORATE DATA WITH MAM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Wipe pending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Selective wipe  |  SUSPECT · Wipe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Wipe pending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 must check 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 result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CA result shows Require app protection;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Protect corporate data with MAM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410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App protection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User + app + device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Policy diagnostics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Applied settings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Selective wipe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Require app protection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77600"/>
                </a:solidFill>
                <a:latin typeface="Arial"/>
              </a:rPr>
              <a:t>LAB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Combine app protection with Conditional Access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411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Sign-in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User + app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CA conditions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Platform/client/risk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Grant control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Require approved app or APP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App policy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Data controls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Token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Protected session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8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Combine app protection with Conditional Access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Grant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Require app protection policy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Client apps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Mobile apps and desktop clients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Report-only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Validate before enforce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Exclusion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Emergency access accounts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COMBINE APP PROTECTION WITH CONDITIONAL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Grant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Sign-in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Grant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Require app protection policy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Unsupported client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Block or constrain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Sign-in log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CA policy result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Grant state is valid only when Sign-in produces Sign-in log; Unsupported client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COMBINE APP PROTECTION WITH CONDITIONAL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Client apps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414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Client apps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Mobile apps and desktop clients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 conditions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Platform/client/risk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Policy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CA grants access without APP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Policy delivered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Client apps state is valid only when CA conditions produces APP report; Policy gap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COMBINE APP PROTECTION WITH CONDITIONAL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Report-only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Grant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Require approved app or 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Report-only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Validate before enforce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Lockout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Use report-only and exclusions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Token claim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Client/app context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Report-only state is valid only when Grant control produces Token claim; Lockout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COMBINE APP PROTECTION WITH CONDITIONAL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Exclusion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 policy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Data controls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Exclusion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Emergency access accounts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Legacy auth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Block separately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Test matrix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Managed/unmanaged × platform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Exclusion state is valid only when App policy produces Test matrix; Legacy auth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Combine app protection with Conditional Access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417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Unsupported 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Block or constrain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Policy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CA grants access without APP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Lockout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Use report-only and exclusions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Legacy auth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Block separately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COMBINE APP PROTECTION WITH CONDITIONAL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Unsupported client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418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Unsupported client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CA conditions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Grant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Block or constrain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Sign-in log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Sign-in log shows CA policy result;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COMBINE APP PROTECTION WITH CONDITIONAL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Policy gap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419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Policy gap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Grant control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Client apps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CA grants access without APP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Policy delivered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APP report shows Policy delivered;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COMBINE APP PROTECTION WITH CONDITIONAL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Lockout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Lockout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 policy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Report-only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Use report-only and exclusions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Token claim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Token claim shows Client/app context;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COMBINE APP PROTECTION WITH CONDITIONAL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Legacy auth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Token  |  SUSPECT · Exclusion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Legacy auth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Block separately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Test matrix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Test matrix shows Managed/unmanaged × platform;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Combine app protection with Conditional Access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422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Sign-in 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 policy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APP report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Policy delivered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Token claim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Client/app context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Test matrix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Managed/unmanaged × platform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77600"/>
                </a:solidFill>
                <a:latin typeface="Arial"/>
              </a:rPr>
              <a:t>LAB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901952"/>
            <a:ext cx="10835640" cy="265176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901952"/>
            <a:ext cx="128016" cy="265176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8448" y="2322576"/>
            <a:ext cx="8961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DAY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2761488"/>
            <a:ext cx="89611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3675887"/>
            <a:ext cx="89611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Return at the time announced by the trainer.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6858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Deliver app configuration to managed and unmanaged apps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424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Configuration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Intune key-value payload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Assignment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User or device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Delivery channel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MDM or MAM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App reads keys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Runtime behavior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Reporting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Configuration status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8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Deliver app configuration to managed and unmanaged apps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Managed device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Configuration through MDM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Managed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Configuration through APP channel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Data 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String · boolean · integer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Vendor schema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Exact supported keys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DELIVER APP CONFIGURATION TO MANAGED AND UNMANAGED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Managed device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Configuration source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Managed device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Configuration through MDM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Key ignored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Wrong name or type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Policy 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Exact keys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Managed device state is valid only when Configuration source produces Policy payload; Key ignored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DELIVER APP CONFIGURATION TO MANAGED AND UNMANAGED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Managed app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427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Managed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Configuration through APP channel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Assignment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User or device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Wrong channel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Managed app vs managed device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 diagnostics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Received configuration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Managed app state is valid only when Assignment produces App diagnostics; Wrong channel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DELIVER APP CONFIGURATION TO MANAGED AND UNMANAGED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type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Delivery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MDM or MAM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type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String · boolean · integer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Conflicting values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Consolidate policies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Device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Success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Data type state is valid only when Delivery channel produces Device report; Conflicting values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DELIVER APP CONFIGURATION TO MANAGED AND UNMANAGED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Vendor schema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 reads keys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Runtime behavior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Vendor schema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Exact supported keys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Verify app supports reporting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Behavior 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Expected tenant/account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Vendor schema state is valid only when App reads keys produces Behavior test; No report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Deliver app configuration to managed and unmanaged apps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Key ignored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Wrong name or type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Wrong channel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Managed app vs managed device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Conflicting values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Consolidate policies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No report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Verify app supports reporting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DELIVER APP CONFIGURATION TO MANAGED AND UNMANAGED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ignored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431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Key ignored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Assignment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Managed device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Wrong name or type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Policy payload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Policy payload shows Exact keys;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DELIVER APP CONFIGURATION TO MANAGED AND UNMANAGED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Wrong channel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432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Wrong channel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Delivery channel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Managed app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Managed app vs managed device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Received configuration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App diagnostics shows Received configuration;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DELIVER APP CONFIGURATION TO MANAGED AND UNMANAGED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Conflicting values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Conflicting values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 reads keys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type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Consolidate policies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Device report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Device report shows Success;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DELIVER APP CONFIGURATION TO MANAGED AND UNMANAGED APPS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No report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Reporting  |  SUSPECT · Vendor schema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 report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Verify app supports reporting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Behavior test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Behavior test shows Expected tenant/account state;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Deliver app configuration to managed and unmanaged apps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435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Policy payload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Exact keys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App diagnostics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Received configuration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Device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Success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Behavior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Expected tenant/account state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77600"/>
                </a:solidFill>
                <a:latin typeface="Arial"/>
              </a:rPr>
              <a:t>LAB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Troubleshoot application deployment from logs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436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Assignment resolution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Intent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IME policy sync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App metadata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Content download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DO/BITS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Installer 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Context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Detection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Reported state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8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Troubleshoot application deployment from logs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437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IME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IntuneManagementExtension.log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Agent Executor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PowerShell execution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Content cache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Staging files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Portal report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Device install details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TROUBLESHOOT APPLICATION DEPLOYMENT FROM LOGS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IME log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Assignment resolution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IME 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IntuneManagementExtension.log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Download timeout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Network/proxy/DO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Timestamp chain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First failing phase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IME log state is valid only when Assignment resolution produces Timestamp chain; Download timeout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TROUBLESHOOT APPLICATION DEPLOYMENT FROM LOGS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Agent Executor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439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Agent Executor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PowerShell execution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IME policy sync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App metadata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Install failure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Exit code and command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Exit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Vendor meaning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Agent Executor state is valid only when IME policy sync produces Exit code; Install failure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TROUBLESHOOT APPLICATION DEPLOYMENT FROM LOGS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Content cache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Content download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DO/BITS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Content cache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Staging files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Detection false negative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Fix rule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Detection trace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Rule output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Content cache state is valid only when Content download produces Detection trace; Detection false negative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TROUBLESHOOT APPLICATION DEPLOYMENT FROM LOGS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Portal report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Installer execution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Context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Portal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Device install details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Requirement not met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Inspect applicability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Successful device status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Portal report state is valid only when Installer execution produces Retest; Requirement not met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Troubleshoot application deployment from logs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442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Download timeout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Network/proxy/DO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Install failure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Exit code and command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Detection false negative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Fix rule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Requirement not met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Inspect applicability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TROUBLESHOOT APPLICATION DEPLOYMENT FROM LOGS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timeout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443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Download timeout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IME policy sync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IME log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Network/proxy/DO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Timestamp chain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Timestamp chain shows First failing phase;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TROUBLESHOOT APPLICATION DEPLOYMENT FROM LOGS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Install failure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444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Install failure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Content download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Agent Executor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Exit code and command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Vendor meaning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Exit code shows Vendor meaning;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TROUBLESHOOT APPLICATION DEPLOYMENT FROM LOGS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Detection false negative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Detection false negative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Installer execution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Content cache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Fix rule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Detection trace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Detection trace shows Rule output;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TROUBLESHOOT APPLICATION DEPLOYMENT FROM LOGS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Requirement not met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446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Detection  |  SUSPECT · Portal report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Requirement not met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applicability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Retest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Retest shows Successful device status;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Troubleshoot application deployment from logs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447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Timestamp 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First failing phase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Exit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Vendor meaning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Detection trace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Rule output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Successful device status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77600"/>
                </a:solidFill>
                <a:latin typeface="Arial"/>
              </a:rPr>
              <a:t>LAB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Manage app lifecycle and inventory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448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Managed app inventory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Owner + criticality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Deployment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Install intent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Update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Supersedence/store update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Retirement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Uninstall and revoke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8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Manage app lifecycle and inventory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449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Owner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Named service owner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Version-aware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Update SLA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Risk-based deadline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Retirement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Data and access cleanup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MANAGE APP LIFECYCLE AND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Owner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Discovery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Owner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Named service owner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Shadow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Compare discovered vs approved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Discovered apps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Version footprint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Owner state is valid only when Discovery produces Discovered apps; Shadow IT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MANAGE APP LIFECYCLE AND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Detection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451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Version-aware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Classification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Owner + criticality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Stale package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Monitor version drift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Install 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Device/user count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Detection state is valid only when Classification produces Install base; Stale package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MANAGE APP LIFECYCLE AND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Update SLA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Install intent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Update SLA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Risk-based deadline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Uninstall fails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Validate command/context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Update compliance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Current version 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Update SLA state is valid only when Deployment produces Update compliance; Uninstall fails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MANAGE APP LIFECYCLE AND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Retirement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453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Supersedence/store update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Retirement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Data and access cleanup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Orphan assignment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Review group lifecycle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Retirement proof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No active assignment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Retirement state is valid only when Update produces Retirement proof; Orphan assignment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Manage app lifecycle and inventory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454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Shadow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Compare discovered vs approved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Stale package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Monitor version drift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Uninstall fails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Validate command/context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Orphan assignment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Review group lifecycle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MANAGE APP LIFECYCLE AND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Shadow IT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455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Shadow 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Classification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Owner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Compare discovered vs approved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Discovered apps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Discovered apps shows Version footprint;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MANAGE APP LIFECYCLE AND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Stale package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456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Stale package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Deployment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Detection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Monitor version drift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Device/user count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Install base shows Device/user count;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MANAGE APP LIFECYCLE AND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Uninstall fails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Uninstall fails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Update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Update SLA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Validate command/context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Update compliance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Update compliance shows Current version %;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MANAGE APP LIFECYCLE AND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Orphan assignment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458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pp-lifecycle-v3.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Retirement  |  SUSPECT · Retirement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Orphan assignment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Review group lifecycle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Retirement proof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Retirement proof shows No active assignment;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DOMAIN 4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Manage app lifecycle and inventory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459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Discovered apps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footprint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Install 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Device/user count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Update compliance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Current version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Retirement proof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active assignment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77600"/>
                </a:solidFill>
                <a:latin typeface="Arial"/>
              </a:rPr>
              <a:t>LAB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HANDS-ON · 120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Lab 8: Win32 apps, Microsoft 365 Apps, MAM and app configuration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460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10561320" cy="941832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19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77600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847088"/>
            <a:ext cx="8732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Contoso must implement the control, prove the observed state, diagnose one seeded failure, and retain an auditable evidence pack.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17319" y="3236976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19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PLAN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51176" y="3657600"/>
            <a:ext cx="402336" cy="0"/>
          </a:xfrm>
          <a:prstGeom prst="line">
            <a:avLst/>
          </a:prstGeom>
          <a:ln w="1778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026664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84448" y="3236976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448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6D3FD2"/>
                </a:solidFill>
                <a:latin typeface="Arial"/>
              </a:rPr>
              <a:t>CONFIGURE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18304" y="3657600"/>
            <a:ext cx="402336" cy="0"/>
          </a:xfrm>
          <a:prstGeom prst="line">
            <a:avLst/>
          </a:prstGeom>
          <a:ln w="1778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193792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3236976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51576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1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85431" y="3657600"/>
            <a:ext cx="402337" cy="0"/>
          </a:xfrm>
          <a:prstGeom prst="line">
            <a:avLst/>
          </a:prstGeom>
          <a:ln w="1778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60920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918704" y="3236976"/>
            <a:ext cx="548640" cy="54864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18704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6845B"/>
                </a:solidFill>
                <a:latin typeface="Arial"/>
              </a:rPr>
              <a:t>BREAK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052560" y="3657600"/>
            <a:ext cx="402336" cy="0"/>
          </a:xfrm>
          <a:prstGeom prst="line">
            <a:avLst/>
          </a:prstGeom>
          <a:ln w="1778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528048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5832" y="3236976"/>
            <a:ext cx="548640" cy="548640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5832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77600"/>
                </a:solidFill>
                <a:latin typeface="Arial"/>
              </a:rPr>
              <a:t>RECOVER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486460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4864608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97433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YOU'LL PRODUCE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528523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Deployable app contract, detection evidence, MAM/CA test matrix and troubleshooting trace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LO2 · LO3 · K2 · K3 · A2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8 — acceptance and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461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30175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6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Configured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Policy/profile/assignment values are visible and scoped to the intended cohort.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5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37360"/>
            <a:ext cx="82296" cy="30175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02736" y="1965960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27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96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Observed 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device, app or identity shows the expected service and client-side outcome.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216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98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37360"/>
            <a:ext cx="82296" cy="30175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45936" y="1965960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28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Failure diagnosis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seeded issue is tied to an error, log, report or missing state—not a guess.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648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30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37360"/>
            <a:ext cx="82296" cy="30175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089136" y="1965960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60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Recovery proof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post-change retest demonstrates the corrected state with timestamp/correlation evidence.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080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262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SUBMISSION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Save the evidence under labs/lab-08-apps-mam-configuration/evidence/. Detailed steps are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RETRIEVE · DIAGNOSE · EXPLAIN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Day 4 technical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462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29718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56816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Package and deploy Win32 applications
• Sequence apps with dependencies and supersedence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82296" cy="297180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956816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Deploy Microsoft 365 Apps
• Integrate Apple and Managed Google Play stores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737360"/>
            <a:ext cx="82296" cy="2971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1956816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Protect corporate data with MAM
• Combine app protection with Conditional Access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737360"/>
            <a:ext cx="82296" cy="297180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1956816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Deliver app configuration to managed and unmanaged apps
• Troubleshoot application deployment from logs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04748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047488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15721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REMEMBER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6811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For each checkpoint, name the architecture boundary, exact contract, failure evidence and acceptance state.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737360"/>
            <a:ext cx="10835640" cy="3291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21408"/>
            <a:ext cx="960120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2413A"/>
                </a:solidFill>
                <a:latin typeface="Arial"/>
              </a:rPr>
              <a:t>DAY 5 · 8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587752"/>
            <a:ext cx="9326880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Automation, analytics and incident response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584448"/>
            <a:ext cx="932688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Graph; PowerShell; analytics; remediation; health; unauthorized-access investigation · 10–15% · LO3 · LO4 · K3 · K5 · A5 · A7 · A8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73152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463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NATIVE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Optimize endpoint operations — indicative operational signal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464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41248" y="1682496"/>
          <a:ext cx="740664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8522208" y="1682496"/>
            <a:ext cx="2852928" cy="34290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33104" y="1965960"/>
            <a:ext cx="2231136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C2413A"/>
                </a:solidFill>
                <a:latin typeface="Arial"/>
              </a:rPr>
              <a:t>10–15%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3104" y="2615184"/>
            <a:ext cx="223113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5B6372"/>
                </a:solidFill>
                <a:latin typeface="Arial"/>
              </a:rPr>
              <a:t>CURRENT EXAM WEIGHT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3104" y="3172968"/>
            <a:ext cx="223113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LO3 · LO4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3104" y="3584448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K3 · K5 · A5 · A7 · A8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33104" y="4416552"/>
            <a:ext cx="223113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C77600"/>
                </a:solidFill>
                <a:latin typeface="Arial"/>
              </a:rPr>
              <a:t>Indicative teaching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157216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157216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266944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WHAT THE DATA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577840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Operational time accumulates in triage and remediation; automation must preserve verification.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MECHANISM VISUAL · ANNOTATED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Automation is an evidence-preserving control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465</a:t>
            </a:r>
          </a:p>
        </p:txBody>
      </p:sp>
      <p:pic>
        <p:nvPicPr>
          <p:cNvPr id="9" name="Picture 8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65665"/>
            <a:ext cx="7452360" cy="419418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275320" y="1645920"/>
            <a:ext cx="3127248" cy="813816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75320" y="1645920"/>
            <a:ext cx="73152" cy="813816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13064" y="1737360"/>
            <a:ext cx="259689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>
                <a:solidFill>
                  <a:srgbClr val="1F6FEB"/>
                </a:solidFill>
                <a:latin typeface="Arial"/>
              </a:rPr>
              <a:t>Collect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13064" y="2011680"/>
            <a:ext cx="2596896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30" b="0">
                <a:solidFill>
                  <a:srgbClr val="5B6372"/>
                </a:solidFill>
                <a:latin typeface="Arial"/>
              </a:rPr>
              <a:t>Read tenant and device signals.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5320" y="2633472"/>
            <a:ext cx="3127248" cy="813816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2633472"/>
            <a:ext cx="73152" cy="813816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13064" y="2724912"/>
            <a:ext cx="259689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>
                <a:solidFill>
                  <a:srgbClr val="6D3FD2"/>
                </a:solidFill>
                <a:latin typeface="Arial"/>
              </a:rPr>
              <a:t>Decide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2999232"/>
            <a:ext cx="2596896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30" b="0">
                <a:solidFill>
                  <a:srgbClr val="5B6372"/>
                </a:solidFill>
                <a:latin typeface="Arial"/>
              </a:rPr>
              <a:t>Apply bounded policy logic.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5320" y="3621024"/>
            <a:ext cx="3127248" cy="813816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20" y="3621024"/>
            <a:ext cx="73152" cy="813816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712463"/>
            <a:ext cx="259689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>
                <a:solidFill>
                  <a:srgbClr val="10B981"/>
                </a:solidFill>
                <a:latin typeface="Arial"/>
              </a:rPr>
              <a:t>Remediate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3986784"/>
            <a:ext cx="2596896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30" b="0">
                <a:solidFill>
                  <a:srgbClr val="5B6372"/>
                </a:solidFill>
                <a:latin typeface="Arial"/>
              </a:rPr>
              <a:t>Change only the required state.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75320" y="4608576"/>
            <a:ext cx="3127248" cy="813816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75320" y="4608576"/>
            <a:ext cx="73152" cy="813816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13064" y="4700016"/>
            <a:ext cx="259689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1">
                <a:solidFill>
                  <a:srgbClr val="16845B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13064" y="4974336"/>
            <a:ext cx="2596896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30" b="0">
                <a:solidFill>
                  <a:srgbClr val="5B6372"/>
                </a:solidFill>
                <a:latin typeface="Arial"/>
              </a:rPr>
              <a:t>Re-read state and publish outcome evidence.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925312"/>
            <a:ext cx="73152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Concept illustration generated for this course; Graph/PowerShell contracts are taught on adjacent editable slides.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Automate Intune with Microsoft Graph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466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Identity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App or delegated sign-in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OAuth 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Scope/role claims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Graph endpoint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Resource request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Pagination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@odata.nextLink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Result handling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Retry and audit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9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Automate Intune with Microsoft Graph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467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Base URI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https://graph.microsoft.com/v1.0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Permission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DeviceManagementManagedDevices.Read.All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Pagination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Follow every nextLink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Throttling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Honor Retry-After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AUTOMATE INTUNE WITH MICROSOFT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Base URI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468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Identity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Base URI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https://graph.microsoft.com/v1.0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401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Token missing/expired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Token claims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aud + roles/scp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Base URI state is valid only when Identity produces Token claims; 401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AUTOMATE INTUNE WITH MICROSOFT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Permission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469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Permission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DeviceManagementManagedDevices.Read.All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OAuth token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Scope/role claims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403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Permission or role absent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HTTP 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Status + request-id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Permission state is valid only when OAuth token produces HTTP trace; 403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AUTOMATE INTUNE WITH MICROSOFT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Pagination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470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Graph endpoint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Resource request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Pagination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Follow every nextLink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429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Back off and retry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Count check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All pages retrieved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Pagination state is valid only when Graph endpoint produces Count check; 429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AUTOMATE INTUNE WITH MICROSOFT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Throttling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471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Pagination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@odata.nextLink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Throttling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Honor Retry-After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Partial export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Pagination ignored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Audit 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Automation identity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Throttling state is valid only when Pagination produces Audit log; Partial export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Automate Intune with Microsoft Graph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472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401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Token missing/expired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403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Permission or role absent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429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Back off and retry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Partial export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Pagination ignored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AUTOMATE INTUNE WITH MICROSOFT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401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473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401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OAuth token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Base URI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Token missing/expired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Token claims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Token claims shows aud + roles/scp;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AUTOMATE INTUNE WITH MICROSOFT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403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474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403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Graph endpoint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Permission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Permission or role absent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Status + request-id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HTTP trace shows Status + request-id;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AUTOMATE INTUNE WITH MICROSOFT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429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475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429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Pagination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Pagination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Back off and retry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Count check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Count check shows All pages retrieved;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AUTOMATE INTUNE WITH MICROSOFT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Partial export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476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Result handling  |  SUSPECT · Throttling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Partial export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Pagination ignored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Audit log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Audit log shows Automation identity;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Automate Intune with Microsoft Graph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477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Token claims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aud + roles/scp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HTTP trace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Status + request-id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Count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All pages retrieved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Audit log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Automation identity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413A"/>
                </a:solidFill>
                <a:latin typeface="Arial"/>
              </a:rPr>
              <a:t>LAB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Use PowerShell for repeatable endpoint operations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478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Connect-MgGraph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Authentication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Select-MgProfile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API surface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Get cmdlet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Read state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Update cmdlet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Controlled mutation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Export/log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Evidence and rollback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9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Use PowerShell for repeatable endpoint operations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479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Get-MgContext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Least privilege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Explicit scopes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WhatIf pattern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Preview intended targets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Idempotence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Compare before update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USE POWERSHELL FOR REPEATABLE ENDPOINT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Context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Connect-MgGraph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Get-MgContext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Wrong tenant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Check TenantId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Transcript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Command and time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Context state is valid only when Connect-MgGraph produces Transcript; Wrong tenant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USE POWERSHELL FOR REPEATABLE ENDPOINT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Least privilege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481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Least privilege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Explicit scopes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Select-MgProfile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API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Broad filter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Count before mutate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Before/after 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Changed fields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Least privilege state is valid only when Select-MgProfile produces Before/after JSON; Broad filter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USE POWERSHELL FOR REPEATABLE ENDPOINT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WhatIf pattern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482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Get cmdlet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Read 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WhatIf pattern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Preview intended targets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Module drift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Pin/test version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Target count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Expected devices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WhatIf pattern state is valid only when Get cmdlet produces Target count; Module drift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USE POWERSHELL FOR REPEATABLE ENDPOINT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Idempotence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483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Update cmdlet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Controlled mutation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Idempotence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Compare before update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Transient failure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Retry safe operations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Exit 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Automation result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Idempotence state is valid only when Update cmdlet produces Exit status; Transient failure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Use PowerShell for repeatable endpoint operations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484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Wrong tenant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Check TenantId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Broad filter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Count before mutate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Module drift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Pin/test version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Transient failure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Retry safe operations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USE POWERSHELL FOR REPEATABLE ENDPOINT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Wrong tenant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485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Wrong tenant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Select-MgProfile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Check TenantId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Transcript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Transcript shows Command and time;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USE POWERSHELL FOR REPEATABLE ENDPOINT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Broad filter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486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Broad filter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Get cmdlet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Least privilege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Count before mutate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Changed fields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Before/after JSON shows Changed fields;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USE POWERSHELL FOR REPEATABLE ENDPOINT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Module drift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487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Module drift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Update cmdlet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WhatIf pattern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Pin/test version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Target count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Target count shows Expected devices;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USE POWERSHELL FOR REPEATABLE ENDPOINT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Transient failure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488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Export/log  |  SUSPECT · Idempotence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Transient failure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Retry safe operations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Exit status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Exit status shows Automation result;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Use PowerShell for repeatable endpoint operations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489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Transcript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Command and 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Before/after 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Changed fields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Target 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Expected devices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Exit status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Automation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413A"/>
                </a:solidFill>
                <a:latin typeface="Arial"/>
              </a:rPr>
              <a:t>LAB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Extend compliance with custom scripts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490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Discovery 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Return 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Custom schema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Setting definitions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Compliance engine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Compare values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Device status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Per-setting result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Remediation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Operational response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9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Extend compliance with custom scripts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491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Exit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0 for successful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Single compressed JSON object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Data types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Match schema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Schedule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Periodic reevaluation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EXTEND COMPLIANCE WITH CUSTOM 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Exit code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492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Discovery script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Exit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0 for successful discovery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Invalid JSON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Validate serialization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Local script output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Valid JSON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Exit code state is valid only when Discovery script produces Local script output; Invalid JSON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EXTEND COMPLIANCE WITH CUSTOM 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Output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493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Single compressed JSON object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Custom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Setting definitions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Wrong property type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Match boolean/int/string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Per-setting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Detected value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Output state is valid only when Custom schema produces Per-setting report; Wrong property type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EXTEND COMPLIANCE WITH CUSTOM 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types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494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Compliance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Compare values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Match schema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Script timeout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Keep discovery bounded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Compliance state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Expected result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Data types state is valid only when Compliance engine produces Compliance state; Script timeout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EXTEND COMPLIANCE WITH CUSTOM 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Schedule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495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Device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Per-setting result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Schedule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Periodic reevaluation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Sensitive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Do not emit secrets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Remediation ticket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Closed with proof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Schedule state is valid only when Device status produces Remediation ticket; Sensitive data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Extend compliance with custom scripts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496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Invalid 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Validate serialization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Wrong property 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Match boolean/int/string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Script timeout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Keep discovery bounded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Sensitive 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Do not emit secrets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EXTEND COMPLIANCE WITH CUSTOM 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Invalid JSON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497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Invalid JSON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Custom schema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Exit code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Validate serialization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Local script output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Local script output shows Valid JSON;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EXTEND COMPLIANCE WITH CUSTOM 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Wrong property type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498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Wrong property type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Compliance engine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Output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Match boolean/int/string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Detected value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Per-setting report shows Detected value;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EXTEND COMPLIANCE WITH CUSTOM 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Script timeout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499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Script timeout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Device 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types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Keep discovery bounded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Compliance state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Compliance state shows Expected result;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EXTEND COMPLIANCE WITH CUSTOM 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Sensitive data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Remediation  |  SUSPECT · Schedule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Sensitive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Do not emit secrets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Remediation ticket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Remediation ticket shows Closed with proof;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Extend compliance with custom scripts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Local script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Valid 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Per-setting report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Detected value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Compliance state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Expected result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Remediation ticket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Closed with proof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413A"/>
                </a:solidFill>
                <a:latin typeface="Arial"/>
              </a:rPr>
              <a:t>LAB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Operate Security Copilot agents responsibly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502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Signal intake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Threat/performance data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Agent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Pattern and context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Suggested action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Human 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Validate scope and evidence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Execution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Controlled remediation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10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Operate Security Copilot agents responsibly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Grounding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Tenant telemetry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Recommendation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Not automatic authority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Check affected devices and blast radius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Audit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Record decision and outcome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OPERATE SECURITY COPILOT AGENTS RESPONSIBLY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Grounding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Signal intake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Grounding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Tenant telemetry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Hallucinated cause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Verify against raw 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Linked telemetry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Grounding state is valid only when Signal intake produces Source evidence; Hallucinated cause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OPERATE SECURITY COPILOT AGENTS RESPONSIBLY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Recommendation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505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Not automatic authority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Agent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Pattern and context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Overbroad 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Pilot and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Reviewer 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Accept/modify/reject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Recommendation state is valid only when Agent analysis produces Reviewer decision; Overbroad action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OPERATE SECURITY COPILOT AGENTS RESPONSIBLY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Review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Recommendation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Suggested action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Check affected devices and blast radius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Sensitive prompt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Apply data governance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Change record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Approved scope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Review state is valid only when Recommendation produces Change record; Sensitive prompt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OPERATE SECURITY COPILOT AGENTS RESPONSIBLY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Human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Validate scope and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Record decision and outcome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Agent unavailable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Maintain manual runbook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Outcome metric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Issue resolved without regression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Audit state is valid only when Human review produces Outcome metric; Agent unavailable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Operate Security Copilot agents responsibly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508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Hallucinated cause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Verify against raw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Overbroad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Pilot and approve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Sensitive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Apply data governance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Agent unavailable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Maintain manual runbook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OPERATE SECURITY COPILOT AGENTS RESPONSIBLY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Hallucinated cause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509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Hallucinated cause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Agent analysis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Grounding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Verify against raw evidence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Source evidence shows Linked telemetry;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OPERATE SECURITY COPILOT AGENTS RESPONSIBLY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Overbroad action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510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Overbroad action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Recommendation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Recommendation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Pilot and approve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Accept/modify/reject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Reviewer decision shows Accept/modify/reject;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OPERATE SECURITY COPILOT AGENTS RESPONSIBLY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Sensitive prompt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Sensitive prompt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Human review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Apply data governance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Change record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Change record shows Approved scope;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OPERATE SECURITY COPILOT AGENTS RESPONSIBLY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Agent unavailable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Execution  |  SUSPECT · Audit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Agent unavailable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Maintain manual runbook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Outcome metric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Outcome metric shows Issue resolved without regression;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Operate Security Copilot agents responsibly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513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Source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Linked telemetry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Reviewer decision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Accept/modify/reject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Change 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Approved scope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Outcome metric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Issue resolved without regression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413A"/>
                </a:solidFill>
                <a:latin typeface="Arial"/>
              </a:rPr>
              <a:t>LAB 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901952"/>
            <a:ext cx="10835640" cy="265176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901952"/>
            <a:ext cx="128016" cy="265176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8448" y="2322576"/>
            <a:ext cx="8961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DAY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2761488"/>
            <a:ext cx="89611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3675887"/>
            <a:ext cx="89611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Return at the time announced by the trainer.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6858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operational reports and dashboards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515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Service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Device/app/policy facts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Report 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Filters and columns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Export/API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Structured data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Workbook/dashboard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Operational view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Decision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Action and owner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9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Build operational reports and dashboards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Freshness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Record report timestamp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Filter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Define cohort explicitly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Export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CSV or Graph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KPI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Numerator, denominator, threshold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BUILD OPERATIONAL REPORTS AND DASHBOARDS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Freshness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Service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Freshness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Record report timestamp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Misleading denominator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Exclude not-applicable correctly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Query definition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Reproducible filter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Freshness state is valid only when Service data produces Query definition; Misleading denominator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BUILD OPERATIONAL REPORTS AND DASHBOARDS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Filter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518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Define cohort explicitly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Report query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Filters and columns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Stale export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Display freshness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Dashboard tile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Current value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Filter state is valid only when Report query produces Dashboard tile; Stale export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BUILD OPERATIONAL REPORTS AND DASHBOARDS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Export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Export/API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Structured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CSV or 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Duplicate devices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Use stable device ID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Drill-through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Affected devices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Export state is valid only when Export/API produces Drill-through; Duplicate devices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BUILD OPERATIONAL REPORTS AND DASHBOARDS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Workbook/dashboard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Operational 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Numerator, denominator, threshold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Vanity metric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Tie KPI to action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Action 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Owner and deadline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KPI state is valid only when Workbook/dashboard produces Action log; Vanity metric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Build operational reports and dashboards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Misleading denominator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Exclude not-applicable correctly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Stale export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Display freshness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Duplicate devices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Use stable device ID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Vanity metric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Tie KPI to action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BUILD OPERATIONAL REPORTS AND DASHBOARDS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Misleading denominator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522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Misleading denominator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Report query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Freshness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Exclude not-applicable correctly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Query definition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Query definition shows Reproducible filter;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BUILD OPERATIONAL REPORTS AND DASHBOARDS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Stale export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523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Stale export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Export/API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Filter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Display freshness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Current value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Dashboard tile shows Current value;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BUILD OPERATIONAL REPORTS AND DASHBOARDS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Duplicate devices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Duplicate devices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Workbook/dashboard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Export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Use stable device ID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Drill-through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Drill-through shows Affected devices;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BUILD OPERATIONAL REPORTS AND DASHBOARDS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Vanity metric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Decision  |  SUSPECT · KPI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Vanity metric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Tie KPI to action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Action log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Action log shows Owner and deadline;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Build operational reports and dashboards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Query definition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Reproducible filter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Dashboard tile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Current value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Drill-through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Affected devices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Action log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Owner and deadline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413A"/>
                </a:solidFill>
                <a:latin typeface="Arial"/>
              </a:rPr>
              <a:t>LAB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Interpret Endpoint Analytics and reliability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527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Device telemetry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Startup/app/restart events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Aggregation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Population metrics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Scoring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Startup + application reliability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Insight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Outlier or regression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Hardware/policy/remediation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9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Interpret Endpoint Analytics and reliability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Startup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Boot + sign-in experience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App reliability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Crashes and hangs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Restart frequency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Operational stability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Baseline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Compare cohort and time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INTERPRET ENDPOINT ANALYTICS AND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Startup score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Device telemetry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Startup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Boot + sign-in experience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Low sample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Avoid overinterpreting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Score trend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Before/after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Startup score state is valid only when Device telemetry produces Score trend; Low sample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INTERPRET ENDPOINT ANALYTICS AND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 reliability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530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App reliability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Crashes and hangs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Aggregation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Population 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Cohort mix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Segment by model/OS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Model cohort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Outlier devices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App reliability state is valid only when Aggregation produces Model cohort; Cohort mix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INTERPRET ENDPOINT ANALYTICS AND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Restart frequency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Startup + application reliability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Restart frequency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Operational stability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Score improved but tickets rise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Use multiple signals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Top regressions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Restart frequency state is valid only when Scoring produces App report; Score improved but tickets rise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INTERPRET ENDPOINT ANALYTICS AND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Baseline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Insight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Outlier or regression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Compare cohort and 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Telemetry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Check prerequisites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Validation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Reduced incident rate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Baseline state is valid only when Insight produces Validation; Telemetry gap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Interpret Endpoint Analytics and reliability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533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Low sample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Avoid overinterpreting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Cohort mix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Segment by model/OS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Score improved but tickets rise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Use multiple signals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Telemetry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Check prerequisites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INTERPRET ENDPOINT ANALYTICS AND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Low sample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534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Low sample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Aggregation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Startup score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Avoid overinterpreting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Score trend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Score trend shows Before/after;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INTERPRET ENDPOINT ANALYTICS AND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Cohort mix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535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Cohort mix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Scoring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App reliability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Segment by model/OS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Outlier devices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Model cohort shows Outlier devices;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INTERPRET ENDPOINT ANALYTICS AND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Score improved but tickets rise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Score improved but tickets rise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Insight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Restart frequency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Use multiple signals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App report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App report shows Top regressions;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INTERPRET ENDPOINT ANALYTICS AND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Telemetry gap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Action  |  SUSPECT ·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Telemetry gap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Check prerequisites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Validation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Validation shows Reduced incident rate;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Interpret Endpoint Analytics and reliability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538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Score trend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Before/after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Model cohort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Outlier devices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App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Top regressions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Reduced incident 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413A"/>
                </a:solidFill>
                <a:latin typeface="Arial"/>
              </a:rPr>
              <a:t>LAB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901952"/>
            <a:ext cx="10835640" cy="265176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1901952"/>
            <a:ext cx="128016" cy="265176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8448" y="2322576"/>
            <a:ext cx="8961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DAY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2761488"/>
            <a:ext cx="89611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3675887"/>
            <a:ext cx="89611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Return at the time announced by the trainer.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6858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539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 proactive remediations safely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540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Detection 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Exit 0/1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Service evaluation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Issue found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Remediation script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Correct state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Post-detection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Verify fix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Reporting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Run outcome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9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Deploy proactive remediations safely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541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No change, evidence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Remediation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Idempotent and bounded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Execution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System or user context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Schedule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Operational need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DEPLOY PROACTIVE REMEDIATIONS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Detection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542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Detection script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No change, evidence only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Detection always fails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Fix exit logic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Pre-state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Issue reproduced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Detection state is valid only when Detection script produces Pre-state; Detection always fails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DEPLOY PROACTIVE REMEDIATIONS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Remediation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543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Remediation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Idempotent and bounded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Service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Issue found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Remediation loops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Make desired state idempotent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Detection result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Issue found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Remediation state is valid only when Service evaluation produces Detection result; Remediation loops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DEPLOY PROACTIVE REMEDIATIONS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Execution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544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Remediation 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Correct 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Execution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System or user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32/64-bit mismatch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Choose host setting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Remediation 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Change made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Execution state is valid only when Remediation script produces Remediation log; 32/64-bit mismatch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DEPLOY PROACTIVE REMEDIATIONS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Schedule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Post-detection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Verify 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Schedule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Operational need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Large blast radius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Pilot and stage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Post-state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Issue absent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Schedule state is valid only when Post-detection produces Post-state; Large blast radius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Deploy proactive remediations safely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546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Detection always fails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Fix exit logic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Remediation loops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Make desired state idempotent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32/64-bit mismatch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Choose host setting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Large blast radius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Pilot and stage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DEPLOY PROACTIVE REMEDIATIONS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Detection always fails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547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Detection always fails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Service evaluation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Detection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Fix exit logic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Pre-state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Pre-state shows Issue reproduced;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DEPLOY PROACTIVE REMEDIATIONS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Remediation loops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548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Remediation loops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Remediation script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Remediation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Make desired state idempotent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Issue found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Detection result shows Issue found;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DEPLOY PROACTIVE REMEDIATIONS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32/64-bit mismatch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32/64-bit mismatch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Post-detection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Execution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Choose host setting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Remediation log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Remediation log shows Change made;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DEPLOY PROACTIVE REMEDIATIONS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Large blast radius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Reporting  |  SUSPECT · Schedule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Large blast radius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Pilot and stage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Post-state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Post-state shows Issue absent;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Deploy proactive remediations safely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551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Pre-state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Issue reproduced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Detection 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Issue found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Remediation 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Change made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Post-state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Issue absent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413A"/>
                </a:solidFill>
                <a:latin typeface="Arial"/>
              </a:rPr>
              <a:t>LAB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Monitor tenant health, alerts and change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552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Service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Health/message center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Operational 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Expected rate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Alert rule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Threshold or event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Triage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Impact and ownership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Response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Communicate and recover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10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Monitor tenant health, alerts and change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553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Enrollment alert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Failure-rate threshold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Compliance drift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Noncompliant percentage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Config conflict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New conflict count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Service advisory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Affected workload and region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MONITOR TENANT HEALTH, ALERTS AND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Enrollment alert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554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Service signal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Enrollment alert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Failure-rate threshold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Alert fatigue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Tune severity and routing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Alert 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Cohort + timestamp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Enrollment alert state is valid only when Service signal produces Alert payload; Alert fatigue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MONITOR TENANT HEALTH, ALERTS AND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Compliance drift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555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Compliance drift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Noncompliant percentage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Operational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Expected rate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 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Measure normal first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Incident timeline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Detection to recovery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Compliance drift state is valid only when Operational baseline produces Incident timeline; No baseline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MONITOR TENANT HEALTH, ALERTS AND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Config conflict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Alert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Threshold or event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Config conflict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New conflict count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Duplicate incident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Correlate service advisory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Change correlation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Policy/deployment event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Config conflict state is valid only when Alert rule produces Change correlation; Duplicate incident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MONITOR TENANT HEALTH, ALERTS AND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 advisory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Triage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Impact and ownership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Service advisory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Affected workload and region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Unowned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Use escalation matrix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Postmortem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Control improvement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Service advisory state is valid only when Triage produces Postmortem; Unowned action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Monitor tenant health, alerts and change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558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Alert fatigue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Tune severity and routing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No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Measure normal first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Duplicate incident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Correlate service advisory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Unowned action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Use escalation matrix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MONITOR TENANT HEALTH, ALERTS AND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Alert fatigue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559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Alert fatigue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Operational baseline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Enrollment alert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Tune severity and routing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Alert payload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Alert payload shows Cohort + timestamp;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MONITOR TENANT HEALTH, ALERTS AND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No baseline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560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No baseline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Alert rule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Compliance drift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Measure normal first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Detection to recovery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Incident timeline shows Detection to recovery;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MONITOR TENANT HEALTH, ALERTS AND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Duplicate incident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561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Duplicate incident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Triage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Config conflict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Correlate service advisory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Change correlation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Change correlation shows Policy/deployment event;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MONITOR TENANT HEALTH, ALERTS AND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Unowned action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562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Response  |  SUSPECT · Service advisory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Unowned 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escalation matrix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Postmortem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Postmortem shows Control improvement;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Monitor tenant health, alerts and change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563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Alert payload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Cohort + timestamp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Incident 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Detection to recovery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Change correlation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Policy/deployment event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Postmortem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Control improvement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413A"/>
                </a:solidFill>
                <a:latin typeface="Arial"/>
              </a:rPr>
              <a:t>LAB 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RUNTIME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Investigate unauthorized endpoint access — mechanism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564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4708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221992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Risk/sign-in/device alert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255264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84708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221992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User + device + app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255264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84708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221992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Containment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Disable/revoke/isolate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255264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84708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221992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Logs and timeline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255264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847088"/>
            <a:ext cx="1874519" cy="27889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84708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221992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350008"/>
            <a:ext cx="7498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136392"/>
            <a:ext cx="158191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Recovery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675887"/>
            <a:ext cx="158191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Restore and monitor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Inspect the evidence at every transition; the first missing state is the most useful troubleshooting boundary.  Lab 10 carries the full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Investigate unauthorized endpoint access — exact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565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Identity 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Revoke sessions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Device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Isolate or retire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Evidence handling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Preserve timestamps and IDs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Access review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Remove excess privilege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FIELD / STATE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Configuration is a contract: names, values, scope and resulting state must all agree.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INVESTIGATE UNAUTHORIZED ENDPOINT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Identity action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566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6492240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910" y="1755648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4270248"/>
            <a:ext cx="5760720" cy="41148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4352544"/>
            <a:ext cx="56509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157276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24927" y="1572768"/>
            <a:ext cx="109728" cy="9326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1682495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166420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Identity 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196596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Revoke sessions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7" y="267004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7" y="2670048"/>
            <a:ext cx="109728" cy="9326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277977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76148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Premature wipe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06324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Preserve evidence first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24927" y="3767328"/>
            <a:ext cx="4096512" cy="9326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24927" y="3767328"/>
            <a:ext cx="109728" cy="9326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3877056"/>
            <a:ext cx="122529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3858768"/>
            <a:ext cx="22402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Incident timeline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4160520"/>
            <a:ext cx="345643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Ordered events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Identity action state is valid only when Detection produces Incident timeline; Premature wipe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INVESTIGATE UNAUTHORIZED ENDPOINT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Device action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567</a:t>
            </a:r>
          </a:p>
        </p:txBody>
      </p:sp>
      <p:sp>
        <p:nvSpPr>
          <p:cNvPr id="9" name="Oval 8"/>
          <p:cNvSpPr/>
          <p:nvPr/>
        </p:nvSpPr>
        <p:spPr>
          <a:xfrm>
            <a:off x="4096512" y="2148840"/>
            <a:ext cx="4005072" cy="1554480"/>
          </a:xfrm>
          <a:prstGeom prst="ellipse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340864"/>
            <a:ext cx="2651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88336"/>
            <a:ext cx="2944368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Device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108960"/>
            <a:ext cx="29443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Isolate or retire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User + device + 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1572768"/>
            <a:ext cx="3072384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1682495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47504" y="1664208"/>
            <a:ext cx="157276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Incomplete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2075688"/>
            <a:ext cx="26700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Correlate device and sign-in IDs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6512" y="3822191"/>
            <a:ext cx="4005072" cy="9875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9392" y="3931920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913631"/>
            <a:ext cx="2468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Sign-in 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2" y="4325112"/>
            <a:ext cx="3621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CA and device details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30752" y="2212848"/>
            <a:ext cx="365760" cy="576072"/>
          </a:xfrm>
          <a:prstGeom prst="line">
            <a:avLst/>
          </a:prstGeom>
          <a:ln w="2286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01583" y="2212848"/>
            <a:ext cx="384049" cy="576072"/>
          </a:xfrm>
          <a:prstGeom prst="line">
            <a:avLst/>
          </a:prstGeom>
          <a:ln w="2286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9048" y="3703320"/>
            <a:ext cx="0" cy="118871"/>
          </a:xfrm>
          <a:prstGeom prst="line">
            <a:avLst/>
          </a:prstGeom>
          <a:ln w="2286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Device action state is valid only when Scope produces Sign-in log; Incomplete scope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INVESTIGATE UNAUTHORIZED ENDPOINT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handling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568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824" y="1801368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Containment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Disable/revoke/isolate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7276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0" y="1801368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90195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1" y="175564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73736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 handling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1" y="219456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Preserve timestamps and IDs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18688"/>
            <a:ext cx="5340096" cy="14081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7824" y="3447288"/>
            <a:ext cx="548640" cy="548640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Credential persists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1056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Reset and revoke tokens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3218688"/>
            <a:ext cx="5340096" cy="14081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0" y="3447288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547872"/>
            <a:ext cx="5486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1" y="3401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3383280"/>
            <a:ext cx="28346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Device timeline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1" y="3840480"/>
            <a:ext cx="407822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Alert/process activity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Evidence handling state is valid only when Containment produces Device timeline; Credential persists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INVESTIGATE UNAUTHORIZED ENDPOINT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review — control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569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36192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36192"/>
            <a:ext cx="128016" cy="704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39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691639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673351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45919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Logs and timeline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395728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395728"/>
            <a:ext cx="128016" cy="704088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551176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6D3FD2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551176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EXACT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532888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Access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05456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Remove excess privilege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255263"/>
            <a:ext cx="10808208" cy="704088"/>
          </a:xfrm>
          <a:prstGeom prst="round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255263"/>
            <a:ext cx="128016" cy="704088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410711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C2413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10711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CONTROL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7248" y="3392423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Access restored early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Require clean compliance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114800"/>
            <a:ext cx="10808208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114800"/>
            <a:ext cx="128016" cy="704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270248"/>
            <a:ext cx="4206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270248"/>
            <a:ext cx="14813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4251960"/>
            <a:ext cx="27614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Closure proof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4224528"/>
            <a:ext cx="510235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5B6372"/>
                </a:solidFill>
                <a:latin typeface="Arial"/>
              </a:rPr>
              <a:t>Risk cleared and access reviewed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CONTROL READING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Access review state is valid only when Evidence produces Closure proof; Access restored early requires the bounded recovery shown above.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Investigate unauthorized endpoint access — failure 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570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304495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20240"/>
            <a:ext cx="420624" cy="420624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Premature wipe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Preserve evidence first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33087"/>
            <a:ext cx="1883664" cy="365760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19072"/>
            <a:ext cx="82296" cy="304495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21024" y="1920240"/>
            <a:ext cx="420624" cy="420624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210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Incomplete 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Correlate device and sign-in IDs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4133087"/>
            <a:ext cx="1883664" cy="365760"/>
          </a:xfrm>
          <a:prstGeom prst="round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19072"/>
            <a:ext cx="82296" cy="3044952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64224" y="1920240"/>
            <a:ext cx="420624" cy="420624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45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Credential persists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Reset and revoke tokens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4133087"/>
            <a:ext cx="1883664" cy="365760"/>
          </a:xfrm>
          <a:prstGeom prst="round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19072"/>
            <a:ext cx="2487168" cy="3044952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19072"/>
            <a:ext cx="82296" cy="30449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107424" y="1920240"/>
            <a:ext cx="420624" cy="420624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07424" y="1993392"/>
            <a:ext cx="42062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7776" y="1874519"/>
            <a:ext cx="1481328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61B26"/>
                </a:solidFill>
                <a:latin typeface="Arial"/>
              </a:rPr>
              <a:t>Access restored early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596896"/>
            <a:ext cx="1993392" cy="1261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Require clean compliance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4133087"/>
            <a:ext cx="1883664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2288" y="4206240"/>
            <a:ext cx="18470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DIAGNOSE → RECOVER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98348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98348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09320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DECISION 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0410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Treat the symptom as a pointer to a failed stage; collect evidence before changing policy.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INVESTIGATE UNAUTHORIZED ENDPOINT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Premature wipe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571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1563624"/>
            <a:ext cx="493776" cy="493776"/>
          </a:xfrm>
          <a:prstGeom prst="ellipse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55063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645919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6976" y="1517904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636776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Premature wipe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88136" y="2066543"/>
            <a:ext cx="0" cy="164593"/>
          </a:xfrm>
          <a:prstGeom prst="line">
            <a:avLst/>
          </a:prstGeom>
          <a:ln w="20320">
            <a:solidFill>
              <a:srgbClr val="C241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41248" y="2258568"/>
            <a:ext cx="493776" cy="493776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350008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2340864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212848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331720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8136" y="2761488"/>
            <a:ext cx="0" cy="164592"/>
          </a:xfrm>
          <a:prstGeom prst="line">
            <a:avLst/>
          </a:prstGeom>
          <a:ln w="2032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41248" y="2953511"/>
            <a:ext cx="493776" cy="493776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044951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3035808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6976" y="2907791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3026663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Identity action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8136" y="3456432"/>
            <a:ext cx="0" cy="164592"/>
          </a:xfrm>
          <a:prstGeom prst="line">
            <a:avLst/>
          </a:prstGeom>
          <a:ln w="2032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41248" y="3648456"/>
            <a:ext cx="493776" cy="49377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3739896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730752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3602736"/>
            <a:ext cx="7955279" cy="5852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11296" y="3721608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>
                <a:solidFill>
                  <a:srgbClr val="161B26"/>
                </a:solidFill>
                <a:latin typeface="Arial"/>
              </a:rPr>
              <a:t>Preserve evidence first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88136" y="4151376"/>
            <a:ext cx="0" cy="164592"/>
          </a:xfrm>
          <a:prstGeom prst="line">
            <a:avLst/>
          </a:prstGeom>
          <a:ln w="2032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41248" y="4343400"/>
            <a:ext cx="493776" cy="493776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4434840"/>
            <a:ext cx="4937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425696"/>
            <a:ext cx="162763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4297680"/>
            <a:ext cx="7955279" cy="585216"/>
          </a:xfrm>
          <a:prstGeom prst="round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11296" y="4416552"/>
            <a:ext cx="7388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Incident timeline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Incident timeline shows Ordered events;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INVESTIGATE UNAUTHORIZED ENDPOINT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Incomplete scope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572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1755648"/>
            <a:ext cx="1975104" cy="1536192"/>
          </a:xfrm>
          <a:prstGeom prst="chevron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Incomplete scope</a:t>
            </a:r>
          </a:p>
        </p:txBody>
      </p:sp>
      <p:sp>
        <p:nvSpPr>
          <p:cNvPr id="12" name="Chevron 11"/>
          <p:cNvSpPr/>
          <p:nvPr/>
        </p:nvSpPr>
        <p:spPr>
          <a:xfrm>
            <a:off x="2907792" y="1755648"/>
            <a:ext cx="1975104" cy="1536192"/>
          </a:xfrm>
          <a:prstGeom prst="chevron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Containment</a:t>
            </a:r>
          </a:p>
        </p:txBody>
      </p:sp>
      <p:sp>
        <p:nvSpPr>
          <p:cNvPr id="15" name="Chevron 14"/>
          <p:cNvSpPr/>
          <p:nvPr/>
        </p:nvSpPr>
        <p:spPr>
          <a:xfrm>
            <a:off x="5157216" y="1755648"/>
            <a:ext cx="1975104" cy="1536192"/>
          </a:xfrm>
          <a:prstGeom prst="chevron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87568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SUSPECT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Device action</a:t>
            </a:r>
          </a:p>
        </p:txBody>
      </p:sp>
      <p:sp>
        <p:nvSpPr>
          <p:cNvPr id="18" name="Chevron 17"/>
          <p:cNvSpPr/>
          <p:nvPr/>
        </p:nvSpPr>
        <p:spPr>
          <a:xfrm>
            <a:off x="7406640" y="1755648"/>
            <a:ext cx="1975104" cy="1536192"/>
          </a:xfrm>
          <a:prstGeom prst="chevron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Bounded action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9656064" y="1755648"/>
            <a:ext cx="1975104" cy="1536192"/>
          </a:xfrm>
          <a:prstGeom prst="chevron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6416" y="1938528"/>
            <a:ext cx="10058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ACCEPT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6416" y="2359152"/>
            <a:ext cx="100584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Verified state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767328"/>
            <a:ext cx="523036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986784"/>
            <a:ext cx="17007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RECOVERY 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3904487"/>
            <a:ext cx="294436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Correlate device and sign-in IDs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3767328"/>
            <a:ext cx="5047488" cy="1005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3986784"/>
            <a:ext cx="18653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ACCEPTANCE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904487"/>
            <a:ext cx="25786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CA and device details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Sign-in log shows CA and device details;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INVESTIGATE UNAUTHORIZED ENDPOINT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Credential persists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573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7056" y="1481328"/>
            <a:ext cx="4443984" cy="95097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6420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OBSERVED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627632"/>
            <a:ext cx="2084831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Credential persists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7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77600"/>
                </a:solidFill>
                <a:latin typeface="Arial"/>
              </a:rPr>
              <a:t>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518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2779776"/>
            <a:ext cx="5138928" cy="96926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300837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SUSPECT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944368"/>
            <a:ext cx="290779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 handling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3310128" y="2432304"/>
            <a:ext cx="1426464" cy="347472"/>
          </a:xfrm>
          <a:prstGeom prst="line">
            <a:avLst/>
          </a:prstGeom>
          <a:ln w="22860">
            <a:solidFill>
              <a:srgbClr val="C776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43216" y="2432304"/>
            <a:ext cx="1408176" cy="347472"/>
          </a:xfrm>
          <a:prstGeom prst="line">
            <a:avLst/>
          </a:prstGeom>
          <a:ln w="2286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7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Reset and revoke tokens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968496"/>
            <a:ext cx="5138928" cy="804672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160520"/>
            <a:ext cx="1133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4114800"/>
            <a:ext cx="329184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61B26"/>
                </a:solidFill>
                <a:latin typeface="Arial"/>
              </a:rPr>
              <a:t>Device timeline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Device timeline shows Alert/process activity;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INVESTIGATE UNAUTHORIZED ENDPOINT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restored early — diagnostic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574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54480"/>
            <a:ext cx="6565392" cy="3310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d102-automation-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486" y="1737360"/>
            <a:ext cx="5199155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24128" y="4279392"/>
            <a:ext cx="5833872" cy="384048"/>
          </a:xfrm>
          <a:prstGeom prst="round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352544"/>
            <a:ext cx="572414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BOUNDARY · Recovery  |  SUSPECT · Access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55448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68249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413A"/>
                </a:solidFill>
                <a:latin typeface="Arial"/>
              </a:rPr>
              <a:t>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4592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Access restored early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2651760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7977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743200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Require clean compliance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3749039"/>
            <a:ext cx="4023360" cy="93268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877055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40479"/>
            <a:ext cx="22311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Closure proof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89204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892040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00176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EVIDENCE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531266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Accept the recovery only when Closure proof shows Risk cleared and access reviewed; otherwise remain at the first unresolved boundary.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DOMAIN 5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Investigate unauthorized endpoint access — verification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575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783080"/>
            <a:ext cx="411480" cy="41148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77393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Incident timeline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7393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Ordered events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48716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2606040"/>
            <a:ext cx="411480" cy="41148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65176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59689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Sign-in 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9689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 and device details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310128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342900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474720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41985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Device timeline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341985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Alert/process activity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133087"/>
            <a:ext cx="7635240" cy="658368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2688" y="4251959"/>
            <a:ext cx="411480" cy="41148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97679"/>
            <a:ext cx="41148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242816"/>
            <a:ext cx="2331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Closure proof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4242816"/>
            <a:ext cx="4297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Risk cleared and access reviewed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13648" y="1664208"/>
            <a:ext cx="2788920" cy="3127248"/>
          </a:xfrm>
          <a:prstGeom prst="rect">
            <a:avLst/>
          </a:prstGeom>
          <a:solidFill>
            <a:srgbClr val="FFFFFF"/>
          </a:solidFill>
          <a:ln w="17780"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1938528"/>
            <a:ext cx="22128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2413A"/>
                </a:solidFill>
                <a:latin typeface="Arial"/>
              </a:rPr>
              <a:t>LAB 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496312"/>
            <a:ext cx="221284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Evidence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907792"/>
            <a:ext cx="2212848" cy="10607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the configured state, the observed result, the timestamp or correlation ID, and the interpretation.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34272" y="4178808"/>
            <a:ext cx="1920240" cy="38404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2560" y="4261104"/>
            <a:ext cx="188366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40" b="1">
                <a:solidFill>
                  <a:srgbClr val="FFFFFF"/>
                </a:solidFill>
                <a:latin typeface="Arial"/>
              </a:rPr>
              <a:t>PASS =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PRACTICE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click paths, commands, expected outputs and troubleshooting are in the Learner Guide and the individual lab folder.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HANDS-ON · 115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B26"/>
                </a:solidFill>
                <a:latin typeface="Arial"/>
              </a:rPr>
              <a:t>Lab 9: Graph, PowerShell, remote actions and Endpoint 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576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10561320" cy="941832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19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413A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847088"/>
            <a:ext cx="8732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Contoso must implement the control, prove the observed state, diagnose one seeded failure, and retain an auditable evidence pack.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17319" y="3236976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19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PLAN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51176" y="3657600"/>
            <a:ext cx="402336" cy="0"/>
          </a:xfrm>
          <a:prstGeom prst="line">
            <a:avLst/>
          </a:prstGeom>
          <a:ln w="1778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026664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84448" y="3236976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448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6D3FD2"/>
                </a:solidFill>
                <a:latin typeface="Arial"/>
              </a:rPr>
              <a:t>CONFIGURE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18304" y="3657600"/>
            <a:ext cx="402336" cy="0"/>
          </a:xfrm>
          <a:prstGeom prst="line">
            <a:avLst/>
          </a:prstGeom>
          <a:ln w="1778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193792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3236976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51576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1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85431" y="3657600"/>
            <a:ext cx="402337" cy="0"/>
          </a:xfrm>
          <a:prstGeom prst="line">
            <a:avLst/>
          </a:prstGeom>
          <a:ln w="1778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60920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918704" y="3236976"/>
            <a:ext cx="548640" cy="54864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18704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6845B"/>
                </a:solidFill>
                <a:latin typeface="Arial"/>
              </a:rPr>
              <a:t>BREAK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052560" y="3657600"/>
            <a:ext cx="402336" cy="0"/>
          </a:xfrm>
          <a:prstGeom prst="line">
            <a:avLst/>
          </a:prstGeom>
          <a:ln w="1778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528048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5832" y="3236976"/>
            <a:ext cx="548640" cy="548640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5832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77600"/>
                </a:solidFill>
                <a:latin typeface="Arial"/>
              </a:rPr>
              <a:t>RECOVER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486460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4864608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97433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YOU'LL PRODUCE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528523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Least-privilege automation transcript, paginated export, remote-action evidence and KPI readout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LO3 · LO4 · K3 · K5 · A5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9 — acceptance and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577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30175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6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Configured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Policy/profile/assignment values are visible and scoped to the intended cohort.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5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37360"/>
            <a:ext cx="82296" cy="30175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02736" y="1965960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27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96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Observed 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device, app or identity shows the expected service and client-side outcome.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216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98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37360"/>
            <a:ext cx="82296" cy="30175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45936" y="1965960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28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Failure diagnosis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seeded issue is tied to an error, log, report or missing state—not a guess.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648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30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37360"/>
            <a:ext cx="82296" cy="30175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089136" y="1965960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60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Recovery proof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post-change retest demonstrates the corrected state with timestamp/correlation evidence.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080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262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SUBMISSION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Save the evidence under labs/lab-09-graph-powershell-analytics/evidence/. Detailed steps are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HANDS-ON · 110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Lab 10: Capstone: investigate access, remediate endpoints and brief operations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578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10561320" cy="941832"/>
          </a:xfrm>
          <a:prstGeom prst="rect">
            <a:avLst/>
          </a:prstGeom>
          <a:solidFill>
            <a:srgbClr val="F5F8FC"/>
          </a:solidFill>
          <a:ln w="762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74519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413A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847088"/>
            <a:ext cx="8732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Contoso must implement the control, prove the observed state, diagnose one seeded failure, and retain an auditable evidence pack.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17319" y="3236976"/>
            <a:ext cx="548640" cy="54864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19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PLAN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51176" y="3657600"/>
            <a:ext cx="402336" cy="0"/>
          </a:xfrm>
          <a:prstGeom prst="line">
            <a:avLst/>
          </a:prstGeom>
          <a:ln w="1778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026664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84448" y="3236976"/>
            <a:ext cx="548640" cy="54864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448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18104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6D3FD2"/>
                </a:solidFill>
                <a:latin typeface="Arial"/>
              </a:rPr>
              <a:t>CONFIGURE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18304" y="3657600"/>
            <a:ext cx="402336" cy="0"/>
          </a:xfrm>
          <a:prstGeom prst="line">
            <a:avLst/>
          </a:prstGeom>
          <a:ln w="1778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193792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3236976"/>
            <a:ext cx="548640" cy="54864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51576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1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VERIFY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85431" y="3657600"/>
            <a:ext cx="402337" cy="0"/>
          </a:xfrm>
          <a:prstGeom prst="line">
            <a:avLst/>
          </a:prstGeom>
          <a:ln w="1778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60920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918704" y="3236976"/>
            <a:ext cx="548640" cy="54864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18704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6845B"/>
                </a:solidFill>
                <a:latin typeface="Arial"/>
              </a:rPr>
              <a:t>BREAK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052560" y="3657600"/>
            <a:ext cx="402336" cy="0"/>
          </a:xfrm>
          <a:prstGeom prst="line">
            <a:avLst/>
          </a:prstGeom>
          <a:ln w="1778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528048" y="3063240"/>
            <a:ext cx="1664208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85832" y="3236976"/>
            <a:ext cx="548640" cy="548640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85832" y="3346704"/>
            <a:ext cx="5486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3886200"/>
            <a:ext cx="1481328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77600"/>
                </a:solidFill>
                <a:latin typeface="Arial"/>
              </a:rPr>
              <a:t>RECOVER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486460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4864608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97433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YOU'LL PRODUCE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528523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Incident timeline, containment record, remediation proof, access review and executive operations brief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LO4 · K5 · A7 · A8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10 — acceptance and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579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301752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6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Configured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Policy/profile/assignment values are visible and scoped to the intended cohort.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5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5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01568" y="1737360"/>
            <a:ext cx="82296" cy="301752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02736" y="1965960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027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96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Observed 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device, app or identity shows the expected service and client-side outcome.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216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98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37360"/>
            <a:ext cx="82296" cy="30175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45936" y="1965960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28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Failure diagnosis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seeded issue is tied to an error, log, report or missing state—not a guess.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64807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30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87968" y="1737360"/>
            <a:ext cx="2487168" cy="301752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87968" y="1737360"/>
            <a:ext cx="82296" cy="301752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089136" y="1965960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2048256"/>
            <a:ext cx="457200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6064" y="1920240"/>
            <a:ext cx="144475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Recovery proof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688336"/>
            <a:ext cx="1993392" cy="1298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post-change retest demonstrates the corrected state with timestamp/correlation evidence.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08008" y="4160520"/>
            <a:ext cx="1847088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26296" y="4242816"/>
            <a:ext cx="1810512" cy="1737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EVIDENCE REQUIRED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5010912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12064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SUBMISSION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431536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Save the evidence under labs/lab-10-capstone-incident-operations/evidence/. Detailed steps are in the Learner Guide.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2413A"/>
                </a:solidFill>
                <a:latin typeface="Arial"/>
              </a:rPr>
              <a:t>RETRIEVE · DIAGNOSE · EXPLAIN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Day 5 technical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580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29718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56816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Automate Intune with Microsoft Graph
• Use PowerShell for repeatable endpoint operations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82296" cy="297180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956816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Extend compliance with custom scripts
• Operate Security Copilot agents responsibly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737360"/>
            <a:ext cx="82296" cy="2971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1956816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Build operational reports and dashboards
• Interpret Endpoint Analytics and reliability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737360"/>
            <a:ext cx="82296" cy="297180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1956816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Checkpoint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• Deploy proactive remediations safely
• Monitor tenant health, alerts and change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047488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047488"/>
            <a:ext cx="91440" cy="1005840"/>
          </a:xfrm>
          <a:prstGeom prst="rect">
            <a:avLst/>
          </a:prstGeom>
          <a:solidFill>
            <a:srgbClr val="C2413A"/>
          </a:solidFill>
          <a:ln>
            <a:solidFill>
              <a:srgbClr val="C241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157216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2413A"/>
                </a:solidFill>
                <a:latin typeface="Arial"/>
              </a:rPr>
              <a:t>REMEMBER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468112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For each checkpoint, name the architecture boundary, exact contract, failure evidence and acceptance state.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CLOSING BLOCK ·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Assessment: demonstrate current endpoint judgment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581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29718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56816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Explain the mechanism and decision rule using K1–K5.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82296" cy="297180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956816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Perform six connected tasks and preserve evidence for A1–A8.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737360"/>
            <a:ext cx="82296" cy="2971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1956816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Competency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Meet every criterion; partial evidence does not demonstrate the full ability.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737360"/>
            <a:ext cx="82296" cy="297180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1956816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Submission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Upload the completed learner-facing papers to the LMS.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77600"/>
                </a:solidFill>
                <a:latin typeface="Arial"/>
              </a:rPr>
              <a:t>WA → PP →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flow: final sign-off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582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938528"/>
            <a:ext cx="1874519" cy="288036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938528"/>
            <a:ext cx="1874519" cy="914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44168" y="2331720"/>
            <a:ext cx="749808" cy="74980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4168" y="2450592"/>
            <a:ext cx="74980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273552"/>
            <a:ext cx="158191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3776472"/>
            <a:ext cx="158191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5 SAQs
K1–K5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9192" y="3383280"/>
            <a:ext cx="210312" cy="0"/>
          </a:xfrm>
          <a:prstGeom prst="line">
            <a:avLst/>
          </a:prstGeom>
          <a:ln w="1905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962656" y="1938528"/>
            <a:ext cx="1874519" cy="288036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1938528"/>
            <a:ext cx="1874519" cy="9144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29584" y="2331720"/>
            <a:ext cx="749808" cy="749808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450592"/>
            <a:ext cx="74980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273552"/>
            <a:ext cx="158191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776472"/>
            <a:ext cx="158191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All knowledge
criteria covered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64608" y="3383280"/>
            <a:ext cx="219456" cy="0"/>
          </a:xfrm>
          <a:prstGeom prst="line">
            <a:avLst/>
          </a:prstGeom>
          <a:ln w="1905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157216" y="1938528"/>
            <a:ext cx="1874519" cy="288036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57216" y="1938528"/>
            <a:ext cx="1874519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24144" y="2331720"/>
            <a:ext cx="749808" cy="74980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4144" y="2450592"/>
            <a:ext cx="74980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273552"/>
            <a:ext cx="158191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3776472"/>
            <a:ext cx="158191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6 tasks
A1–A8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59168" y="3383280"/>
            <a:ext cx="210311" cy="0"/>
          </a:xfrm>
          <a:prstGeom prst="line">
            <a:avLst/>
          </a:prstGeom>
          <a:ln w="1905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342631" y="1938528"/>
            <a:ext cx="1874519" cy="288036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2631" y="1938528"/>
            <a:ext cx="1874519" cy="9144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09559" y="2331720"/>
            <a:ext cx="749808" cy="749808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59" y="2450592"/>
            <a:ext cx="74980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3273552"/>
            <a:ext cx="158191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Assessor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88936" y="3776472"/>
            <a:ext cx="158191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Evidence and
explanation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44584" y="3383280"/>
            <a:ext cx="219456" cy="0"/>
          </a:xfrm>
          <a:prstGeom prst="line">
            <a:avLst/>
          </a:prstGeom>
          <a:ln w="1905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537192" y="1938528"/>
            <a:ext cx="1874519" cy="288036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37192" y="1938528"/>
            <a:ext cx="1874519" cy="914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2331720"/>
            <a:ext cx="749808" cy="749808"/>
          </a:xfrm>
          <a:prstGeom prst="ellipse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19" y="2450592"/>
            <a:ext cx="74980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3273552"/>
            <a:ext cx="1581912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Sign-off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83496" y="3776472"/>
            <a:ext cx="158191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 or NYC
recorded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5074920"/>
            <a:ext cx="10835640" cy="1005840"/>
          </a:xfrm>
          <a:prstGeom prst="rect">
            <a:avLst/>
          </a:prstGeom>
          <a:solidFill>
            <a:srgbClr val="F5F8FC"/>
          </a:solidFill>
          <a:ln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" y="5074920"/>
            <a:ext cx="91440" cy="1005840"/>
          </a:xfrm>
          <a:prstGeom prst="rect">
            <a:avLst/>
          </a:prstGeom>
          <a:solidFill>
            <a:srgbClr val="C77600"/>
          </a:solidFill>
          <a:ln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184648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C77600"/>
                </a:solidFill>
                <a:latin typeface="Arial"/>
              </a:rPr>
              <a:t>SUBMISSION RULE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5495544"/>
            <a:ext cx="98755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Question papers go to the LMS. Answer keys remain trainer-only and are never linked from the learner record.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CLOSING BLOCK · TRAQOM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attendance: final reconciliation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62456"/>
            <a:ext cx="10835640" cy="10972"/>
          </a:xfrm>
          <a:prstGeom prst="rect">
            <a:avLst/>
          </a:prstGeom>
          <a:solidFill>
            <a:srgbClr val="D7E0EA"/>
          </a:solidFill>
          <a:ln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583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37360"/>
            <a:ext cx="82296" cy="29718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56816"/>
            <a:ext cx="457200" cy="457200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Check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every required session has a recorded attendance state.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15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1737360"/>
            <a:ext cx="82296" cy="2971800"/>
          </a:xfrm>
          <a:prstGeom prst="rect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21024" y="1956816"/>
            <a:ext cx="457200" cy="457200"/>
          </a:xfrm>
          <a:prstGeom prst="ellipse">
            <a:avLst/>
          </a:prstGeom>
          <a:solidFill>
            <a:srgbClr val="6D3FD2"/>
          </a:solidFill>
          <a:ln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Resolve exception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Show the trainer the relevant Singpass/TRAQOM result.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1737360"/>
            <a:ext cx="82296" cy="2971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4224" y="1956816"/>
            <a:ext cx="457200" cy="4572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 not delay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Attendance exceptions become harder to resolve after course close.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87968" y="1737360"/>
            <a:ext cx="2487168" cy="2971800"/>
          </a:xfrm>
          <a:prstGeom prst="rect">
            <a:avLst/>
          </a:prstGeom>
          <a:solidFill>
            <a:srgbClr val="F5F8FC"/>
          </a:solidFill>
          <a:ln w="889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87968" y="1737360"/>
            <a:ext cx="82296" cy="2971800"/>
          </a:xfrm>
          <a:prstGeom prst="rect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07424" y="1956816"/>
            <a:ext cx="457200" cy="457200"/>
          </a:xfrm>
          <a:prstGeom prst="ellipse">
            <a:avLst/>
          </a:prstGeom>
          <a:solidFill>
            <a:srgbClr val="16845B"/>
          </a:solidFill>
          <a:ln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07424" y="2048256"/>
            <a:ext cx="457200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1911095"/>
            <a:ext cx="14630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Keep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761488"/>
            <a:ext cx="1956816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Retain the confirmation until the training record is finalized.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d102-endpoint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436"/>
            <a:ext cx="6903720" cy="388540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1481328"/>
            <a:ext cx="422452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066543"/>
            <a:ext cx="4315968" cy="14447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61B26"/>
                </a:solidFill>
                <a:latin typeface="Arial"/>
              </a:rPr>
              <a:t>Manage endpoints as an evidence-driven control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822191"/>
            <a:ext cx="429768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Identity · Policy · Security · Applications ·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992624"/>
            <a:ext cx="429768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https://www.tertiarycourses.com.sg/wsq-microsoft-certified-endpoint-administrator-associate-md-102.html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5797296"/>
            <a:ext cx="42976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TGS-2024042603 · Version v3.1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83464"/>
            <a:ext cx="105156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03504"/>
            <a:ext cx="1083564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Login to LMS and Download Course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486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Microsoft Certified Endpoint Administrator Associate (MD-102)  ·  TGS-2024042603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6419088"/>
            <a:ext cx="36576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685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pic>
        <p:nvPicPr>
          <p:cNvPr id="9" name="Picture 8" descr="ref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6836" y="1431036"/>
            <a:ext cx="8758022" cy="4357116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8368" y="5870448"/>
            <a:ext cx="10874959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475569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